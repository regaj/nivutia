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30" r:id="rId2"/>
    <p:sldId id="317" r:id="rId3"/>
    <p:sldId id="316" r:id="rId4"/>
    <p:sldId id="331" r:id="rId5"/>
    <p:sldId id="332" r:id="rId6"/>
    <p:sldId id="277" r:id="rId7"/>
    <p:sldId id="278" r:id="rId8"/>
    <p:sldId id="279" r:id="rId9"/>
    <p:sldId id="323" r:id="rId10"/>
    <p:sldId id="309" r:id="rId11"/>
    <p:sldId id="281" r:id="rId12"/>
    <p:sldId id="282" r:id="rId13"/>
    <p:sldId id="283" r:id="rId14"/>
    <p:sldId id="284" r:id="rId15"/>
    <p:sldId id="285" r:id="rId16"/>
    <p:sldId id="333" r:id="rId17"/>
    <p:sldId id="286" r:id="rId18"/>
    <p:sldId id="287" r:id="rId19"/>
    <p:sldId id="310" r:id="rId20"/>
    <p:sldId id="321" r:id="rId21"/>
    <p:sldId id="289" r:id="rId22"/>
    <p:sldId id="324" r:id="rId23"/>
    <p:sldId id="290" r:id="rId24"/>
    <p:sldId id="291" r:id="rId25"/>
    <p:sldId id="325" r:id="rId26"/>
    <p:sldId id="328" r:id="rId27"/>
    <p:sldId id="292" r:id="rId28"/>
    <p:sldId id="322" r:id="rId29"/>
    <p:sldId id="295" r:id="rId30"/>
    <p:sldId id="326" r:id="rId31"/>
    <p:sldId id="296" r:id="rId32"/>
    <p:sldId id="327" r:id="rId33"/>
    <p:sldId id="329" r:id="rId34"/>
    <p:sldId id="311" r:id="rId35"/>
    <p:sldId id="298" r:id="rId36"/>
    <p:sldId id="299" r:id="rId37"/>
    <p:sldId id="300" r:id="rId38"/>
    <p:sldId id="303" r:id="rId39"/>
    <p:sldId id="304" r:id="rId40"/>
    <p:sldId id="305" r:id="rId41"/>
    <p:sldId id="306" r:id="rId42"/>
    <p:sldId id="312" r:id="rId43"/>
    <p:sldId id="313" r:id="rId44"/>
    <p:sldId id="314" r:id="rId45"/>
    <p:sldId id="315" r:id="rId46"/>
  </p:sldIdLst>
  <p:sldSz cx="12192000" cy="6858000"/>
  <p:notesSz cx="6858000" cy="9144000"/>
  <p:embeddedFontLst>
    <p:embeddedFont>
      <p:font typeface="Assistant" pitchFamily="2" charset="-79"/>
      <p:regular r:id="rId49"/>
      <p:bold r:id="rId50"/>
    </p:embeddedFont>
    <p:embeddedFont>
      <p:font typeface="Heebo ExtraBold" pitchFamily="2" charset="-79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SzVdgqBjTH4pr3xzkFkcb1TNl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C8D8BD"/>
    <a:srgbClr val="8DAE76"/>
    <a:srgbClr val="73985A"/>
    <a:srgbClr val="D9F2D0"/>
    <a:srgbClr val="A684E9"/>
    <a:srgbClr val="AAD3AF"/>
    <a:srgbClr val="BD9CD3"/>
    <a:srgbClr val="EB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143" autoAdjust="0"/>
    <p:restoredTop sz="94310" autoAdjust="0"/>
  </p:normalViewPr>
  <p:slideViewPr>
    <p:cSldViewPr snapToGrid="0">
      <p:cViewPr>
        <p:scale>
          <a:sx n="100" d="100"/>
          <a:sy n="100" d="100"/>
        </p:scale>
        <p:origin x="2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12C703-9C66-4A48-B2A1-A84F871FA1C8}" type="doc">
      <dgm:prSet loTypeId="urn:microsoft.com/office/officeart/2005/8/layout/vList2" loCatId="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B4B8AA95-BB1E-D34F-8101-6134342D6392}">
      <dgm:prSet phldrT="[Text]" custT="1"/>
      <dgm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 rtl="1"/>
          <a:r>
            <a:rPr lang="he-IL" sz="2800" b="1" i="0" dirty="0">
              <a:latin typeface="Heebo ExtraBold" pitchFamily="2" charset="-79"/>
              <a:cs typeface="Heebo ExtraBold" pitchFamily="2" charset="-79"/>
            </a:rPr>
            <a:t>מטרת העל</a:t>
          </a:r>
          <a:endParaRPr lang="en-US" sz="2800" b="1" i="0" dirty="0">
            <a:latin typeface="Heebo ExtraBold" pitchFamily="2" charset="-79"/>
            <a:cs typeface="Heebo ExtraBold" pitchFamily="2" charset="-79"/>
          </a:endParaRPr>
        </a:p>
      </dgm:t>
    </dgm:pt>
    <dgm:pt modelId="{B9A67802-8271-484D-8136-43B4371498AC}" type="parTrans" cxnId="{1B777EE3-EB18-284C-BEB8-AA5C582288BE}">
      <dgm:prSet/>
      <dgm:spPr/>
      <dgm:t>
        <a:bodyPr/>
        <a:lstStyle/>
        <a:p>
          <a:endParaRPr lang="en-US"/>
        </a:p>
      </dgm:t>
    </dgm:pt>
    <dgm:pt modelId="{944EBA98-F470-6546-B238-1951AA917200}" type="sibTrans" cxnId="{1B777EE3-EB18-284C-BEB8-AA5C582288BE}">
      <dgm:prSet/>
      <dgm:spPr/>
      <dgm:t>
        <a:bodyPr/>
        <a:lstStyle/>
        <a:p>
          <a:endParaRPr lang="en-US"/>
        </a:p>
      </dgm:t>
    </dgm:pt>
    <dgm:pt modelId="{E5DBD961-EE8C-FB4E-BCDF-FBD7D802A5DC}">
      <dgm:prSet phldrT="[Text]"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latin typeface="Assistant"/>
              <a:ea typeface="Assistant"/>
              <a:cs typeface="Assistant"/>
              <a:sym typeface="Assistant"/>
            </a:rPr>
            <a:t>הצוער יקרא מפה טופוגרפית 1:50,000 ויזהה בה את צורות השטח המרכזיות</a:t>
          </a:r>
          <a:endParaRPr lang="en-US" sz="2000" b="0" i="0" u="none" strike="noStrike" cap="none" dirty="0">
            <a:latin typeface="Assistant"/>
            <a:ea typeface="Assistant"/>
            <a:cs typeface="Assistant"/>
            <a:sym typeface="Assistant"/>
          </a:endParaRPr>
        </a:p>
      </dgm:t>
    </dgm:pt>
    <dgm:pt modelId="{D3E6DEC9-1A8A-9E46-A1B5-F44DC90F94BB}" type="parTrans" cxnId="{9232AAC3-C326-D649-9A9C-DCB2B3451C10}">
      <dgm:prSet/>
      <dgm:spPr/>
      <dgm:t>
        <a:bodyPr/>
        <a:lstStyle/>
        <a:p>
          <a:endParaRPr lang="en-US"/>
        </a:p>
      </dgm:t>
    </dgm:pt>
    <dgm:pt modelId="{1CFE98DB-E4CF-0D46-AA4E-369F0D9BBE6B}" type="sibTrans" cxnId="{9232AAC3-C326-D649-9A9C-DCB2B3451C10}">
      <dgm:prSet/>
      <dgm:spPr/>
      <dgm:t>
        <a:bodyPr/>
        <a:lstStyle/>
        <a:p>
          <a:endParaRPr lang="en-US"/>
        </a:p>
      </dgm:t>
    </dgm:pt>
    <dgm:pt modelId="{847466A7-19AC-DF4E-BA4B-B8A4CBA0C488}">
      <dgm:prSet phldrT="[Text]" custT="1"/>
      <dgm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 rtl="1"/>
          <a:r>
            <a:rPr lang="he-IL" sz="2800" b="1" i="0" dirty="0">
              <a:latin typeface="Heebo ExtraBold" pitchFamily="2" charset="-79"/>
              <a:cs typeface="Heebo ExtraBold" pitchFamily="2" charset="-79"/>
            </a:rPr>
            <a:t>מטרות ביניים</a:t>
          </a:r>
          <a:endParaRPr lang="en-US" sz="2800" b="1" i="0" dirty="0">
            <a:latin typeface="Heebo ExtraBold" pitchFamily="2" charset="-79"/>
            <a:cs typeface="Heebo ExtraBold" pitchFamily="2" charset="-79"/>
          </a:endParaRPr>
        </a:p>
      </dgm:t>
    </dgm:pt>
    <dgm:pt modelId="{8F175A14-A457-3145-B662-26E3B17152AC}" type="parTrans" cxnId="{1940EAB9-0415-3146-808C-F8D8C940B3FC}">
      <dgm:prSet/>
      <dgm:spPr/>
      <dgm:t>
        <a:bodyPr/>
        <a:lstStyle/>
        <a:p>
          <a:endParaRPr lang="en-US"/>
        </a:p>
      </dgm:t>
    </dgm:pt>
    <dgm:pt modelId="{6DF1B059-161A-134B-BEA1-B05F959033A0}" type="sibTrans" cxnId="{1940EAB9-0415-3146-808C-F8D8C940B3FC}">
      <dgm:prSet/>
      <dgm:spPr/>
      <dgm:t>
        <a:bodyPr/>
        <a:lstStyle/>
        <a:p>
          <a:endParaRPr lang="en-US"/>
        </a:p>
      </dgm:t>
    </dgm:pt>
    <dgm:pt modelId="{86525833-31E0-1E41-BAA8-F778156E4EB4}">
      <dgm:prSet phldrT="[Text]"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latin typeface="Assistant"/>
              <a:ea typeface="Assistant"/>
              <a:cs typeface="Assistant"/>
              <a:sym typeface="Assistant"/>
            </a:rPr>
            <a:t>הצוער יבין מהי מפה לבנה ומה מרכיביה: רשת, תבליט </a:t>
          </a:r>
          <a:r>
            <a:rPr lang="he-IL" sz="2000" b="0" i="0" u="none" strike="noStrike" cap="none" dirty="0" err="1">
              <a:latin typeface="Assistant"/>
              <a:ea typeface="Assistant"/>
              <a:cs typeface="Assistant"/>
              <a:sym typeface="Assistant"/>
            </a:rPr>
            <a:t>ותכסית</a:t>
          </a:r>
          <a:endParaRPr lang="en-US" sz="2000" b="0" i="0" u="none" strike="noStrike" cap="none" dirty="0">
            <a:latin typeface="Assistant"/>
            <a:ea typeface="Assistant"/>
            <a:cs typeface="Assistant"/>
            <a:sym typeface="Assistant"/>
          </a:endParaRPr>
        </a:p>
      </dgm:t>
    </dgm:pt>
    <dgm:pt modelId="{014F92C8-C18B-2347-BE50-8320D2EB3C5E}" type="parTrans" cxnId="{5AEB5CE6-F381-4F42-8E1E-F792D0C1AF72}">
      <dgm:prSet/>
      <dgm:spPr/>
      <dgm:t>
        <a:bodyPr/>
        <a:lstStyle/>
        <a:p>
          <a:endParaRPr lang="en-US"/>
        </a:p>
      </dgm:t>
    </dgm:pt>
    <dgm:pt modelId="{F7297392-A61E-014A-9D54-38E8A2AB7973}" type="sibTrans" cxnId="{5AEB5CE6-F381-4F42-8E1E-F792D0C1AF72}">
      <dgm:prSet/>
      <dgm:spPr/>
      <dgm:t>
        <a:bodyPr/>
        <a:lstStyle/>
        <a:p>
          <a:endParaRPr lang="en-US"/>
        </a:p>
      </dgm:t>
    </dgm:pt>
    <dgm:pt modelId="{C759AF44-3FDC-DC46-9207-E5E4648C80B8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latin typeface="Assistant"/>
              <a:ea typeface="Assistant"/>
              <a:cs typeface="Assistant"/>
              <a:sym typeface="Assistant"/>
            </a:rPr>
            <a:t>הצוער יבחין בין גבהים ויזהה במפה כיפה, שלוחה, גיא, אוכף וכיפה סמויה</a:t>
          </a:r>
        </a:p>
      </dgm:t>
    </dgm:pt>
    <dgm:pt modelId="{D95F111A-12DB-B04C-8D30-BE8AF48C13C8}" type="parTrans" cxnId="{2B318F86-E335-C44D-BB52-8141D8839A48}">
      <dgm:prSet/>
      <dgm:spPr/>
      <dgm:t>
        <a:bodyPr/>
        <a:lstStyle/>
        <a:p>
          <a:endParaRPr lang="en-US"/>
        </a:p>
      </dgm:t>
    </dgm:pt>
    <dgm:pt modelId="{D7445B00-11A0-8A4D-998A-4498A9B63E68}" type="sibTrans" cxnId="{2B318F86-E335-C44D-BB52-8141D8839A48}">
      <dgm:prSet/>
      <dgm:spPr/>
      <dgm:t>
        <a:bodyPr/>
        <a:lstStyle/>
        <a:p>
          <a:endParaRPr lang="en-US"/>
        </a:p>
      </dgm:t>
    </dgm:pt>
    <dgm:pt modelId="{9E531BD1-C3CA-7C4E-BEEA-50DB4712D040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latin typeface="Assistant"/>
              <a:ea typeface="Assistant"/>
              <a:cs typeface="Assistant"/>
              <a:sym typeface="Assistant"/>
            </a:rPr>
            <a:t>הצוער יסווג מדרונות לפי צפיפות קווי הגובה</a:t>
          </a:r>
        </a:p>
      </dgm:t>
    </dgm:pt>
    <dgm:pt modelId="{2E4D45A1-CD8E-7A46-ABC3-D67BF84B9324}" type="parTrans" cxnId="{6CE1D329-A2DD-EE43-9437-AB046BB08D9F}">
      <dgm:prSet/>
      <dgm:spPr/>
      <dgm:t>
        <a:bodyPr/>
        <a:lstStyle/>
        <a:p>
          <a:endParaRPr lang="en-US"/>
        </a:p>
      </dgm:t>
    </dgm:pt>
    <dgm:pt modelId="{796E1BAD-FD18-704C-AF00-2D1E2996172B}" type="sibTrans" cxnId="{6CE1D329-A2DD-EE43-9437-AB046BB08D9F}">
      <dgm:prSet/>
      <dgm:spPr/>
      <dgm:t>
        <a:bodyPr/>
        <a:lstStyle/>
        <a:p>
          <a:endParaRPr lang="en-US"/>
        </a:p>
      </dgm:t>
    </dgm:pt>
    <dgm:pt modelId="{723187E3-41BD-314C-9577-8FC4EA0D8C6B}" type="pres">
      <dgm:prSet presAssocID="{6312C703-9C66-4A48-B2A1-A84F871FA1C8}" presName="linear" presStyleCnt="0">
        <dgm:presLayoutVars>
          <dgm:animLvl val="lvl"/>
          <dgm:resizeHandles val="exact"/>
        </dgm:presLayoutVars>
      </dgm:prSet>
      <dgm:spPr/>
    </dgm:pt>
    <dgm:pt modelId="{EBCD3628-7840-E743-8D1B-AFE434947CC6}" type="pres">
      <dgm:prSet presAssocID="{B4B8AA95-BB1E-D34F-8101-6134342D6392}" presName="parentText" presStyleLbl="node1" presStyleIdx="0" presStyleCnt="2" custLinFactNeighborY="3761">
        <dgm:presLayoutVars>
          <dgm:chMax val="0"/>
          <dgm:bulletEnabled val="1"/>
        </dgm:presLayoutVars>
      </dgm:prSet>
      <dgm:spPr/>
    </dgm:pt>
    <dgm:pt modelId="{6C6E52D5-BA13-9140-826B-77896EDB058F}" type="pres">
      <dgm:prSet presAssocID="{B4B8AA95-BB1E-D34F-8101-6134342D6392}" presName="childText" presStyleLbl="revTx" presStyleIdx="0" presStyleCnt="2">
        <dgm:presLayoutVars>
          <dgm:bulletEnabled val="1"/>
        </dgm:presLayoutVars>
      </dgm:prSet>
      <dgm:spPr/>
    </dgm:pt>
    <dgm:pt modelId="{9CC5E5AC-5707-ED42-95FE-CB9F93C4C22E}" type="pres">
      <dgm:prSet presAssocID="{847466A7-19AC-DF4E-BA4B-B8A4CBA0C488}" presName="parentText" presStyleLbl="node1" presStyleIdx="1" presStyleCnt="2" custLinFactNeighborX="0" custLinFactNeighborY="-7606">
        <dgm:presLayoutVars>
          <dgm:chMax val="0"/>
          <dgm:bulletEnabled val="1"/>
        </dgm:presLayoutVars>
      </dgm:prSet>
      <dgm:spPr/>
    </dgm:pt>
    <dgm:pt modelId="{BB0FE7D8-1D80-8247-827E-ADFEABCAF0A0}" type="pres">
      <dgm:prSet presAssocID="{847466A7-19AC-DF4E-BA4B-B8A4CBA0C488}" presName="childText" presStyleLbl="revTx" presStyleIdx="1" presStyleCnt="2" custLinFactNeighborX="0" custLinFactNeighborY="-12212">
        <dgm:presLayoutVars>
          <dgm:bulletEnabled val="1"/>
        </dgm:presLayoutVars>
      </dgm:prSet>
      <dgm:spPr/>
    </dgm:pt>
  </dgm:ptLst>
  <dgm:cxnLst>
    <dgm:cxn modelId="{C60F9602-443D-CB41-AFB1-6DB3711315AB}" type="presOf" srcId="{B4B8AA95-BB1E-D34F-8101-6134342D6392}" destId="{EBCD3628-7840-E743-8D1B-AFE434947CC6}" srcOrd="0" destOrd="0" presId="urn:microsoft.com/office/officeart/2005/8/layout/vList2"/>
    <dgm:cxn modelId="{7DDE7422-F072-E843-AE29-7F6BFC499064}" type="presOf" srcId="{847466A7-19AC-DF4E-BA4B-B8A4CBA0C488}" destId="{9CC5E5AC-5707-ED42-95FE-CB9F93C4C22E}" srcOrd="0" destOrd="0" presId="urn:microsoft.com/office/officeart/2005/8/layout/vList2"/>
    <dgm:cxn modelId="{22102D28-C9CE-0D48-9840-FAED28A90BCA}" type="presOf" srcId="{E5DBD961-EE8C-FB4E-BCDF-FBD7D802A5DC}" destId="{6C6E52D5-BA13-9140-826B-77896EDB058F}" srcOrd="0" destOrd="0" presId="urn:microsoft.com/office/officeart/2005/8/layout/vList2"/>
    <dgm:cxn modelId="{6CE1D329-A2DD-EE43-9437-AB046BB08D9F}" srcId="{847466A7-19AC-DF4E-BA4B-B8A4CBA0C488}" destId="{9E531BD1-C3CA-7C4E-BEEA-50DB4712D040}" srcOrd="2" destOrd="0" parTransId="{2E4D45A1-CD8E-7A46-ABC3-D67BF84B9324}" sibTransId="{796E1BAD-FD18-704C-AF00-2D1E2996172B}"/>
    <dgm:cxn modelId="{6C50546F-469B-D84D-A44D-94AA26A333B2}" type="presOf" srcId="{86525833-31E0-1E41-BAA8-F778156E4EB4}" destId="{BB0FE7D8-1D80-8247-827E-ADFEABCAF0A0}" srcOrd="0" destOrd="0" presId="urn:microsoft.com/office/officeart/2005/8/layout/vList2"/>
    <dgm:cxn modelId="{1C969983-82A0-BE4A-AF79-ABD3F07C10B7}" type="presOf" srcId="{9E531BD1-C3CA-7C4E-BEEA-50DB4712D040}" destId="{BB0FE7D8-1D80-8247-827E-ADFEABCAF0A0}" srcOrd="0" destOrd="2" presId="urn:microsoft.com/office/officeart/2005/8/layout/vList2"/>
    <dgm:cxn modelId="{2B318F86-E335-C44D-BB52-8141D8839A48}" srcId="{847466A7-19AC-DF4E-BA4B-B8A4CBA0C488}" destId="{C759AF44-3FDC-DC46-9207-E5E4648C80B8}" srcOrd="1" destOrd="0" parTransId="{D95F111A-12DB-B04C-8D30-BE8AF48C13C8}" sibTransId="{D7445B00-11A0-8A4D-998A-4498A9B63E68}"/>
    <dgm:cxn modelId="{1940EAB9-0415-3146-808C-F8D8C940B3FC}" srcId="{6312C703-9C66-4A48-B2A1-A84F871FA1C8}" destId="{847466A7-19AC-DF4E-BA4B-B8A4CBA0C488}" srcOrd="1" destOrd="0" parTransId="{8F175A14-A457-3145-B662-26E3B17152AC}" sibTransId="{6DF1B059-161A-134B-BEA1-B05F959033A0}"/>
    <dgm:cxn modelId="{9232AAC3-C326-D649-9A9C-DCB2B3451C10}" srcId="{B4B8AA95-BB1E-D34F-8101-6134342D6392}" destId="{E5DBD961-EE8C-FB4E-BCDF-FBD7D802A5DC}" srcOrd="0" destOrd="0" parTransId="{D3E6DEC9-1A8A-9E46-A1B5-F44DC90F94BB}" sibTransId="{1CFE98DB-E4CF-0D46-AA4E-369F0D9BBE6B}"/>
    <dgm:cxn modelId="{64D160D9-22A0-6144-80E0-DF8FA155703F}" type="presOf" srcId="{6312C703-9C66-4A48-B2A1-A84F871FA1C8}" destId="{723187E3-41BD-314C-9577-8FC4EA0D8C6B}" srcOrd="0" destOrd="0" presId="urn:microsoft.com/office/officeart/2005/8/layout/vList2"/>
    <dgm:cxn modelId="{1B777EE3-EB18-284C-BEB8-AA5C582288BE}" srcId="{6312C703-9C66-4A48-B2A1-A84F871FA1C8}" destId="{B4B8AA95-BB1E-D34F-8101-6134342D6392}" srcOrd="0" destOrd="0" parTransId="{B9A67802-8271-484D-8136-43B4371498AC}" sibTransId="{944EBA98-F470-6546-B238-1951AA917200}"/>
    <dgm:cxn modelId="{BB98C3E4-F786-DA48-97C6-7ED926D7E822}" type="presOf" srcId="{C759AF44-3FDC-DC46-9207-E5E4648C80B8}" destId="{BB0FE7D8-1D80-8247-827E-ADFEABCAF0A0}" srcOrd="0" destOrd="1" presId="urn:microsoft.com/office/officeart/2005/8/layout/vList2"/>
    <dgm:cxn modelId="{5AEB5CE6-F381-4F42-8E1E-F792D0C1AF72}" srcId="{847466A7-19AC-DF4E-BA4B-B8A4CBA0C488}" destId="{86525833-31E0-1E41-BAA8-F778156E4EB4}" srcOrd="0" destOrd="0" parTransId="{014F92C8-C18B-2347-BE50-8320D2EB3C5E}" sibTransId="{F7297392-A61E-014A-9D54-38E8A2AB7973}"/>
    <dgm:cxn modelId="{C2FDA7BF-E900-C449-A2F4-6039F1184D0D}" type="presParOf" srcId="{723187E3-41BD-314C-9577-8FC4EA0D8C6B}" destId="{EBCD3628-7840-E743-8D1B-AFE434947CC6}" srcOrd="0" destOrd="0" presId="urn:microsoft.com/office/officeart/2005/8/layout/vList2"/>
    <dgm:cxn modelId="{44A905F6-CCA0-4E42-9124-06F97F20615F}" type="presParOf" srcId="{723187E3-41BD-314C-9577-8FC4EA0D8C6B}" destId="{6C6E52D5-BA13-9140-826B-77896EDB058F}" srcOrd="1" destOrd="0" presId="urn:microsoft.com/office/officeart/2005/8/layout/vList2"/>
    <dgm:cxn modelId="{9B25851F-4E97-CC43-84AD-98E5630176CC}" type="presParOf" srcId="{723187E3-41BD-314C-9577-8FC4EA0D8C6B}" destId="{9CC5E5AC-5707-ED42-95FE-CB9F93C4C22E}" srcOrd="2" destOrd="0" presId="urn:microsoft.com/office/officeart/2005/8/layout/vList2"/>
    <dgm:cxn modelId="{5288E246-8249-E34D-BF9D-411DE70BD58A}" type="presParOf" srcId="{723187E3-41BD-314C-9577-8FC4EA0D8C6B}" destId="{BB0FE7D8-1D80-8247-827E-ADFEABCAF0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D3628-7840-E743-8D1B-AFE434947CC6}">
      <dsp:nvSpPr>
        <dsp:cNvPr id="0" name=""/>
        <dsp:cNvSpPr/>
      </dsp:nvSpPr>
      <dsp:spPr>
        <a:xfrm>
          <a:off x="0" y="48989"/>
          <a:ext cx="10108615" cy="101088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b="1" i="0" kern="1200" dirty="0">
              <a:latin typeface="Heebo ExtraBold" pitchFamily="2" charset="-79"/>
              <a:cs typeface="Heebo ExtraBold" pitchFamily="2" charset="-79"/>
            </a:rPr>
            <a:t>מטרת העל</a:t>
          </a:r>
          <a:endParaRPr lang="en-US" sz="2800" b="1" i="0" kern="1200" dirty="0">
            <a:latin typeface="Heebo ExtraBold" pitchFamily="2" charset="-79"/>
            <a:cs typeface="Heebo ExtraBold" pitchFamily="2" charset="-79"/>
          </a:endParaRPr>
        </a:p>
      </dsp:txBody>
      <dsp:txXfrm>
        <a:off x="49347" y="98336"/>
        <a:ext cx="10009921" cy="912186"/>
      </dsp:txXfrm>
    </dsp:sp>
    <dsp:sp modelId="{6C6E52D5-BA13-9140-826B-77896EDB058F}">
      <dsp:nvSpPr>
        <dsp:cNvPr id="0" name=""/>
        <dsp:cNvSpPr/>
      </dsp:nvSpPr>
      <dsp:spPr>
        <a:xfrm>
          <a:off x="0" y="1026237"/>
          <a:ext cx="10108615" cy="894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949" tIns="25400" rIns="142240" bIns="25400" numCol="1" spcCol="1270" anchor="t" anchorCtr="0">
          <a:noAutofit/>
        </a:bodyPr>
        <a:lstStyle/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latin typeface="Assistant"/>
              <a:ea typeface="Assistant"/>
              <a:cs typeface="Assistant"/>
              <a:sym typeface="Assistant"/>
            </a:rPr>
            <a:t>הצוער יקרא מפה טופוגרפית 1:50,000 ויזהה בה את צורות השטח המרכזיות</a:t>
          </a:r>
          <a:endParaRPr lang="en-US" sz="2000" b="0" i="0" u="none" strike="noStrike" kern="1200" cap="none" dirty="0">
            <a:latin typeface="Assistant"/>
            <a:ea typeface="Assistant"/>
            <a:cs typeface="Assistant"/>
            <a:sym typeface="Assistant"/>
          </a:endParaRPr>
        </a:p>
      </dsp:txBody>
      <dsp:txXfrm>
        <a:off x="0" y="1026237"/>
        <a:ext cx="10108615" cy="894240"/>
      </dsp:txXfrm>
    </dsp:sp>
    <dsp:sp modelId="{9CC5E5AC-5707-ED42-95FE-CB9F93C4C22E}">
      <dsp:nvSpPr>
        <dsp:cNvPr id="0" name=""/>
        <dsp:cNvSpPr/>
      </dsp:nvSpPr>
      <dsp:spPr>
        <a:xfrm>
          <a:off x="0" y="1795073"/>
          <a:ext cx="10108615" cy="1010880"/>
        </a:xfrm>
        <a:prstGeom prst="roundRect">
          <a:avLst/>
        </a:prstGeom>
        <a:solidFill>
          <a:schemeClr val="accent3">
            <a:shade val="80000"/>
            <a:hueOff val="-257998"/>
            <a:satOff val="-52986"/>
            <a:lumOff val="39763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b="1" i="0" kern="1200" dirty="0">
              <a:latin typeface="Heebo ExtraBold" pitchFamily="2" charset="-79"/>
              <a:cs typeface="Heebo ExtraBold" pitchFamily="2" charset="-79"/>
            </a:rPr>
            <a:t>מטרות ביניים</a:t>
          </a:r>
          <a:endParaRPr lang="en-US" sz="2800" b="1" i="0" kern="1200" dirty="0">
            <a:latin typeface="Heebo ExtraBold" pitchFamily="2" charset="-79"/>
            <a:cs typeface="Heebo ExtraBold" pitchFamily="2" charset="-79"/>
          </a:endParaRPr>
        </a:p>
      </dsp:txBody>
      <dsp:txXfrm>
        <a:off x="49347" y="1844420"/>
        <a:ext cx="10009921" cy="912186"/>
      </dsp:txXfrm>
    </dsp:sp>
    <dsp:sp modelId="{BB0FE7D8-1D80-8247-827E-ADFEABCAF0A0}">
      <dsp:nvSpPr>
        <dsp:cNvPr id="0" name=""/>
        <dsp:cNvSpPr/>
      </dsp:nvSpPr>
      <dsp:spPr>
        <a:xfrm>
          <a:off x="0" y="2807908"/>
          <a:ext cx="10108615" cy="1648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949" tIns="25400" rIns="142240" bIns="25400" numCol="1" spcCol="1270" anchor="t" anchorCtr="0">
          <a:noAutofit/>
        </a:bodyPr>
        <a:lstStyle/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latin typeface="Assistant"/>
              <a:ea typeface="Assistant"/>
              <a:cs typeface="Assistant"/>
              <a:sym typeface="Assistant"/>
            </a:rPr>
            <a:t>הצוער יבין מהי מפה לבנה ומה מרכיביה: רשת, תבליט </a:t>
          </a:r>
          <a:r>
            <a:rPr lang="he-IL" sz="2000" b="0" i="0" u="none" strike="noStrike" kern="1200" cap="none" dirty="0" err="1">
              <a:latin typeface="Assistant"/>
              <a:ea typeface="Assistant"/>
              <a:cs typeface="Assistant"/>
              <a:sym typeface="Assistant"/>
            </a:rPr>
            <a:t>ותכסית</a:t>
          </a:r>
          <a:endParaRPr lang="en-US" sz="2000" b="0" i="0" u="none" strike="noStrike" kern="1200" cap="none" dirty="0">
            <a:latin typeface="Assistant"/>
            <a:ea typeface="Assistant"/>
            <a:cs typeface="Assistant"/>
            <a:sym typeface="Assistant"/>
          </a:endParaRP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latin typeface="Assistant"/>
              <a:ea typeface="Assistant"/>
              <a:cs typeface="Assistant"/>
              <a:sym typeface="Assistant"/>
            </a:rPr>
            <a:t>הצוער יבחין בין גבהים ויזהה במפה כיפה, שלוחה, גיא, אוכף וכיפה סמויה</a:t>
          </a: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latin typeface="Assistant"/>
              <a:ea typeface="Assistant"/>
              <a:cs typeface="Assistant"/>
              <a:sym typeface="Assistant"/>
            </a:rPr>
            <a:t>הצוער יסווג מדרונות לפי צפיפות קווי הגובה</a:t>
          </a:r>
        </a:p>
      </dsp:txBody>
      <dsp:txXfrm>
        <a:off x="0" y="2807908"/>
        <a:ext cx="10108615" cy="1648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A56C19-2A1C-3111-2515-B4B36DC063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D137D-2EE3-8A88-5B49-84A4F5BAD3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46A22-0A7C-C443-BB5E-2D99C2CE66C3}" type="datetime1">
              <a:rPr lang="en-US" smtClean="0"/>
              <a:t>7/24/2026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6377B-22B4-8D6C-F8E3-1E74B7FFDF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1F892-B6F4-16B7-47A9-0E6936B98E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69780-F380-1243-A867-6FB669A63A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039380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פתיחה</a:t>
            </a:r>
            <a:r>
              <a:rPr dirty="0"/>
              <a:t> </a:t>
            </a:r>
            <a:r>
              <a:rPr dirty="0" err="1"/>
              <a:t>אנרגטית</a:t>
            </a:r>
            <a:r>
              <a:rPr dirty="0"/>
              <a:t> — </a:t>
            </a:r>
            <a:r>
              <a:rPr dirty="0" err="1"/>
              <a:t>אנחנו</a:t>
            </a:r>
            <a:r>
              <a:rPr dirty="0"/>
              <a:t> </a:t>
            </a:r>
            <a:r>
              <a:rPr dirty="0" err="1"/>
              <a:t>יוצאים</a:t>
            </a:r>
            <a:r>
              <a:rPr dirty="0"/>
              <a:t> </a:t>
            </a:r>
            <a:r>
              <a:rPr dirty="0" err="1"/>
              <a:t>למסע</a:t>
            </a:r>
            <a:r>
              <a:rPr dirty="0"/>
              <a:t>.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להקריא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הפסוק</a:t>
            </a:r>
            <a:r>
              <a:rPr dirty="0"/>
              <a:t>, </a:t>
            </a:r>
            <a:r>
              <a:rPr dirty="0" err="1"/>
              <a:t>לתת</a:t>
            </a:r>
            <a:r>
              <a:rPr dirty="0"/>
              <a:t> </a:t>
            </a:r>
            <a:r>
              <a:rPr dirty="0" err="1"/>
              <a:t>לו</a:t>
            </a:r>
            <a:r>
              <a:rPr dirty="0"/>
              <a:t> </a:t>
            </a:r>
            <a:r>
              <a:rPr dirty="0" err="1"/>
              <a:t>רגע</a:t>
            </a:r>
            <a:r>
              <a:rPr dirty="0"/>
              <a:t> </a:t>
            </a:r>
            <a:r>
              <a:rPr dirty="0" err="1"/>
              <a:t>לבד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.</a:t>
            </a:r>
          </a:p>
          <a:p>
            <a:r>
              <a:rPr dirty="0" err="1"/>
              <a:t>לוודא</a:t>
            </a:r>
            <a:r>
              <a:rPr dirty="0"/>
              <a:t> </a:t>
            </a:r>
            <a:r>
              <a:rPr dirty="0" err="1"/>
              <a:t>שכולם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מחברות</a:t>
            </a:r>
            <a:r>
              <a:rPr dirty="0"/>
              <a:t>. </a:t>
            </a:r>
            <a:r>
              <a:rPr dirty="0" err="1"/>
              <a:t>עוד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מחלקים</a:t>
            </a:r>
            <a:r>
              <a:rPr dirty="0"/>
              <a:t> </a:t>
            </a:r>
            <a:r>
              <a:rPr dirty="0" err="1"/>
              <a:t>מפות</a:t>
            </a:r>
            <a:r>
              <a:rPr dirty="0"/>
              <a:t> — </a:t>
            </a:r>
            <a:r>
              <a:rPr dirty="0" err="1"/>
              <a:t>שיקשיבו</a:t>
            </a:r>
            <a:r>
              <a:rPr dirty="0"/>
              <a:t>.</a:t>
            </a:r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לעבור מהר — לא להקריא. מטרת העל היא המשפט החשוב: לקרוא מפה ולזהות צורות שטח.</a:t>
            </a:r>
          </a:p>
          <a:p>
            <a:r>
              <a:t>להגיד לחניכים: בסוף השיעור תבחנו את עצמכם מול הרשימה הזאת.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לעבור על הציפיות ולשאול: מה אתם מצפים מהניווטים? לתת ל-2-3 חניכים לענות לפני שמציגים את שלנו.</a:t>
            </a:r>
          </a:p>
          <a:p>
            <a:r>
              <a:t>להדגיש: מקצועיות זה לא ציון — זה לצאת לשטח ולדעת לחזור.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מפת</a:t>
            </a:r>
            <a:r>
              <a:rPr dirty="0"/>
              <a:t> </a:t>
            </a:r>
            <a:r>
              <a:rPr dirty="0" err="1"/>
              <a:t>דרכים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הקורס</a:t>
            </a:r>
            <a:r>
              <a:rPr dirty="0"/>
              <a:t>: </a:t>
            </a:r>
            <a:r>
              <a:rPr dirty="0" err="1"/>
              <a:t>מבוא</a:t>
            </a:r>
            <a:r>
              <a:rPr dirty="0"/>
              <a:t> (</a:t>
            </a:r>
            <a:r>
              <a:rPr dirty="0" err="1"/>
              <a:t>היום</a:t>
            </a:r>
            <a:r>
              <a:rPr dirty="0"/>
              <a:t>), </a:t>
            </a:r>
            <a:r>
              <a:rPr dirty="0" err="1"/>
              <a:t>פרקטיקה</a:t>
            </a:r>
            <a:r>
              <a:rPr dirty="0"/>
              <a:t>, </a:t>
            </a:r>
            <a:r>
              <a:rPr dirty="0" err="1"/>
              <a:t>בניית</a:t>
            </a:r>
            <a:r>
              <a:rPr dirty="0"/>
              <a:t> </a:t>
            </a:r>
            <a:r>
              <a:rPr dirty="0" err="1"/>
              <a:t>צירים</a:t>
            </a:r>
            <a:r>
              <a:rPr dirty="0"/>
              <a:t>. </a:t>
            </a:r>
            <a:r>
              <a:rPr dirty="0" err="1"/>
              <a:t>לחזור</a:t>
            </a:r>
            <a:r>
              <a:rPr dirty="0"/>
              <a:t> </a:t>
            </a:r>
            <a:r>
              <a:rPr dirty="0" err="1"/>
              <a:t>אליה</a:t>
            </a:r>
            <a:r>
              <a:rPr dirty="0"/>
              <a:t>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שיעור</a:t>
            </a:r>
            <a:r>
              <a:rPr dirty="0"/>
              <a:t>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קודם לתת לו שם!!!! בחור חמוד</a:t>
            </a:r>
          </a:p>
          <a:p>
            <a:r>
              <a:rPr dirty="0" err="1"/>
              <a:t>לשאול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הכיתה</a:t>
            </a:r>
            <a:r>
              <a:rPr dirty="0"/>
              <a:t> </a:t>
            </a:r>
            <a:r>
              <a:rPr dirty="0" err="1"/>
              <a:t>באמת</a:t>
            </a:r>
            <a:r>
              <a:rPr dirty="0"/>
              <a:t> — </a:t>
            </a:r>
            <a:r>
              <a:rPr dirty="0" err="1"/>
              <a:t>לחכות</a:t>
            </a:r>
            <a:r>
              <a:rPr dirty="0"/>
              <a:t> </a:t>
            </a:r>
            <a:r>
              <a:rPr dirty="0" err="1"/>
              <a:t>לתשובות</a:t>
            </a:r>
            <a:r>
              <a:rPr dirty="0"/>
              <a:t>. </a:t>
            </a:r>
            <a:r>
              <a:rPr dirty="0" err="1"/>
              <a:t>הרבה</a:t>
            </a:r>
            <a:r>
              <a:rPr dirty="0"/>
              <a:t> </a:t>
            </a:r>
            <a:r>
              <a:rPr dirty="0" err="1"/>
              <a:t>יגידו</a:t>
            </a:r>
            <a:r>
              <a:rPr dirty="0"/>
              <a:t> GPS. </a:t>
            </a:r>
            <a:r>
              <a:rPr dirty="0" err="1"/>
              <a:t>לזרום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זה</a:t>
            </a:r>
            <a:r>
              <a:rPr dirty="0"/>
              <a:t> </a:t>
            </a:r>
            <a:r>
              <a:rPr dirty="0" err="1"/>
              <a:t>רגע</a:t>
            </a:r>
            <a:r>
              <a:rPr dirty="0"/>
              <a:t> </a:t>
            </a:r>
            <a:r>
              <a:rPr dirty="0" err="1"/>
              <a:t>ואז</a:t>
            </a:r>
            <a:r>
              <a:rPr dirty="0"/>
              <a:t>: </a:t>
            </a:r>
            <a:r>
              <a:rPr dirty="0" err="1"/>
              <a:t>ומה</a:t>
            </a:r>
            <a:r>
              <a:rPr dirty="0"/>
              <a:t> </a:t>
            </a:r>
            <a:r>
              <a:rPr dirty="0" err="1"/>
              <a:t>כשאין</a:t>
            </a:r>
            <a:r>
              <a:rPr dirty="0"/>
              <a:t> </a:t>
            </a:r>
            <a:r>
              <a:rPr dirty="0" err="1"/>
              <a:t>סוללה</a:t>
            </a:r>
            <a:r>
              <a:rPr dirty="0"/>
              <a:t>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הפאנץ</a:t>
            </a:r>
            <a:r>
              <a:rPr dirty="0"/>
              <a:t>': </a:t>
            </a:r>
            <a:r>
              <a:rPr dirty="0" err="1"/>
              <a:t>ממפות</a:t>
            </a:r>
            <a:r>
              <a:rPr dirty="0"/>
              <a:t>. </a:t>
            </a:r>
            <a:r>
              <a:rPr dirty="0" err="1"/>
              <a:t>מעבר</a:t>
            </a:r>
            <a:r>
              <a:rPr dirty="0"/>
              <a:t> </a:t>
            </a:r>
            <a:r>
              <a:rPr dirty="0" err="1"/>
              <a:t>מהיר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להחזיק מפה אמיתית ביד ולהראות אותה בזמן שמדברים.</a:t>
            </a:r>
          </a:p>
          <a:p>
            <a:r>
              <a:t>שאלה לכיתה: למה בכלל מפה אם יש וויז? לחדד: הבנת שטח מראש ותכנון — לא רק ניווט חי.</a:t>
            </a:r>
          </a:p>
          <a:p>
            <a:r>
              <a:t>המשפט החשוב: מפה שווה כמה שיודעים לקרוא אותה — זה השיעור כולו.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לעצור על המספרים בצירים: להראות עם האצבע איך קוראים קו אורך וקו רוחב.</a:t>
            </a:r>
          </a:p>
          <a:p>
            <a:r>
              <a:t>טעות נפוצה: להתבלבל בין הרשת החדשה (כחול) לישנה (שחור). לתרגל: כל אחד אומר את שם המשבצת שהוא יושב בה.</a:t>
            </a:r>
          </a:p>
          <a:p>
            <a:r>
              <a:t>קנה מידה — להדגים: ס״מ אחד כאן = 500 מטר רגליים שלכם.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להקרין את קטע המפה ולתת לכל חניך לומר את שם המשבצת שלו.</a:t>
            </a:r>
          </a:p>
          <a:p>
            <a:r>
              <a:t>טעות נפוצה: לקרוא רוחב לפני אורך. קודם מזרחה, אחר כך צפונה.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3FDFA25A-E2E0-B485-3B61-BA3C5644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>
            <a:extLst>
              <a:ext uri="{FF2B5EF4-FFF2-40B4-BE49-F238E27FC236}">
                <a16:creationId xmlns:a16="http://schemas.microsoft.com/office/drawing/2014/main" id="{CE142DA7-5E36-1567-1F47-A8B985D57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שקף מעבר — לנשום. מכאן מתחילים לדבר על הממד השלישי של המפה.</a:t>
            </a:r>
          </a:p>
        </p:txBody>
      </p:sp>
      <p:sp>
        <p:nvSpPr>
          <p:cNvPr id="57" name="Google Shape;57;p1:notes">
            <a:extLst>
              <a:ext uri="{FF2B5EF4-FFF2-40B4-BE49-F238E27FC236}">
                <a16:creationId xmlns:a16="http://schemas.microsoft.com/office/drawing/2014/main" id="{C0EEC4B3-F519-4F47-71A4-F9B82AC8B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188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להדגים עם היד: גובה מוחלט מהים, יחסי בין שתי נקודות.</a:t>
            </a:r>
          </a:p>
          <a:p>
            <a:r>
              <a:t>שאלה: פסגה בגובה 400 — זה גבוה או נמוך? תשובה: תלוי מאיפה מטפסים. הרגליים מרגישות יחסי, לא מוחלט.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העיקרון החשוב בשיעור: קו גובה = כל הנקודות באותו גובה.</a:t>
            </a:r>
          </a:p>
          <a:p>
            <a:r>
              <a:t>להדגים עם כף היד קמוצה: הקמטים סביב פרקי האצבעות הם קווי הגובה.</a:t>
            </a:r>
          </a:p>
          <a:p>
            <a:r>
              <a:t>לעצור על ׳ספרות פונות לעלייה׳ — נשתמש בזה בתרגולים.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להראות במפה אמיתית 2-3 נקודות גובה. להדגיש: הנקודה לא קיימת בשטח — אין שלט על הקרקע.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תכסית = מה שמכסה. משחק מהיר: אומרים עצם (באר, מסגד, גשר) והחניכים מחפשים במקרא.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לעבור צבע-צבע עם דוגמה במפה. טעות נפוצה: לחשוב שכחול זה רק מים — גם רשת ישראל החדשה.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4974-5F10-A026-E97A-0714E47C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88FD5-D777-1872-E7F8-EC4566295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39869-028C-ABB8-93BA-728059061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לעבור צבע-צבע עם דוגמה במפה. טעות נפוצה: לחשוב שכחול זה רק מים — גם רשת ישראל החדשה.</a:t>
            </a:r>
          </a:p>
        </p:txBody>
      </p:sp>
    </p:spTree>
    <p:extLst>
      <p:ext uri="{BB962C8B-B14F-4D97-AF65-F5344CB8AC3E}">
        <p14:creationId xmlns:p14="http://schemas.microsoft.com/office/powerpoint/2010/main" val="2966645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מפה לבנה = מה שמנווטים איתו בפועל. להעביר בין הידיים דוגמה אם יש.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סיכום ביניים — לשאול את הכיתה לפני שמראים: מה למדנו עד עכשיו? לתת להם למלא את הרשימה.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9AE66BC8-D529-9646-785B-EC2404C4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>
            <a:extLst>
              <a:ext uri="{FF2B5EF4-FFF2-40B4-BE49-F238E27FC236}">
                <a16:creationId xmlns:a16="http://schemas.microsoft.com/office/drawing/2014/main" id="{8E94532C-B98B-4B8F-3E1F-51710328B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מעבר לצורות שטח — החלק החשוב של השיעור. מכאן והלאה הכל על התרשימים.</a:t>
            </a:r>
          </a:p>
        </p:txBody>
      </p:sp>
      <p:sp>
        <p:nvSpPr>
          <p:cNvPr id="57" name="Google Shape;57;p1:notes">
            <a:extLst>
              <a:ext uri="{FF2B5EF4-FFF2-40B4-BE49-F238E27FC236}">
                <a16:creationId xmlns:a16="http://schemas.microsoft.com/office/drawing/2014/main" id="{19009086-B377-F2A0-B3C0-B85E8415B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2677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לפתוח את פרק צורות השטח מול נוף אמיתי, לא מול סכמה.</a:t>
            </a:r>
          </a:p>
          <a:p>
            <a:r>
              <a:t>לתת לחניכים לזהות בתמונה: כמה כיפות אתם רואים? איפה האוכף ביניהן?</a:t>
            </a:r>
          </a:p>
          <a:p>
            <a:r>
              <a:t>להצביע על המדרונות המדורגים — ולשאול: קעור או קמור?</a:t>
            </a:r>
          </a:p>
          <a:p>
            <a:r>
              <a:t>המשפט לסיום: כל מה שנראה עכשיו במפה, אתם כבר ראיתם כאן בעיניים.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התרשים: כיפה עם שתי טבעות סגורות ונקודת גובה 273.</a:t>
            </a:r>
          </a:p>
          <a:p>
            <a:r>
              <a:t>להראות: מכל כיוון שיוצאים — יורדים (חצים אדומים).</a:t>
            </a:r>
          </a:p>
          <a:p>
            <a:r>
              <a:t>כלל הצבעים מהיום: כחול = עלייה, אדום = ירידה. לחזור עליו בכל שקופית.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להשוות מול הסכמה בשקופית הקודמת: אותן טבעות סגורות.</a:t>
            </a:r>
          </a:p>
          <a:p>
            <a:r>
              <a:t>לתת לחניכים לחפש עוד כיפה בעצמם — יש כמה. ולשים לב: 949 לידה היא דווקא כיפה סמויה (אין לה קו סגור).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לזהות יחד: החץ הכחול עולה על ציר השלוחה אל הפסגה, שלושה אדומים יורדים.</a:t>
            </a:r>
          </a:p>
          <a:p>
            <a:r>
              <a:t>טעות נפוצה: לחשוב שכל בליטה בקו היא שלוחה — להראות שהשלוחה נמשכת לאורך כמה קווי גובה.</a:t>
            </a:r>
          </a:p>
          <a:p>
            <a:r>
              <a:t>לשים לב לקודקודי ה-V: מצביעים הרחק מהפסגה.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ההיפוך של שלוחה: קודקוד ה-V מצביע אל הפסגה (במעלה).</a:t>
            </a:r>
          </a:p>
          <a:p>
            <a:r>
              <a:t>שאלה: לאן זורמים המים בגיא? במורד — אל הנחל. כל הגאיות מתנקזים.</a:t>
            </a:r>
          </a:p>
          <a:p>
            <a:r>
              <a:t>שלוש עליות, ירידה אחת — להראות עם החצים.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ההבחנה בשטח אמיתי: הנחל האכזב תמיד בקרקעית הגיא.</a:t>
            </a:r>
          </a:p>
          <a:p>
            <a:r>
              <a:t>לשאול: איפה עוד גיא? (בכל מקום שיש נחל אכזב). ואיפה שלוחה? (הרכס שביניהם).</a:t>
            </a:r>
          </a:p>
          <a:p>
            <a:r>
              <a:t>להזכיר: מים תמיד זורמים במורד — זה מה שמסמן את הגיא.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שקופית חזרה על אותו קטע — עכשיו החניכים מזהים לבד.</a:t>
            </a:r>
          </a:p>
          <a:p>
            <a:r>
              <a:t>לכסות את התוויות ולשאול: מה זה? למה?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שקופית ההשוואה. לתת לחניכים לנסח את ההבדל במילים שלהם לפני שמסכמים:</a:t>
            </a:r>
          </a:p>
          <a:p>
            <a:r>
              <a:t>שלוחה — V מתרחק מהפסגה; גיא — V מצביע אליה; גיא תמיד בין שתי שלוחות.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דגם התבליט של גבעת התחמושת — ההמחשה הכי טובה שיש למעבר מהמפה לשטח.</a:t>
            </a:r>
          </a:p>
          <a:p>
            <a:r>
              <a:t>לתת לכיתה לזהות בדגם: איפה הכיפה? איפה שלוחה? איפה גיא?</a:t>
            </a:r>
          </a:p>
          <a:p>
            <a:r>
              <a:t>להצביע על שכבה אחת ולהסביר: זה קו גובה. עכשיו תסתכלו עליו מלמעלה — זו המפה.</a:t>
            </a:r>
          </a:p>
          <a:p>
            <a:r>
              <a:t>מי שהיה בגבעת התחמושת — שיספר. זה מקבע את המושג.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אוכף = שעון חול בין שתי כיפות. שני כחולים אל הכיפות, שני אדומים אל הגאיות.</a:t>
            </a:r>
          </a:p>
          <a:p>
            <a:r>
              <a:t>להדגים עם שתי אגרופים והשקע ביניהם.</a:t>
            </a:r>
          </a:p>
          <a:p>
            <a:r>
              <a:t>המשפט שיציל אותם בשטח: משני צידי אוכף תמיד יש כיפה — גם אם לא מסומנת.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להראות: אוכף = מעבר נמוך בין שני גבהים.</a:t>
            </a:r>
          </a:p>
          <a:p>
            <a:r>
              <a:t>לחבר לשקופית הבאה: שני האוכפים האלה הם מה שמסמן את הכיפה הסמויה ביניהם.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השקופית הקשה של השיעור — להאט.</a:t>
            </a:r>
          </a:p>
          <a:p>
            <a:r>
              <a:t>למעלה המפה: בין שני האוכפים אין אף קו סגור. למטה החתך: הכיפה הסמויה (258.5) לא מגיעה לקו ה-260.</a:t>
            </a:r>
          </a:p>
          <a:p>
            <a:r>
              <a:t>לכן אין לה טבעת — היא ׳בולעת׳ בין קווי הגובה. מזהים אותה לפי האוכפים משני הצדדים.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השוואה ישירה: 967 יש לה קו גובה סגור (כיפה); 949 אין לה (כיפה סמויה) — למרות ששתיהן נקודות גובה.</a:t>
            </a:r>
          </a:p>
          <a:p>
            <a:r>
              <a:t>הטבעת המקווקוות מסמנת בדיוק את זה: הכיפה קיימת, אבל אין סביבה קו סגור.</a:t>
            </a:r>
          </a:p>
          <a:p>
            <a:r>
              <a:t>זה בדיוק המבנה מהסכמה — עכשיו בשטח אמיתי מגוש עציון.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D8B2187F-986F-1F5C-7CD3-E2F931CC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>
            <a:extLst>
              <a:ext uri="{FF2B5EF4-FFF2-40B4-BE49-F238E27FC236}">
                <a16:creationId xmlns:a16="http://schemas.microsoft.com/office/drawing/2014/main" id="{4FF99714-6FE0-8B36-AABC-1E8BFA3D3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מעבר למדרונות — קצר.</a:t>
            </a:r>
          </a:p>
        </p:txBody>
      </p:sp>
      <p:sp>
        <p:nvSpPr>
          <p:cNvPr id="57" name="Google Shape;57;p1:notes">
            <a:extLst>
              <a:ext uri="{FF2B5EF4-FFF2-40B4-BE49-F238E27FC236}">
                <a16:creationId xmlns:a16="http://schemas.microsoft.com/office/drawing/2014/main" id="{E1AD17C3-53EB-23AE-0FA6-B576B4850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0662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80345333-0133-EAC5-C8A0-F288BFCB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>
            <a:extLst>
              <a:ext uri="{FF2B5EF4-FFF2-40B4-BE49-F238E27FC236}">
                <a16:creationId xmlns:a16="http://schemas.microsoft.com/office/drawing/2014/main" id="{ACD83561-DA46-E227-CE72-76A857076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מעבר למדרונות — קצר.</a:t>
            </a:r>
          </a:p>
        </p:txBody>
      </p:sp>
      <p:sp>
        <p:nvSpPr>
          <p:cNvPr id="57" name="Google Shape;57;p1:notes">
            <a:extLst>
              <a:ext uri="{FF2B5EF4-FFF2-40B4-BE49-F238E27FC236}">
                <a16:creationId xmlns:a16="http://schemas.microsoft.com/office/drawing/2014/main" id="{A0BDCD55-0AEE-C885-8D78-9AF251BFF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87773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ארבעת הגרפים: מתון/תלול (קצוב) וקעור/קמור (משתנה).</a:t>
            </a:r>
          </a:p>
          <a:p>
            <a:r>
              <a:t>לשים לב לפסים החומים מתחת לכל גרף — אלה קווי הגובה כפי שיוטלו על המפה. זה הגשר בין החתך למפה.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קצוב = מרווחים אחידים. מתון מרווח, תלול צפוף. פשוט.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משתנה = המרווחים משתנים. מכאן שתי המשפחות: קעור וקמור.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כתף: הפוגה בתוך מדרון. קבוצת קווים מרווחת בין שתי צפופות.</a:t>
            </a:r>
          </a:p>
          <a:p>
            <a:r>
              <a:t>לא כיפה — אין ירידה לכל הכיוונים, ההמשך למעלה עולה.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ההבחנה: כיפה סמויה — אוכף משני הצדדים (יורדים ועולים). כתף — באמצע מדרון (ממשיכים לעלות).</a:t>
            </a:r>
          </a:p>
          <a:p>
            <a:r>
              <a:t>להשוות את שני החתכים בתחתית התרשים.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סיכום — לתת לכיתה לשחזר לפני שמראים. מה שלא זוכרים — לחזור אליו.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הטעיה קטנה — כאילו סוף.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צחוק קצר — וממשיכים.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ההפתעה: יש אתר.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להקרין את האתר חי אם אפשר. לתת לכולם להיכנס עכשיו מהטלפון ולשמור.</a:t>
            </a:r>
          </a:p>
          <a:p>
            <a:r>
              <a:t>להראות את הסימולציה של קווי הגובה ואת תרגולי הדקירה.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סיום. תזכורת: שיעור הבא — מד״קו, נ.צ. ואזימוטים. מי שרוצה להתקדם — הניווטיה.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ראשית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מימין">
  <p:cSld name="תוכן מימין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1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43"/>
          <p:cNvPicPr preferRelativeResize="0"/>
          <p:nvPr userDrawn="1"/>
        </p:nvPicPr>
        <p:blipFill rotWithShape="1">
          <a:blip r:embed="rId2">
            <a:alphaModFix amt="78000"/>
          </a:blip>
          <a:srcRect/>
          <a:stretch/>
        </p:blipFill>
        <p:spPr>
          <a:xfrm>
            <a:off x="83326" y="1915629"/>
            <a:ext cx="3791250" cy="37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פרק משמאל">
  <p:cSld name="כותרת פרק משמא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 txBox="1">
            <a:spLocks noGrp="1"/>
          </p:cNvSpPr>
          <p:nvPr>
            <p:ph type="ctrTitle"/>
          </p:nvPr>
        </p:nvSpPr>
        <p:spPr>
          <a:xfrm>
            <a:off x="266699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subTitle" idx="1"/>
          </p:nvPr>
        </p:nvSpPr>
        <p:spPr>
          <a:xfrm>
            <a:off x="266699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0" name="Google Shape;40;p44"/>
          <p:cNvPicPr preferRelativeResize="0"/>
          <p:nvPr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פרק מימין">
  <p:cSld name="כותרת פרק מימין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5"/>
          <p:cNvSpPr txBox="1">
            <a:spLocks noGrp="1"/>
          </p:cNvSpPr>
          <p:nvPr>
            <p:ph type="ctrTitle"/>
          </p:nvPr>
        </p:nvSpPr>
        <p:spPr>
          <a:xfrm>
            <a:off x="4885188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subTitle" idx="1"/>
          </p:nvPr>
        </p:nvSpPr>
        <p:spPr>
          <a:xfrm>
            <a:off x="4885188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" name="Google Shape;40;p44">
            <a:extLst>
              <a:ext uri="{FF2B5EF4-FFF2-40B4-BE49-F238E27FC236}">
                <a16:creationId xmlns:a16="http://schemas.microsoft.com/office/drawing/2014/main" id="{AA035BCC-F4B2-27F5-3430-904D7C10E629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491588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משמאל">
  <p:cSld name="תוכן משמאל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853996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oogle Shape;40;p44">
            <a:extLst>
              <a:ext uri="{FF2B5EF4-FFF2-40B4-BE49-F238E27FC236}">
                <a16:creationId xmlns:a16="http://schemas.microsoft.com/office/drawing/2014/main" id="{D83497E6-9C96-F74C-41D9-372E3A94C3E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9"/>
          <p:cNvPicPr preferRelativeResize="0"/>
          <p:nvPr userDrawn="1"/>
        </p:nvPicPr>
        <p:blipFill rotWithShape="1">
          <a:blip r:embed="rId8">
            <a:alphaModFix amt="25000"/>
          </a:blip>
          <a:srcRect/>
          <a:stretch/>
        </p:blipFill>
        <p:spPr>
          <a:xfrm>
            <a:off x="3519241" y="1108898"/>
            <a:ext cx="5167838" cy="464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9"/>
          <p:cNvSpPr/>
          <p:nvPr/>
        </p:nvSpPr>
        <p:spPr>
          <a:xfrm>
            <a:off x="1" y="-43772"/>
            <a:ext cx="12206318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" name="Google Shape;8;p39"/>
          <p:cNvSpPr/>
          <p:nvPr/>
        </p:nvSpPr>
        <p:spPr>
          <a:xfrm>
            <a:off x="1" y="6336640"/>
            <a:ext cx="12191999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he-IL" sz="18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					</a:t>
            </a:r>
            <a:endParaRPr sz="18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" name="Google Shape;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sz="44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endParaRPr dirty="0"/>
          </a:p>
        </p:txBody>
      </p:sp>
      <p:sp>
        <p:nvSpPr>
          <p:cNvPr id="10" name="Google Shape;10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  <a:defRPr sz="2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indent="-4064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</a:pPr>
            <a:endParaRPr dirty="0"/>
          </a:p>
        </p:txBody>
      </p:sp>
      <p:sp>
        <p:nvSpPr>
          <p:cNvPr id="11" name="Google Shape;11;p39"/>
          <p:cNvSpPr txBox="1"/>
          <p:nvPr/>
        </p:nvSpPr>
        <p:spPr>
          <a:xfrm>
            <a:off x="5769962" y="76300"/>
            <a:ext cx="66639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w-IL" sz="1000" b="0" i="0" u="none" strike="noStrike" cap="none" dirty="0">
                <a:solidFill>
                  <a:schemeClr val="dk1"/>
                </a:solidFill>
                <a:latin typeface="Assistant" pitchFamily="2" charset="-79"/>
                <a:ea typeface="Calibri"/>
                <a:cs typeface="Assistant" pitchFamily="2" charset="-79"/>
                <a:sym typeface="Calibri"/>
              </a:rPr>
              <a:t>- בלמ"ס -</a:t>
            </a:r>
            <a:endParaRPr sz="1400" b="0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12" name="Google Shape;12;p39"/>
          <p:cNvSpPr txBox="1"/>
          <p:nvPr/>
        </p:nvSpPr>
        <p:spPr>
          <a:xfrm>
            <a:off x="8610600" y="-29094"/>
            <a:ext cx="3342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"ממפה תראו וכך תנווטו</a:t>
            </a:r>
            <a:r>
              <a:rPr lang="he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" (לא מ</a:t>
            </a:r>
            <a:r>
              <a:rPr lang="iw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שופטים ז', י"ז</a:t>
            </a:r>
            <a:r>
              <a:rPr lang="he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pic>
        <p:nvPicPr>
          <p:cNvPr id="13" name="Google Shape;13;p39"/>
          <p:cNvPicPr preferRelativeResize="0"/>
          <p:nvPr/>
        </p:nvPicPr>
        <p:blipFill rotWithShape="1">
          <a:blip r:embed="rId9">
            <a:alphaModFix amt="50000"/>
          </a:blip>
          <a:srcRect/>
          <a:stretch/>
        </p:blipFill>
        <p:spPr>
          <a:xfrm>
            <a:off x="11569946" y="35961"/>
            <a:ext cx="420225" cy="5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9120" y="166354"/>
            <a:ext cx="807777" cy="8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9" descr="תמונה שמכילה עיגול, צבעוני&#10;&#10;התיאור נוצר באופן אוטומטי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6897" y="148645"/>
            <a:ext cx="1143356" cy="84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9"/>
          <p:cNvSpPr txBox="1"/>
          <p:nvPr/>
        </p:nvSpPr>
        <p:spPr>
          <a:xfrm>
            <a:off x="442486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קורס קציני סייבר</a:t>
            </a:r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18" name="Google Shape;18;p39"/>
          <p:cNvSpPr txBox="1"/>
          <p:nvPr/>
        </p:nvSpPr>
        <p:spPr>
          <a:xfrm>
            <a:off x="801152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- בלמ״ס -</a:t>
            </a:r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4" name="Google Shape;18;p39">
            <a:extLst>
              <a:ext uri="{FF2B5EF4-FFF2-40B4-BE49-F238E27FC236}">
                <a16:creationId xmlns:a16="http://schemas.microsoft.com/office/drawing/2014/main" id="{19AE7ACA-EB65-F124-DACE-6465109DC42D}"/>
              </a:ext>
            </a:extLst>
          </p:cNvPr>
          <p:cNvSpPr txBox="1"/>
          <p:nvPr userDrawn="1"/>
        </p:nvSpPr>
        <p:spPr>
          <a:xfrm>
            <a:off x="-228014" y="6336640"/>
            <a:ext cx="2132428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72624C2C-4D87-6348-A13B-703904495666}" type="slidenum">
              <a:rPr lang="iw-IL" sz="1200" b="1" i="0" u="none" strike="noStrike" cap="none" smtClean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‹#›</a:t>
            </a:fld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Heebo ExtraBold" pitchFamily="2" charset="-79"/>
          <a:ea typeface="Heebo ExtraBold" pitchFamily="2" charset="-79"/>
          <a:cs typeface="Heebo ExtraBold" pitchFamily="2" charset="-79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hyperlink" Target="https://regaj.github.io/nivutia" TargetMode="Externa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68000"/>
          </a:schemeClr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1524000" y="3049130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he-IL" sz="7300" dirty="0">
                <a:latin typeface="Assistant" pitchFamily="2" charset="-79"/>
                <a:cs typeface="Assistant" pitchFamily="2" charset="-79"/>
              </a:rPr>
              <a:t>מבוא לניווטים</a:t>
            </a:r>
            <a:br>
              <a:rPr lang="en-US" sz="4800" dirty="0">
                <a:latin typeface="Assistant" pitchFamily="2" charset="-79"/>
                <a:cs typeface="Assistant" pitchFamily="2" charset="-79"/>
              </a:rPr>
            </a:br>
            <a:r>
              <a:rPr lang="he-IL" sz="2200" b="0" dirty="0">
                <a:latin typeface="Assistant" pitchFamily="2" charset="-79"/>
                <a:cs typeface="Assistant" pitchFamily="2" charset="-79"/>
              </a:rPr>
              <a:t>״</a:t>
            </a:r>
            <a:r>
              <a:rPr lang="he-IL" sz="2400" b="0" dirty="0">
                <a:latin typeface="Assistant" pitchFamily="2" charset="-79"/>
                <a:cs typeface="Assistant" pitchFamily="2" charset="-79"/>
              </a:rPr>
              <a:t>לך-לך מארצך וממולדתך ומבית אביך אל-הארץ אשר אראך</a:t>
            </a:r>
            <a:r>
              <a:rPr lang="he-IL" sz="2200" b="0" dirty="0">
                <a:latin typeface="Assistant" pitchFamily="2" charset="-79"/>
                <a:cs typeface="Assistant" pitchFamily="2" charset="-79"/>
              </a:rPr>
              <a:t>״</a:t>
            </a:r>
            <a:endParaRPr lang="iw-IL" b="0" dirty="0">
              <a:latin typeface="Assistant" pitchFamily="2" charset="-79"/>
              <a:cs typeface="Assistant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מטרות</a:t>
            </a:r>
            <a:r>
              <a:rPr dirty="0"/>
              <a:t> </a:t>
            </a:r>
            <a:r>
              <a:rPr dirty="0" err="1"/>
              <a:t>השיעור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A2909F-D029-F6DB-459A-1DFAF88C0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267169"/>
              </p:ext>
            </p:extLst>
          </p:nvPr>
        </p:nvGraphicFramePr>
        <p:xfrm>
          <a:off x="1245184" y="1485901"/>
          <a:ext cx="10108616" cy="4595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7492-2300-D1E9-2E8E-2DD3CE57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ציפיות לקראת הניווטים</a:t>
            </a:r>
            <a:endParaRPr lang="en-IL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D8ECA7-B8C8-BF02-5F7B-2E91BBD36ABF}"/>
              </a:ext>
            </a:extLst>
          </p:cNvPr>
          <p:cNvSpPr/>
          <p:nvPr/>
        </p:nvSpPr>
        <p:spPr>
          <a:xfrm>
            <a:off x="242888" y="2907506"/>
            <a:ext cx="3414712" cy="1042987"/>
          </a:xfrm>
          <a:prstGeom prst="roundRect">
            <a:avLst/>
          </a:prstGeom>
          <a:solidFill>
            <a:srgbClr val="C8D8B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Bef>
                <a:spcPts val="600"/>
              </a:spcBef>
            </a:pPr>
            <a:r>
              <a:rPr lang="he-IL" sz="4000" b="1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מקצועיות</a:t>
            </a:r>
            <a:endParaRPr lang="en-IL" sz="4000" b="1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C181CA-1F00-2D38-09D6-77C378A7601F}"/>
              </a:ext>
            </a:extLst>
          </p:cNvPr>
          <p:cNvSpPr/>
          <p:nvPr/>
        </p:nvSpPr>
        <p:spPr>
          <a:xfrm>
            <a:off x="4388644" y="2907505"/>
            <a:ext cx="3414712" cy="1042987"/>
          </a:xfrm>
          <a:prstGeom prst="roundRect">
            <a:avLst/>
          </a:prstGeom>
          <a:solidFill>
            <a:srgbClr val="C8D8B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Bef>
                <a:spcPts val="600"/>
              </a:spcBef>
            </a:pPr>
            <a:r>
              <a:rPr lang="he-IL" sz="4000" b="1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משמעות</a:t>
            </a:r>
            <a:endParaRPr lang="en-IL" sz="4000" b="1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1212CD-FC7D-1445-6C87-3313C3225345}"/>
              </a:ext>
            </a:extLst>
          </p:cNvPr>
          <p:cNvSpPr/>
          <p:nvPr/>
        </p:nvSpPr>
        <p:spPr>
          <a:xfrm>
            <a:off x="8534400" y="2907504"/>
            <a:ext cx="3414712" cy="1042987"/>
          </a:xfrm>
          <a:prstGeom prst="roundRect">
            <a:avLst/>
          </a:prstGeom>
          <a:solidFill>
            <a:srgbClr val="C8D8B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Bef>
                <a:spcPts val="600"/>
              </a:spcBef>
            </a:pPr>
            <a:r>
              <a:rPr lang="he-IL" sz="4000" b="1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גיבוש והנאה</a:t>
            </a:r>
            <a:endParaRPr lang="en-IL" sz="4000" b="1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6994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5;p3">
            <a:extLst>
              <a:ext uri="{FF2B5EF4-FFF2-40B4-BE49-F238E27FC236}">
                <a16:creationId xmlns:a16="http://schemas.microsoft.com/office/drawing/2014/main" id="{9DF56702-A1AC-6AC9-7C14-51F70DC5CCE5}"/>
              </a:ext>
            </a:extLst>
          </p:cNvPr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מה מצפה לנו?</a:t>
            </a:r>
            <a:endParaRPr sz="4400" b="1" i="0" u="none" strike="noStrike" cap="none" dirty="0">
              <a:solidFill>
                <a:schemeClr val="dk1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pic>
        <p:nvPicPr>
          <p:cNvPr id="3" name="תמונה 2" descr="Story pin image">
            <a:extLst>
              <a:ext uri="{FF2B5EF4-FFF2-40B4-BE49-F238E27FC236}">
                <a16:creationId xmlns:a16="http://schemas.microsoft.com/office/drawing/2014/main" id="{880C5758-4828-9D6B-99EB-177C3395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85" b="21148"/>
          <a:stretch>
            <a:fillRect/>
          </a:stretch>
        </p:blipFill>
        <p:spPr>
          <a:xfrm>
            <a:off x="303213" y="1854199"/>
            <a:ext cx="6119096" cy="3485893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25FF4A0-AAB1-7DAA-4CFC-ED93F47DC933}"/>
              </a:ext>
            </a:extLst>
          </p:cNvPr>
          <p:cNvSpPr txBox="1"/>
          <p:nvPr/>
        </p:nvSpPr>
        <p:spPr>
          <a:xfrm>
            <a:off x="5861138" y="1690825"/>
            <a:ext cx="4603750" cy="322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מבוא</a:t>
            </a:r>
          </a:p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פרקטיקה</a:t>
            </a:r>
          </a:p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מדריך לבניית צירים וסיפור דרך</a:t>
            </a:r>
            <a:endParaRPr lang="en-IL" sz="240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8" name="תמונה 17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CCC9E8EC-23ED-430C-11D0-DB44794FB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8" y="1854199"/>
            <a:ext cx="751605" cy="881883"/>
          </a:xfrm>
          <a:prstGeom prst="rect">
            <a:avLst/>
          </a:prstGeom>
        </p:spPr>
      </p:pic>
      <p:pic>
        <p:nvPicPr>
          <p:cNvPr id="30" name="תמונה 29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6D3D5D34-D4CA-8DA9-FD40-CF7FD5773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7" y="2988058"/>
            <a:ext cx="751605" cy="881883"/>
          </a:xfrm>
          <a:prstGeom prst="rect">
            <a:avLst/>
          </a:prstGeom>
        </p:spPr>
      </p:pic>
      <p:pic>
        <p:nvPicPr>
          <p:cNvPr id="32" name="תמונה 31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F1A9FC43-31F9-913D-B408-8271D6EFA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8" y="4121917"/>
            <a:ext cx="751605" cy="88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0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5;p3">
            <a:extLst>
              <a:ext uri="{FF2B5EF4-FFF2-40B4-BE49-F238E27FC236}">
                <a16:creationId xmlns:a16="http://schemas.microsoft.com/office/drawing/2014/main" id="{36BCC605-3081-1286-88BA-EE53E7E9A85E}"/>
              </a:ext>
            </a:extLst>
          </p:cNvPr>
          <p:cNvSpPr txBox="1"/>
          <p:nvPr/>
        </p:nvSpPr>
        <p:spPr>
          <a:xfrm>
            <a:off x="-52578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מאיפה מתחילים?</a:t>
            </a:r>
            <a:endParaRPr sz="4400" b="1" i="0" u="none" strike="noStrike" cap="none" dirty="0">
              <a:solidFill>
                <a:schemeClr val="dk1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53AF6B4-5F36-B48F-A9AA-632035F4D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48A3805-F69A-CF53-15FF-C7E5BA9B6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2509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97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500" fill="hold"/>
                                        <p:tgtEl>
                                          <p:spTgt spid="8"/>
                                        </p:tgtEl>
                                      </p:cBhvr>
                                      <p:by x="30000" y="3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-0.01459 0.3796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5;p3">
            <a:extLst>
              <a:ext uri="{FF2B5EF4-FFF2-40B4-BE49-F238E27FC236}">
                <a16:creationId xmlns:a16="http://schemas.microsoft.com/office/drawing/2014/main" id="{B1A6C76F-43A7-4347-4F3B-BDA751F27900}"/>
              </a:ext>
            </a:extLst>
          </p:cNvPr>
          <p:cNvSpPr txBox="1"/>
          <p:nvPr/>
        </p:nvSpPr>
        <p:spPr>
          <a:xfrm>
            <a:off x="704843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מאיפה מתחילים?	</a:t>
            </a:r>
            <a:endParaRPr sz="4400" b="1" i="0" u="none" strike="noStrike" cap="none" dirty="0">
              <a:solidFill>
                <a:srgbClr val="73985A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D8587-E110-FB1B-5F7A-64EEC7B0FFF5}"/>
              </a:ext>
            </a:extLst>
          </p:cNvPr>
          <p:cNvSpPr txBox="1"/>
          <p:nvPr/>
        </p:nvSpPr>
        <p:spPr>
          <a:xfrm>
            <a:off x="4286242" y="3044279"/>
            <a:ext cx="24038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sz="4400" b="1" dirty="0">
                <a:solidFill>
                  <a:srgbClr val="73985A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ממפות!</a:t>
            </a:r>
            <a:endParaRPr lang="en-IL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E82D540E-F3D8-215E-1F11-189149FA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E7DC4521-CF40-CD48-7C48-6521837CA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5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מפה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בשביל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?</a:t>
            </a:r>
          </a:p>
        </p:txBody>
      </p:sp>
      <p:pic>
        <p:nvPicPr>
          <p:cNvPr id="5" name="Picture 4" descr="כיצד להדפיס מפה טופוגרפית בקנ&quot;מ מדויק">
            <a:extLst>
              <a:ext uri="{FF2B5EF4-FFF2-40B4-BE49-F238E27FC236}">
                <a16:creationId xmlns:a16="http://schemas.microsoft.com/office/drawing/2014/main" id="{7D882DF3-E7D5-E35C-52A5-C78F40816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193" y="1136580"/>
            <a:ext cx="3246730" cy="4584839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5E357E9B-E283-8C99-B7B3-B3CF366287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BD3B269B-CE13-23FF-38CB-5D479585201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להבין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השטח</a:t>
            </a:r>
            <a:r>
              <a:rPr sz="2200" dirty="0"/>
              <a:t> </a:t>
            </a:r>
            <a:r>
              <a:rPr sz="2200" dirty="0" err="1"/>
              <a:t>מראש</a:t>
            </a:r>
            <a:r>
              <a:rPr sz="2200" dirty="0"/>
              <a:t>, </a:t>
            </a:r>
            <a:r>
              <a:rPr sz="2200" dirty="0" err="1"/>
              <a:t>עוד</a:t>
            </a:r>
            <a:r>
              <a:rPr sz="2200" dirty="0"/>
              <a:t> </a:t>
            </a:r>
            <a:r>
              <a:rPr sz="2200" dirty="0" err="1"/>
              <a:t>לפני</a:t>
            </a:r>
            <a:r>
              <a:rPr sz="2200" dirty="0"/>
              <a:t> </a:t>
            </a:r>
            <a:r>
              <a:rPr sz="2200" dirty="0" err="1"/>
              <a:t>שדרכנו</a:t>
            </a:r>
            <a:r>
              <a:rPr sz="2200" dirty="0"/>
              <a:t> </a:t>
            </a:r>
            <a:r>
              <a:rPr sz="2200" dirty="0" err="1"/>
              <a:t>עליו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לתכנן</a:t>
            </a:r>
            <a:r>
              <a:rPr sz="2200" dirty="0"/>
              <a:t> </a:t>
            </a:r>
            <a:r>
              <a:rPr sz="2200" dirty="0" err="1"/>
              <a:t>מס</a:t>
            </a:r>
            <a:r>
              <a:rPr lang="he-IL" sz="2200" dirty="0"/>
              <a:t>לול:</a:t>
            </a:r>
            <a:r>
              <a:rPr sz="2200" dirty="0"/>
              <a:t> </a:t>
            </a:r>
            <a:r>
              <a:rPr sz="2200" dirty="0" err="1"/>
              <a:t>מאיפה</a:t>
            </a:r>
            <a:r>
              <a:rPr sz="2200" dirty="0"/>
              <a:t> </a:t>
            </a:r>
            <a:r>
              <a:rPr sz="2200" dirty="0" err="1"/>
              <a:t>יוצאים</a:t>
            </a:r>
            <a:r>
              <a:rPr sz="2200" dirty="0"/>
              <a:t>, </a:t>
            </a:r>
            <a:r>
              <a:rPr sz="2200" dirty="0" err="1"/>
              <a:t>לאן</a:t>
            </a:r>
            <a:r>
              <a:rPr sz="2200" dirty="0"/>
              <a:t> </a:t>
            </a:r>
            <a:r>
              <a:rPr sz="2200" dirty="0" err="1"/>
              <a:t>מגיעים</a:t>
            </a:r>
            <a:r>
              <a:rPr sz="2200" dirty="0"/>
              <a:t>, </a:t>
            </a:r>
            <a:r>
              <a:rPr sz="2200" dirty="0" err="1"/>
              <a:t>ובאיזו</a:t>
            </a:r>
            <a:r>
              <a:rPr sz="2200" dirty="0"/>
              <a:t> </a:t>
            </a:r>
            <a:r>
              <a:rPr sz="2200" dirty="0" err="1"/>
              <a:t>דרך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להתמצא</a:t>
            </a:r>
            <a:r>
              <a:rPr sz="2200" dirty="0"/>
              <a:t> </a:t>
            </a:r>
            <a:r>
              <a:rPr sz="2200" dirty="0" err="1"/>
              <a:t>ולנווט</a:t>
            </a:r>
            <a:r>
              <a:rPr sz="2200" dirty="0"/>
              <a:t> </a:t>
            </a:r>
            <a:r>
              <a:rPr sz="2200" dirty="0" err="1"/>
              <a:t>בזמן</a:t>
            </a:r>
            <a:r>
              <a:rPr sz="2200" dirty="0"/>
              <a:t> </a:t>
            </a:r>
            <a:r>
              <a:rPr sz="2200" dirty="0" err="1"/>
              <a:t>אמת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אבל</a:t>
            </a:r>
            <a:r>
              <a:rPr sz="2200" b="1" dirty="0"/>
              <a:t> </a:t>
            </a:r>
            <a:r>
              <a:rPr lang="he-IL" sz="2200" b="1" dirty="0"/>
              <a:t> -</a:t>
            </a:r>
            <a:r>
              <a:rPr sz="2200" b="1" dirty="0"/>
              <a:t> </a:t>
            </a:r>
            <a:r>
              <a:rPr sz="2200" b="1" dirty="0" err="1"/>
              <a:t>מפה</a:t>
            </a:r>
            <a:r>
              <a:rPr sz="2200" b="1" dirty="0"/>
              <a:t> </a:t>
            </a:r>
            <a:r>
              <a:rPr lang="he-IL" sz="2200" b="1" dirty="0"/>
              <a:t>לא שווה כלום אם לא נדע </a:t>
            </a:r>
            <a:r>
              <a:rPr sz="2200" b="1" dirty="0" err="1"/>
              <a:t>לקרוא</a:t>
            </a:r>
            <a:r>
              <a:rPr sz="2200" b="1" dirty="0"/>
              <a:t> </a:t>
            </a:r>
            <a:r>
              <a:rPr sz="2200" b="1" dirty="0" err="1"/>
              <a:t>אותה</a:t>
            </a:r>
            <a:r>
              <a:rPr lang="he-IL" sz="2200" b="1" dirty="0"/>
              <a:t>!</a:t>
            </a:r>
            <a:endParaRPr sz="22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609586A4-47C8-6CF3-BAD7-420DCBB904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רשת</a:t>
            </a:r>
            <a:r>
              <a:rPr dirty="0"/>
              <a:t> </a:t>
            </a:r>
            <a:r>
              <a:rPr dirty="0" err="1"/>
              <a:t>ישראל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רשת</a:t>
            </a:r>
            <a:r>
              <a:rPr dirty="0"/>
              <a:t> </a:t>
            </a:r>
            <a:r>
              <a:rPr dirty="0" err="1"/>
              <a:t>הקואורדינטות</a:t>
            </a:r>
            <a:endParaRPr dirty="0"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118402"/>
            <a:ext cx="3794760" cy="367275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AB88C024-417A-76F0-CA81-DCAC1D1DB9E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המפה</a:t>
            </a:r>
            <a:r>
              <a:rPr sz="2200" dirty="0"/>
              <a:t> </a:t>
            </a:r>
            <a:r>
              <a:rPr sz="2200" dirty="0" err="1"/>
              <a:t>חצויה</a:t>
            </a:r>
            <a:r>
              <a:rPr sz="2200" dirty="0"/>
              <a:t> </a:t>
            </a:r>
            <a:r>
              <a:rPr sz="2200" dirty="0" err="1"/>
              <a:t>בקווי</a:t>
            </a:r>
            <a:r>
              <a:rPr sz="2200" dirty="0"/>
              <a:t> </a:t>
            </a:r>
            <a:r>
              <a:rPr sz="2200" dirty="0" err="1"/>
              <a:t>אורך</a:t>
            </a:r>
            <a:r>
              <a:rPr sz="2200" dirty="0"/>
              <a:t> </a:t>
            </a:r>
            <a:r>
              <a:rPr sz="2200" dirty="0" err="1"/>
              <a:t>ורוחב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זו</a:t>
            </a:r>
            <a:r>
              <a:rPr sz="2200" dirty="0"/>
              <a:t> </a:t>
            </a:r>
            <a:r>
              <a:rPr sz="2200" b="1" dirty="0" err="1"/>
              <a:t>רשת</a:t>
            </a:r>
            <a:r>
              <a:rPr sz="2200" b="1" dirty="0"/>
              <a:t> </a:t>
            </a:r>
            <a:r>
              <a:rPr sz="2200" b="1" dirty="0" err="1"/>
              <a:t>ישראל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רשתות</a:t>
            </a:r>
            <a:r>
              <a:rPr sz="2200" dirty="0"/>
              <a:t>: </a:t>
            </a:r>
            <a:r>
              <a:rPr sz="2200" dirty="0" err="1"/>
              <a:t>החדשה</a:t>
            </a:r>
            <a:r>
              <a:rPr sz="2200" dirty="0"/>
              <a:t> </a:t>
            </a:r>
            <a:r>
              <a:rPr sz="2200" dirty="0" err="1"/>
              <a:t>בכחול</a:t>
            </a:r>
            <a:r>
              <a:rPr sz="2200" dirty="0"/>
              <a:t>, </a:t>
            </a:r>
            <a:r>
              <a:rPr sz="2200" dirty="0" err="1"/>
              <a:t>הישנה</a:t>
            </a:r>
            <a:r>
              <a:rPr sz="2200" dirty="0"/>
              <a:t> </a:t>
            </a:r>
            <a:r>
              <a:rPr sz="2200" dirty="0" err="1"/>
              <a:t>בשחור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הקווים</a:t>
            </a:r>
            <a:r>
              <a:rPr sz="2200" dirty="0"/>
              <a:t> </a:t>
            </a:r>
            <a:r>
              <a:rPr sz="2200" dirty="0" err="1"/>
              <a:t>ממוספרים</a:t>
            </a:r>
            <a:r>
              <a:rPr lang="he-IL" sz="2200" dirty="0"/>
              <a:t>:</a:t>
            </a:r>
            <a:r>
              <a:rPr sz="2200" dirty="0"/>
              <a:t> </a:t>
            </a:r>
            <a:r>
              <a:rPr sz="2200" dirty="0" err="1"/>
              <a:t>אנכיים</a:t>
            </a:r>
            <a:r>
              <a:rPr lang="he-IL" sz="2200" dirty="0"/>
              <a:t> </a:t>
            </a:r>
            <a:r>
              <a:rPr lang="he-IL" sz="2200" dirty="0">
                <a:sym typeface="Wingdings" pitchFamily="2" charset="2"/>
              </a:rPr>
              <a:t></a:t>
            </a:r>
            <a:r>
              <a:rPr sz="2200" dirty="0"/>
              <a:t> </a:t>
            </a:r>
            <a:r>
              <a:rPr lang="he-IL" sz="2200" dirty="0"/>
              <a:t> </a:t>
            </a:r>
            <a:r>
              <a:rPr sz="2200" dirty="0" err="1"/>
              <a:t>אורך</a:t>
            </a:r>
            <a:r>
              <a:rPr lang="he-IL" sz="2200" dirty="0"/>
              <a:t>; </a:t>
            </a:r>
            <a:r>
              <a:rPr sz="2200" dirty="0" err="1"/>
              <a:t>אופקיים</a:t>
            </a:r>
            <a:r>
              <a:rPr lang="he-IL" sz="2200" dirty="0">
                <a:sym typeface="Wingdings" pitchFamily="2" charset="2"/>
              </a:rPr>
              <a:t></a:t>
            </a:r>
            <a:r>
              <a:rPr sz="2200" dirty="0"/>
              <a:t> </a:t>
            </a:r>
            <a:r>
              <a:rPr lang="he-IL" sz="2200" dirty="0"/>
              <a:t> </a:t>
            </a:r>
            <a:r>
              <a:rPr sz="2200" dirty="0" err="1"/>
              <a:t>רוחב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נקודה</a:t>
            </a:r>
            <a:r>
              <a:rPr sz="2200" dirty="0"/>
              <a:t> </a:t>
            </a:r>
            <a:r>
              <a:rPr sz="2200" dirty="0" err="1"/>
              <a:t>מתוארת</a:t>
            </a:r>
            <a:r>
              <a:rPr sz="2200" dirty="0"/>
              <a:t> </a:t>
            </a:r>
            <a:r>
              <a:rPr sz="2200" dirty="0" err="1"/>
              <a:t>לפי</a:t>
            </a:r>
            <a:r>
              <a:rPr sz="2200" dirty="0"/>
              <a:t> </a:t>
            </a:r>
            <a:r>
              <a:rPr sz="2200" dirty="0" err="1"/>
              <a:t>המשבצת</a:t>
            </a:r>
            <a:r>
              <a:rPr sz="2200" dirty="0"/>
              <a:t> </a:t>
            </a:r>
            <a:r>
              <a:rPr sz="2200" dirty="0" err="1"/>
              <a:t>שבה</a:t>
            </a:r>
            <a:r>
              <a:rPr sz="2200" dirty="0"/>
              <a:t> </a:t>
            </a:r>
            <a:r>
              <a:rPr sz="2200" dirty="0" err="1"/>
              <a:t>היא</a:t>
            </a:r>
            <a:r>
              <a:rPr sz="2200" dirty="0"/>
              <a:t> </a:t>
            </a:r>
            <a:r>
              <a:rPr sz="2200" dirty="0" err="1"/>
              <a:t>יושבת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קנה</a:t>
            </a:r>
            <a:r>
              <a:rPr sz="2200" dirty="0"/>
              <a:t> </a:t>
            </a:r>
            <a:r>
              <a:rPr sz="2200" dirty="0" err="1"/>
              <a:t>מידה</a:t>
            </a:r>
            <a:r>
              <a:rPr lang="he-IL" sz="2200" dirty="0"/>
              <a:t> הוא </a:t>
            </a:r>
            <a:r>
              <a:rPr sz="2200" dirty="0"/>
              <a:t> 1:50,000</a:t>
            </a:r>
          </a:p>
          <a:p>
            <a:pPr lvl="1" algn="r" rtl="1">
              <a:spcBef>
                <a:spcPts val="600"/>
              </a:spcBef>
            </a:pPr>
            <a:r>
              <a:rPr lang="he-IL" sz="2200" dirty="0"/>
              <a:t>ס״מ בודד ברשת = 500 מטר במציאות</a:t>
            </a:r>
          </a:p>
          <a:p>
            <a:pPr lvl="1" algn="r" rtl="1">
              <a:spcBef>
                <a:spcPts val="600"/>
              </a:spcBef>
            </a:pPr>
            <a:r>
              <a:rPr lang="he-IL" sz="2200" dirty="0"/>
              <a:t>משבצת אחת = 2 ס״מ = ק״מ במציאות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50162F35-3FEA-5866-B25A-9E0C9E4618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lang="he-IL" dirty="0"/>
              <a:t>דוגמה מהשטח -</a:t>
            </a:r>
            <a:r>
              <a:rPr dirty="0"/>
              <a:t> </a:t>
            </a:r>
            <a:r>
              <a:rPr dirty="0" err="1"/>
              <a:t>כפר</a:t>
            </a:r>
            <a:r>
              <a:rPr dirty="0"/>
              <a:t> </a:t>
            </a:r>
            <a:r>
              <a:rPr dirty="0" err="1"/>
              <a:t>עציון</a:t>
            </a:r>
            <a:r>
              <a:rPr dirty="0"/>
              <a:t> </a:t>
            </a:r>
            <a:r>
              <a:rPr dirty="0" err="1"/>
              <a:t>וגבעת</a:t>
            </a:r>
            <a:r>
              <a:rPr dirty="0"/>
              <a:t> </a:t>
            </a:r>
            <a:r>
              <a:rPr dirty="0" err="1"/>
              <a:t>הסלעים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קטע אמיתי ממפת גוש עציון 1:50,000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לאתר את המשבצת שבה אנחנו יושבים ולקרוא את שמה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לוודא</a:t>
            </a:r>
            <a:r>
              <a:rPr sz="2200" dirty="0"/>
              <a:t> </a:t>
            </a:r>
            <a:r>
              <a:rPr sz="2200" dirty="0" err="1"/>
              <a:t>מול</a:t>
            </a:r>
            <a:r>
              <a:rPr sz="2200" dirty="0"/>
              <a:t> </a:t>
            </a:r>
            <a:r>
              <a:rPr sz="2200" dirty="0" err="1"/>
              <a:t>קנה</a:t>
            </a:r>
            <a:r>
              <a:rPr sz="2200" dirty="0"/>
              <a:t> </a:t>
            </a:r>
            <a:r>
              <a:rPr sz="2200" dirty="0" err="1"/>
              <a:t>המידה</a:t>
            </a:r>
            <a:r>
              <a:rPr lang="he-IL" sz="2200" dirty="0"/>
              <a:t>:</a:t>
            </a:r>
            <a:r>
              <a:rPr sz="2200" dirty="0"/>
              <a:t>2 </a:t>
            </a:r>
            <a:r>
              <a:rPr lang="he-IL" sz="2200" dirty="0"/>
              <a:t> </a:t>
            </a:r>
            <a:r>
              <a:rPr sz="2200" dirty="0"/>
              <a:t>ס</a:t>
            </a:r>
            <a:r>
              <a:rPr lang="he-IL" sz="2200" dirty="0"/>
              <a:t>"</a:t>
            </a:r>
            <a:r>
              <a:rPr sz="2200" dirty="0"/>
              <a:t>מ = </a:t>
            </a:r>
            <a:r>
              <a:rPr lang="he-IL" sz="2200" dirty="0"/>
              <a:t> </a:t>
            </a:r>
            <a:r>
              <a:rPr sz="2200" dirty="0"/>
              <a:t>ק</a:t>
            </a:r>
            <a:r>
              <a:rPr lang="he-IL" sz="2200" dirty="0"/>
              <a:t>"</a:t>
            </a:r>
            <a:r>
              <a:rPr sz="2200" dirty="0"/>
              <a:t>מ </a:t>
            </a:r>
            <a:r>
              <a:rPr sz="2200" dirty="0" err="1"/>
              <a:t>אחד</a:t>
            </a:r>
            <a:r>
              <a:rPr sz="2200" dirty="0"/>
              <a:t> </a:t>
            </a:r>
            <a:r>
              <a:rPr sz="2200" dirty="0" err="1"/>
              <a:t>בשטח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גבעת</a:t>
            </a:r>
            <a:r>
              <a:rPr sz="2200" b="1" dirty="0"/>
              <a:t> </a:t>
            </a:r>
            <a:r>
              <a:rPr sz="2200" b="1" dirty="0" err="1"/>
              <a:t>הסלעים</a:t>
            </a:r>
            <a:r>
              <a:rPr sz="2200" b="1" dirty="0"/>
              <a:t> </a:t>
            </a:r>
            <a:r>
              <a:rPr sz="2200" dirty="0"/>
              <a:t>(949)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;</a:t>
            </a:r>
            <a:r>
              <a:rPr lang="he-IL" sz="2200" dirty="0"/>
              <a:t> </a:t>
            </a:r>
            <a:r>
              <a:rPr sz="2200" dirty="0" err="1"/>
              <a:t>סביבה</a:t>
            </a:r>
            <a:r>
              <a:rPr sz="2200" dirty="0"/>
              <a:t> </a:t>
            </a:r>
            <a:r>
              <a:rPr sz="2200" dirty="0" err="1"/>
              <a:t>שלוחות</a:t>
            </a:r>
            <a:r>
              <a:rPr sz="2200" dirty="0"/>
              <a:t> </a:t>
            </a:r>
            <a:r>
              <a:rPr sz="2200" dirty="0" err="1"/>
              <a:t>וגאיות</a:t>
            </a:r>
            <a:r>
              <a:rPr sz="2200" dirty="0"/>
              <a:t> </a:t>
            </a:r>
            <a:r>
              <a:rPr sz="2200" dirty="0" err="1"/>
              <a:t>שנלמד</a:t>
            </a:r>
            <a:endParaRPr sz="2200" dirty="0"/>
          </a:p>
        </p:txBody>
      </p:sp>
      <p:pic>
        <p:nvPicPr>
          <p:cNvPr id="4" name="Picture 3" descr="map_grid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112565"/>
            <a:ext cx="3794760" cy="3684428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CF53433E-0035-279C-3E4D-E3843C36E60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78CB8E57-94ED-5677-681F-C7A25736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>
            <a:extLst>
              <a:ext uri="{FF2B5EF4-FFF2-40B4-BE49-F238E27FC236}">
                <a16:creationId xmlns:a16="http://schemas.microsoft.com/office/drawing/2014/main" id="{F1A8EF5C-47B9-E0C9-D163-DAD25D2E825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he-IL" sz="7200" dirty="0">
                <a:latin typeface="Assistant" pitchFamily="2" charset="-79"/>
                <a:cs typeface="Assistant" pitchFamily="2" charset="-79"/>
              </a:rPr>
              <a:t>גבהים</a:t>
            </a:r>
            <a:endParaRPr lang="iw-IL" sz="8800" b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870D7634-6557-4727-38DA-F42BD647F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4563175-AB86-9B29-89BF-4C793D51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5038725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42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1FCEC8C3-0423-4BB7-BC93-5555BDFE99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5176BD9E-E004-19EA-F90D-B9D9AC6882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20200" y="503872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גובה מוחלט וגובה יחסי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25" y="1816720"/>
            <a:ext cx="7572375" cy="4351606"/>
          </a:xfrm>
        </p:spPr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מוחלט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נמדד</a:t>
            </a:r>
            <a:r>
              <a:rPr sz="2200" dirty="0"/>
              <a:t> </a:t>
            </a:r>
            <a:r>
              <a:rPr sz="2200" dirty="0" err="1"/>
              <a:t>ביחס</a:t>
            </a:r>
            <a:r>
              <a:rPr sz="2200" dirty="0"/>
              <a:t> </a:t>
            </a:r>
            <a:r>
              <a:rPr sz="2200" dirty="0" err="1"/>
              <a:t>לפני</a:t>
            </a:r>
            <a:r>
              <a:rPr sz="2200" dirty="0"/>
              <a:t> </a:t>
            </a:r>
            <a:r>
              <a:rPr sz="2200" dirty="0" err="1"/>
              <a:t>הים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גובה</a:t>
            </a:r>
            <a:r>
              <a:rPr sz="2200" dirty="0"/>
              <a:t> 0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יחסי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הפרש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בשטח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אותה</a:t>
            </a:r>
            <a:r>
              <a:rPr sz="2200" dirty="0"/>
              <a:t> </a:t>
            </a:r>
            <a:r>
              <a:rPr sz="2200" dirty="0" err="1"/>
              <a:t>פסגה</a:t>
            </a:r>
            <a:r>
              <a:rPr sz="2200" dirty="0"/>
              <a:t> </a:t>
            </a:r>
            <a:r>
              <a:rPr sz="2200" dirty="0" err="1"/>
              <a:t>יכולה</a:t>
            </a:r>
            <a:r>
              <a:rPr sz="2200" dirty="0"/>
              <a:t> </a:t>
            </a:r>
            <a:r>
              <a:rPr sz="2200" dirty="0" err="1"/>
              <a:t>להיות</a:t>
            </a:r>
            <a:r>
              <a:rPr sz="2200" dirty="0"/>
              <a:t> ״</a:t>
            </a:r>
            <a:r>
              <a:rPr sz="2200" dirty="0" err="1"/>
              <a:t>גבוהה</a:t>
            </a:r>
            <a:r>
              <a:rPr sz="2200" dirty="0"/>
              <a:t>״ </a:t>
            </a:r>
            <a:r>
              <a:rPr sz="2200" dirty="0" err="1"/>
              <a:t>או</a:t>
            </a:r>
            <a:r>
              <a:rPr sz="2200" dirty="0"/>
              <a:t> ״</a:t>
            </a:r>
            <a:r>
              <a:rPr sz="2200" dirty="0" err="1"/>
              <a:t>נמוכה</a:t>
            </a:r>
            <a:r>
              <a:rPr sz="2200" dirty="0"/>
              <a:t>״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תלוי</a:t>
            </a:r>
            <a:r>
              <a:rPr sz="2200" dirty="0"/>
              <a:t> </a:t>
            </a:r>
            <a:r>
              <a:rPr sz="2200" dirty="0" err="1"/>
              <a:t>ממה</a:t>
            </a:r>
            <a:r>
              <a:rPr sz="2200" dirty="0"/>
              <a:t> </a:t>
            </a:r>
            <a:r>
              <a:rPr sz="2200" dirty="0" err="1"/>
              <a:t>מודדים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בניווט</a:t>
            </a:r>
            <a:r>
              <a:rPr lang="he-IL" sz="2200" dirty="0"/>
              <a:t>: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sz="2200" dirty="0" err="1"/>
              <a:t>היחסי</a:t>
            </a:r>
            <a:r>
              <a:rPr sz="2200" dirty="0"/>
              <a:t> </a:t>
            </a:r>
            <a:r>
              <a:rPr sz="2200" dirty="0" err="1"/>
              <a:t>הוא</a:t>
            </a:r>
            <a:r>
              <a:rPr sz="2200" dirty="0"/>
              <a:t> </a:t>
            </a:r>
            <a:r>
              <a:rPr sz="2200" dirty="0" err="1"/>
              <a:t>זה</a:t>
            </a:r>
            <a:r>
              <a:rPr sz="2200" dirty="0"/>
              <a:t> </a:t>
            </a:r>
            <a:r>
              <a:rPr sz="2200" dirty="0" err="1"/>
              <a:t>שהרגליים</a:t>
            </a:r>
            <a:r>
              <a:rPr sz="2200" dirty="0"/>
              <a:t> </a:t>
            </a:r>
            <a:r>
              <a:rPr sz="2200" dirty="0" err="1"/>
              <a:t>מרגישות</a:t>
            </a:r>
            <a:endParaRPr sz="2200" dirty="0"/>
          </a:p>
        </p:txBody>
      </p:sp>
      <p:pic>
        <p:nvPicPr>
          <p:cNvPr id="4" name="Picture 3" descr="he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882000"/>
            <a:ext cx="3794760" cy="2145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0FEB168C-116A-24A4-AF54-254DFF0C0E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0AADDE55-5095-E1B6-9E2A-23A44930AF2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20200" y="503872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תבליט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מהמילה</a:t>
            </a:r>
            <a:r>
              <a:rPr sz="2200" dirty="0"/>
              <a:t> ״</a:t>
            </a:r>
            <a:r>
              <a:rPr sz="2200" b="1" dirty="0" err="1"/>
              <a:t>בליטה</a:t>
            </a:r>
            <a:r>
              <a:rPr sz="2200" dirty="0"/>
              <a:t>״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lang="he-IL" sz="2200" dirty="0"/>
              <a:t> </a:t>
            </a: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שבולט</a:t>
            </a:r>
            <a:r>
              <a:rPr sz="2200" dirty="0"/>
              <a:t> </a:t>
            </a:r>
            <a:r>
              <a:rPr sz="2200" dirty="0" err="1"/>
              <a:t>מפני</a:t>
            </a:r>
            <a:r>
              <a:rPr sz="2200" dirty="0"/>
              <a:t> </a:t>
            </a:r>
            <a:r>
              <a:rPr sz="2200" dirty="0" err="1"/>
              <a:t>השטח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צורת</a:t>
            </a:r>
            <a:r>
              <a:rPr sz="2200" dirty="0"/>
              <a:t> </a:t>
            </a:r>
            <a:r>
              <a:rPr sz="2200" dirty="0" err="1"/>
              <a:t>השטח</a:t>
            </a:r>
            <a:r>
              <a:rPr sz="2200" dirty="0"/>
              <a:t> </a:t>
            </a:r>
            <a:r>
              <a:rPr sz="2200" dirty="0" err="1"/>
              <a:t>כפי</a:t>
            </a:r>
            <a:r>
              <a:rPr sz="2200" dirty="0"/>
              <a:t> </a:t>
            </a:r>
            <a:r>
              <a:rPr sz="2200" dirty="0" err="1"/>
              <a:t>שהיא</a:t>
            </a:r>
            <a:r>
              <a:rPr sz="2200" dirty="0"/>
              <a:t> </a:t>
            </a:r>
            <a:r>
              <a:rPr sz="2200" dirty="0" err="1"/>
              <a:t>נראית</a:t>
            </a:r>
            <a:r>
              <a:rPr sz="2200" dirty="0"/>
              <a:t> </a:t>
            </a:r>
            <a:r>
              <a:rPr sz="2200" dirty="0" err="1"/>
              <a:t>ממבט</a:t>
            </a:r>
            <a:r>
              <a:rPr sz="2200" dirty="0"/>
              <a:t> </a:t>
            </a:r>
            <a:r>
              <a:rPr sz="2200" dirty="0" err="1"/>
              <a:t>על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מתאר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השטח</a:t>
            </a:r>
            <a:r>
              <a:rPr sz="2200" dirty="0"/>
              <a:t> </a:t>
            </a:r>
            <a:r>
              <a:rPr sz="2200" dirty="0" err="1"/>
              <a:t>בתלת</a:t>
            </a:r>
            <a:r>
              <a:rPr lang="he-IL" sz="2200" dirty="0"/>
              <a:t>-</a:t>
            </a:r>
            <a:r>
              <a:rPr sz="2200" dirty="0" err="1"/>
              <a:t>ממד</a:t>
            </a:r>
            <a:r>
              <a:rPr sz="2200" dirty="0"/>
              <a:t>, </a:t>
            </a:r>
            <a:r>
              <a:rPr sz="2200" dirty="0" err="1"/>
              <a:t>בעזרת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הפרש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קו</a:t>
            </a:r>
            <a:r>
              <a:rPr sz="2200" dirty="0"/>
              <a:t> </a:t>
            </a:r>
            <a:r>
              <a:rPr sz="2200" dirty="0" err="1"/>
              <a:t>לקו</a:t>
            </a:r>
            <a:r>
              <a:rPr lang="he-IL" sz="2200" dirty="0"/>
              <a:t> הוא </a:t>
            </a:r>
            <a:r>
              <a:rPr sz="2200" dirty="0"/>
              <a:t>10</a:t>
            </a:r>
            <a:r>
              <a:rPr lang="he-IL" sz="2200" dirty="0"/>
              <a:t> </a:t>
            </a:r>
            <a:r>
              <a:rPr sz="2200" dirty="0" err="1"/>
              <a:t>מטר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/>
              <a:t>כל100 </a:t>
            </a:r>
            <a:r>
              <a:rPr lang="he-IL" sz="2200" dirty="0"/>
              <a:t> </a:t>
            </a:r>
            <a:r>
              <a:rPr sz="2200" dirty="0" err="1"/>
              <a:t>מטר</a:t>
            </a:r>
            <a:r>
              <a:rPr sz="2200" dirty="0"/>
              <a:t> </a:t>
            </a:r>
            <a:r>
              <a:rPr sz="2200" dirty="0" err="1"/>
              <a:t>מסומן</a:t>
            </a:r>
            <a:r>
              <a:rPr sz="2200" dirty="0"/>
              <a:t> </a:t>
            </a:r>
            <a:r>
              <a:rPr sz="2200" dirty="0" err="1"/>
              <a:t>בקו</a:t>
            </a:r>
            <a:r>
              <a:rPr sz="2200" dirty="0"/>
              <a:t> </a:t>
            </a:r>
            <a:r>
              <a:rPr sz="2200" dirty="0" err="1"/>
              <a:t>עבה</a:t>
            </a:r>
            <a:r>
              <a:rPr sz="2200" dirty="0"/>
              <a:t> </a:t>
            </a:r>
            <a:r>
              <a:rPr lang="he-IL" sz="2200" dirty="0"/>
              <a:t>שנקרא </a:t>
            </a:r>
            <a:r>
              <a:rPr sz="2200" b="1" dirty="0" err="1"/>
              <a:t>קו</a:t>
            </a:r>
            <a:r>
              <a:rPr sz="2200" b="1" dirty="0"/>
              <a:t> </a:t>
            </a:r>
            <a:r>
              <a:rPr sz="2200" b="1" dirty="0" err="1"/>
              <a:t>אינדקס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ספרות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sz="2200" dirty="0" err="1"/>
              <a:t>פונות</a:t>
            </a:r>
            <a:r>
              <a:rPr sz="2200" dirty="0"/>
              <a:t> </a:t>
            </a: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לכיוון</a:t>
            </a:r>
            <a:r>
              <a:rPr sz="2200" dirty="0"/>
              <a:t> </a:t>
            </a:r>
            <a:r>
              <a:rPr sz="2200" dirty="0" err="1"/>
              <a:t>העלייה</a:t>
            </a:r>
            <a:endParaRPr sz="2200" dirty="0"/>
          </a:p>
        </p:txBody>
      </p:sp>
      <p:pic>
        <p:nvPicPr>
          <p:cNvPr id="4" name="Picture 3" descr="cont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57400"/>
            <a:ext cx="3794759" cy="3794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26F61A32-468A-17F8-99F3-555CF1120C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6B7D562-D954-CA2F-07A0-E1F94E7F23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20200" y="503872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נקודות גובה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מציינות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מוחלט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בלט</a:t>
            </a:r>
            <a:r>
              <a:rPr sz="2200" dirty="0"/>
              <a:t> </a:t>
            </a:r>
            <a:r>
              <a:rPr sz="2200" dirty="0" err="1"/>
              <a:t>מקומי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הנקודה</a:t>
            </a:r>
            <a:r>
              <a:rPr sz="2200" dirty="0"/>
              <a:t> </a:t>
            </a:r>
            <a:r>
              <a:rPr sz="2200" dirty="0" err="1"/>
              <a:t>הגבוהה</a:t>
            </a:r>
            <a:r>
              <a:rPr sz="2200" dirty="0"/>
              <a:t> </a:t>
            </a:r>
            <a:r>
              <a:rPr sz="2200" dirty="0" err="1"/>
              <a:t>ביותר</a:t>
            </a:r>
            <a:r>
              <a:rPr sz="2200" dirty="0"/>
              <a:t> </a:t>
            </a:r>
            <a:r>
              <a:rPr sz="2200" dirty="0" err="1"/>
              <a:t>בסביבתה</a:t>
            </a:r>
            <a:r>
              <a:rPr sz="2200" dirty="0"/>
              <a:t> </a:t>
            </a:r>
            <a:r>
              <a:rPr sz="2200" dirty="0" err="1"/>
              <a:t>הקרובה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לרוב</a:t>
            </a:r>
            <a:r>
              <a:rPr sz="2200" dirty="0"/>
              <a:t> </a:t>
            </a:r>
            <a:r>
              <a:rPr sz="2200" dirty="0" err="1"/>
              <a:t>יופיעו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כיפות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lang="he-IL" sz="2200" dirty="0"/>
              <a:t> </a:t>
            </a:r>
            <a:r>
              <a:rPr sz="2200" dirty="0" err="1"/>
              <a:t>פסגת</a:t>
            </a:r>
            <a:r>
              <a:rPr sz="2200" dirty="0"/>
              <a:t> </a:t>
            </a:r>
            <a:r>
              <a:rPr sz="2200" dirty="0" err="1"/>
              <a:t>הר</a:t>
            </a:r>
            <a:r>
              <a:rPr sz="2200" dirty="0"/>
              <a:t>, </a:t>
            </a:r>
            <a:r>
              <a:rPr sz="2200" dirty="0" err="1"/>
              <a:t>למשל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הנקודה</a:t>
            </a:r>
            <a:r>
              <a:rPr sz="2200" dirty="0"/>
              <a:t> </a:t>
            </a:r>
            <a:r>
              <a:rPr sz="2200" dirty="0" err="1"/>
              <a:t>עצמה</a:t>
            </a:r>
            <a:r>
              <a:rPr sz="2200" dirty="0"/>
              <a:t> </a:t>
            </a:r>
            <a:r>
              <a:rPr lang="he-IL" sz="2200" dirty="0"/>
              <a:t>לא</a:t>
            </a:r>
            <a:r>
              <a:rPr sz="2200" dirty="0"/>
              <a:t> </a:t>
            </a:r>
            <a:r>
              <a:rPr sz="2200" dirty="0" err="1"/>
              <a:t>קיימת</a:t>
            </a:r>
            <a:r>
              <a:rPr sz="2200" dirty="0"/>
              <a:t> </a:t>
            </a:r>
            <a:r>
              <a:rPr sz="2200" dirty="0" err="1"/>
              <a:t>בשטח</a:t>
            </a:r>
            <a:r>
              <a:rPr lang="he-IL" sz="2200" dirty="0"/>
              <a:t> אלא רק </a:t>
            </a:r>
            <a:r>
              <a:rPr sz="2200" dirty="0" err="1"/>
              <a:t>סימון</a:t>
            </a:r>
            <a:r>
              <a:rPr sz="2200" dirty="0"/>
              <a:t> </a:t>
            </a:r>
            <a:r>
              <a:rPr sz="2200" dirty="0" err="1"/>
              <a:t>במפה</a:t>
            </a:r>
            <a:r>
              <a:rPr lang="he-IL" sz="2200" dirty="0"/>
              <a:t>: </a:t>
            </a:r>
            <a:r>
              <a:rPr sz="2200" dirty="0" err="1"/>
              <a:t>נקודה</a:t>
            </a:r>
            <a:r>
              <a:rPr sz="2200" dirty="0"/>
              <a:t> </a:t>
            </a:r>
            <a:r>
              <a:rPr sz="2200" dirty="0" err="1"/>
              <a:t>שחורה</a:t>
            </a:r>
            <a:r>
              <a:rPr sz="2200" dirty="0"/>
              <a:t> </a:t>
            </a:r>
            <a:r>
              <a:rPr sz="2200" dirty="0" err="1"/>
              <a:t>ומספר</a:t>
            </a:r>
            <a:r>
              <a:rPr sz="2200" dirty="0"/>
              <a:t> </a:t>
            </a:r>
            <a:r>
              <a:rPr sz="2200" dirty="0" err="1"/>
              <a:t>לצידה</a:t>
            </a:r>
            <a:endParaRPr sz="2200" dirty="0"/>
          </a:p>
        </p:txBody>
      </p:sp>
      <p:pic>
        <p:nvPicPr>
          <p:cNvPr id="4" name="Picture 3" descr="nekudot_go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57400"/>
            <a:ext cx="3794759" cy="3794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78510D7D-EBF3-044D-0FDC-ADB14C6C11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תכסית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קבוצת</a:t>
            </a:r>
            <a:r>
              <a:rPr sz="2200" dirty="0"/>
              <a:t> </a:t>
            </a:r>
            <a:r>
              <a:rPr sz="2200" dirty="0" err="1"/>
              <a:t>הסימנים</a:t>
            </a:r>
            <a:r>
              <a:rPr sz="2200" dirty="0"/>
              <a:t> </a:t>
            </a:r>
            <a:r>
              <a:rPr sz="2200" dirty="0" err="1"/>
              <a:t>שמתארת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שמכסה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יישובים</a:t>
            </a:r>
            <a:r>
              <a:rPr sz="2200" dirty="0"/>
              <a:t>, </a:t>
            </a:r>
            <a:r>
              <a:rPr sz="2200" dirty="0" err="1"/>
              <a:t>צמחייה</a:t>
            </a:r>
            <a:r>
              <a:rPr sz="2200" dirty="0"/>
              <a:t>, </a:t>
            </a:r>
            <a:r>
              <a:rPr sz="2200" dirty="0" err="1"/>
              <a:t>כבישים</a:t>
            </a:r>
            <a:r>
              <a:rPr sz="2200" dirty="0"/>
              <a:t>, </a:t>
            </a:r>
            <a:r>
              <a:rPr sz="2200" dirty="0" err="1"/>
              <a:t>מבנים</a:t>
            </a:r>
            <a:r>
              <a:rPr sz="2200" dirty="0"/>
              <a:t>, </a:t>
            </a:r>
            <a:r>
              <a:rPr sz="2200" dirty="0" err="1"/>
              <a:t>גדרות</a:t>
            </a:r>
            <a:r>
              <a:rPr sz="2200" dirty="0"/>
              <a:t>...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בתחתית</a:t>
            </a:r>
            <a:r>
              <a:rPr sz="2200" dirty="0"/>
              <a:t> </a:t>
            </a:r>
            <a:r>
              <a:rPr sz="2200" dirty="0" err="1"/>
              <a:t>המפה</a:t>
            </a:r>
            <a:r>
              <a:rPr sz="2200" dirty="0"/>
              <a:t> </a:t>
            </a:r>
            <a:r>
              <a:rPr sz="2200" dirty="0" err="1"/>
              <a:t>יש</a:t>
            </a:r>
            <a:r>
              <a:rPr sz="2200" dirty="0"/>
              <a:t> </a:t>
            </a:r>
            <a:r>
              <a:rPr sz="2200" dirty="0" err="1"/>
              <a:t>מקרא</a:t>
            </a:r>
            <a:r>
              <a:rPr lang="he-IL" sz="2200" dirty="0"/>
              <a:t> -</a:t>
            </a:r>
            <a:r>
              <a:rPr sz="2200" dirty="0"/>
              <a:t> </a:t>
            </a:r>
            <a:r>
              <a:rPr sz="2200" dirty="0" err="1"/>
              <a:t>שם</a:t>
            </a:r>
            <a:r>
              <a:rPr sz="2200" dirty="0"/>
              <a:t> </a:t>
            </a:r>
            <a:r>
              <a:rPr sz="2200" dirty="0" err="1"/>
              <a:t>מפוענח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סימן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התבליט</a:t>
            </a:r>
            <a:r>
              <a:rPr sz="2200" dirty="0"/>
              <a:t> </a:t>
            </a:r>
            <a:r>
              <a:rPr sz="2200" dirty="0" err="1"/>
              <a:t>אומר</a:t>
            </a:r>
            <a:r>
              <a:rPr sz="2200" dirty="0"/>
              <a:t> </a:t>
            </a:r>
            <a:r>
              <a:rPr sz="2200" dirty="0" err="1"/>
              <a:t>לנו</a:t>
            </a:r>
            <a:r>
              <a:rPr sz="2200" dirty="0"/>
              <a:t> </a:t>
            </a: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השטח</a:t>
            </a:r>
            <a:r>
              <a:rPr sz="2200" dirty="0"/>
              <a:t> </a:t>
            </a:r>
            <a:r>
              <a:rPr sz="2200" dirty="0" err="1"/>
              <a:t>נראה</a:t>
            </a:r>
            <a:r>
              <a:rPr lang="he-IL" sz="2200" dirty="0"/>
              <a:t>. </a:t>
            </a:r>
            <a:r>
              <a:rPr sz="2200" dirty="0" err="1"/>
              <a:t>התכסית</a:t>
            </a:r>
            <a:r>
              <a:rPr sz="2200" dirty="0"/>
              <a:t> </a:t>
            </a:r>
            <a:r>
              <a:rPr sz="2200" dirty="0" err="1"/>
              <a:t>אומרת</a:t>
            </a:r>
            <a:r>
              <a:rPr sz="2200" dirty="0"/>
              <a:t> </a:t>
            </a: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יש</a:t>
            </a:r>
            <a:r>
              <a:rPr sz="2200" dirty="0"/>
              <a:t> </a:t>
            </a:r>
            <a:r>
              <a:rPr sz="2200" dirty="0" err="1"/>
              <a:t>עליו</a:t>
            </a:r>
            <a:endParaRPr sz="2200" dirty="0"/>
          </a:p>
        </p:txBody>
      </p:sp>
      <p:pic>
        <p:nvPicPr>
          <p:cNvPr id="4" name="Picture 3" descr="tichs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57400"/>
            <a:ext cx="3794759" cy="379475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8928F03-0BFF-FFC0-4DC3-1907A032783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286750" y="42100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9A6800F8-8028-AEEE-CD25-57FB188A7C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תכסית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צבעים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rgbClr val="663300"/>
                </a:solidFill>
              </a:rPr>
              <a:t>חום</a:t>
            </a:r>
            <a:r>
              <a:rPr lang="he-IL" sz="2200" dirty="0"/>
              <a:t> - </a:t>
            </a:r>
            <a:r>
              <a:rPr sz="2200" dirty="0"/>
              <a:t> </a:t>
            </a:r>
            <a:r>
              <a:rPr sz="2200" dirty="0" err="1"/>
              <a:t>קרקע</a:t>
            </a:r>
            <a:r>
              <a:rPr sz="2200" dirty="0"/>
              <a:t>, </a:t>
            </a:r>
            <a:r>
              <a:rPr sz="2200" dirty="0" err="1"/>
              <a:t>תבליט</a:t>
            </a:r>
            <a:r>
              <a:rPr sz="2200" dirty="0"/>
              <a:t>,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chemeClr val="accent4">
                    <a:lumMod val="50000"/>
                  </a:schemeClr>
                </a:solidFill>
              </a:rPr>
              <a:t>כחול</a:t>
            </a:r>
            <a:r>
              <a:rPr lang="he-IL" sz="2200" dirty="0"/>
              <a:t> - </a:t>
            </a:r>
            <a:r>
              <a:rPr sz="2200" dirty="0"/>
              <a:t> </a:t>
            </a:r>
            <a:r>
              <a:rPr sz="2200" dirty="0" err="1"/>
              <a:t>מים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נחלים</a:t>
            </a:r>
            <a:r>
              <a:rPr sz="2200" dirty="0"/>
              <a:t>, </a:t>
            </a:r>
            <a:r>
              <a:rPr sz="2200" dirty="0" err="1"/>
              <a:t>ים</a:t>
            </a:r>
            <a:r>
              <a:rPr lang="he-IL" sz="2200" dirty="0"/>
              <a:t>)</a:t>
            </a:r>
            <a:r>
              <a:rPr sz="2200" dirty="0"/>
              <a:t> </a:t>
            </a:r>
            <a:r>
              <a:rPr sz="2200" dirty="0" err="1"/>
              <a:t>ורשת</a:t>
            </a:r>
            <a:r>
              <a:rPr sz="2200" dirty="0"/>
              <a:t> </a:t>
            </a:r>
            <a:r>
              <a:rPr sz="2200" dirty="0" err="1"/>
              <a:t>ישראל</a:t>
            </a:r>
            <a:r>
              <a:rPr sz="2200" dirty="0"/>
              <a:t> </a:t>
            </a:r>
            <a:r>
              <a:rPr sz="2200" dirty="0" err="1"/>
              <a:t>החדשה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שחור</a:t>
            </a:r>
            <a:r>
              <a:rPr lang="he-IL" sz="2200" dirty="0"/>
              <a:t> - </a:t>
            </a:r>
            <a:r>
              <a:rPr sz="2200" dirty="0"/>
              <a:t> </a:t>
            </a:r>
            <a:r>
              <a:rPr sz="2200" dirty="0" err="1"/>
              <a:t>מבנים</a:t>
            </a:r>
            <a:r>
              <a:rPr sz="2200" dirty="0"/>
              <a:t>, </a:t>
            </a:r>
            <a:r>
              <a:rPr sz="2200" dirty="0" err="1"/>
              <a:t>שמות</a:t>
            </a:r>
            <a:r>
              <a:rPr sz="2200" dirty="0"/>
              <a:t>,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, </a:t>
            </a:r>
            <a:r>
              <a:rPr sz="2200" dirty="0" err="1"/>
              <a:t>ורשת</a:t>
            </a:r>
            <a:r>
              <a:rPr sz="2200" dirty="0"/>
              <a:t> </a:t>
            </a:r>
            <a:r>
              <a:rPr sz="2200" dirty="0" err="1"/>
              <a:t>ישראל</a:t>
            </a:r>
            <a:r>
              <a:rPr sz="2200" dirty="0"/>
              <a:t> </a:t>
            </a:r>
            <a:r>
              <a:rPr sz="2200" dirty="0" err="1"/>
              <a:t>הישנה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lang="he-IL" sz="2200" b="1" dirty="0">
                <a:solidFill>
                  <a:srgbClr val="C00000"/>
                </a:solidFill>
              </a:rPr>
              <a:t>אדום</a:t>
            </a:r>
            <a:r>
              <a:rPr lang="he-IL" sz="2200" b="1" dirty="0">
                <a:solidFill>
                  <a:srgbClr val="FF0000"/>
                </a:solidFill>
              </a:rPr>
              <a:t> </a:t>
            </a:r>
            <a:r>
              <a:rPr lang="he-IL" sz="2200" dirty="0"/>
              <a:t>- </a:t>
            </a:r>
            <a:r>
              <a:rPr sz="2200" dirty="0" err="1"/>
              <a:t>כבישים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ראשי</a:t>
            </a:r>
            <a:r>
              <a:rPr sz="2200" dirty="0"/>
              <a:t>: </a:t>
            </a:r>
            <a:r>
              <a:rPr sz="2200" dirty="0" err="1"/>
              <a:t>מסגרת</a:t>
            </a:r>
            <a:r>
              <a:rPr sz="2200" dirty="0"/>
              <a:t> </a:t>
            </a:r>
            <a:r>
              <a:rPr sz="2200" dirty="0" err="1"/>
              <a:t>שחורה</a:t>
            </a:r>
            <a:r>
              <a:rPr sz="2200" dirty="0"/>
              <a:t> </a:t>
            </a:r>
            <a:r>
              <a:rPr sz="2200" dirty="0" err="1"/>
              <a:t>במילוי</a:t>
            </a:r>
            <a:r>
              <a:rPr sz="2200" dirty="0"/>
              <a:t> </a:t>
            </a:r>
            <a:r>
              <a:rPr sz="2200" dirty="0" err="1"/>
              <a:t>אדום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chemeClr val="accent6">
                    <a:lumMod val="75000"/>
                  </a:schemeClr>
                </a:solidFill>
              </a:rPr>
              <a:t>ירוק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צמחייה</a:t>
            </a:r>
            <a:endParaRPr sz="2200" dirty="0"/>
          </a:p>
        </p:txBody>
      </p:sp>
      <p:pic>
        <p:nvPicPr>
          <p:cNvPr id="4" name="Picture 3" descr="tichsit_tzv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57400"/>
            <a:ext cx="3794760" cy="3794760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2096EF06-BADF-9391-883F-5FE7CCAC723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286750" y="42100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B789-2A5E-A7D8-E480-FF9F13F1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4FA44A58-08E8-0D3C-60F9-A6F218AE7C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CF9F48-6F9A-6A0E-E181-059ADEC4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תכסית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צבעים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BCB1A-AE43-4351-A17F-8950383E9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rgbClr val="663300"/>
                </a:solidFill>
              </a:rPr>
              <a:t>חום</a:t>
            </a:r>
            <a:r>
              <a:rPr lang="he-IL" sz="2200" dirty="0"/>
              <a:t> - </a:t>
            </a:r>
            <a:r>
              <a:rPr sz="2200" dirty="0"/>
              <a:t> </a:t>
            </a:r>
            <a:r>
              <a:rPr sz="2200" dirty="0" err="1"/>
              <a:t>קרקע</a:t>
            </a:r>
            <a:r>
              <a:rPr sz="2200" dirty="0"/>
              <a:t>, </a:t>
            </a:r>
            <a:r>
              <a:rPr sz="2200" dirty="0" err="1"/>
              <a:t>תבליט</a:t>
            </a:r>
            <a:r>
              <a:rPr sz="2200" dirty="0"/>
              <a:t>,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chemeClr val="accent4">
                    <a:lumMod val="50000"/>
                  </a:schemeClr>
                </a:solidFill>
              </a:rPr>
              <a:t>כחול</a:t>
            </a:r>
            <a:r>
              <a:rPr lang="he-IL" sz="2200" dirty="0"/>
              <a:t> - </a:t>
            </a:r>
            <a:r>
              <a:rPr sz="2200" dirty="0"/>
              <a:t> </a:t>
            </a:r>
            <a:r>
              <a:rPr sz="2200" dirty="0" err="1"/>
              <a:t>מים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נחלים</a:t>
            </a:r>
            <a:r>
              <a:rPr sz="2200" dirty="0"/>
              <a:t>, </a:t>
            </a:r>
            <a:r>
              <a:rPr sz="2200" dirty="0" err="1"/>
              <a:t>ים</a:t>
            </a:r>
            <a:r>
              <a:rPr lang="he-IL" sz="2200" dirty="0"/>
              <a:t>)</a:t>
            </a:r>
            <a:r>
              <a:rPr sz="2200" dirty="0"/>
              <a:t> </a:t>
            </a:r>
            <a:r>
              <a:rPr sz="2200" dirty="0" err="1"/>
              <a:t>ורשת</a:t>
            </a:r>
            <a:r>
              <a:rPr sz="2200" dirty="0"/>
              <a:t> </a:t>
            </a:r>
            <a:r>
              <a:rPr sz="2200" dirty="0" err="1"/>
              <a:t>ישראל</a:t>
            </a:r>
            <a:r>
              <a:rPr sz="2200" dirty="0"/>
              <a:t> </a:t>
            </a:r>
            <a:r>
              <a:rPr sz="2200" dirty="0" err="1"/>
              <a:t>החדשה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שחור</a:t>
            </a:r>
            <a:r>
              <a:rPr lang="he-IL" sz="2200" dirty="0"/>
              <a:t> - </a:t>
            </a:r>
            <a:r>
              <a:rPr sz="2200" dirty="0"/>
              <a:t> </a:t>
            </a:r>
            <a:r>
              <a:rPr sz="2200" dirty="0" err="1"/>
              <a:t>מבנים</a:t>
            </a:r>
            <a:r>
              <a:rPr sz="2200" dirty="0"/>
              <a:t>, </a:t>
            </a:r>
            <a:r>
              <a:rPr sz="2200" dirty="0" err="1"/>
              <a:t>שמות</a:t>
            </a:r>
            <a:r>
              <a:rPr sz="2200" dirty="0"/>
              <a:t>,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, </a:t>
            </a:r>
            <a:r>
              <a:rPr sz="2200" dirty="0" err="1"/>
              <a:t>ורשת</a:t>
            </a:r>
            <a:r>
              <a:rPr sz="2200" dirty="0"/>
              <a:t> </a:t>
            </a:r>
            <a:r>
              <a:rPr sz="2200" dirty="0" err="1"/>
              <a:t>ישראל</a:t>
            </a:r>
            <a:r>
              <a:rPr sz="2200" dirty="0"/>
              <a:t> </a:t>
            </a:r>
            <a:r>
              <a:rPr sz="2200" dirty="0" err="1"/>
              <a:t>הישנה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lang="he-IL" sz="2200" b="1" dirty="0">
                <a:solidFill>
                  <a:srgbClr val="C00000"/>
                </a:solidFill>
              </a:rPr>
              <a:t>אדום</a:t>
            </a:r>
            <a:r>
              <a:rPr lang="he-IL" sz="2200" b="1" dirty="0">
                <a:solidFill>
                  <a:srgbClr val="FF0000"/>
                </a:solidFill>
              </a:rPr>
              <a:t> </a:t>
            </a:r>
            <a:r>
              <a:rPr lang="he-IL" sz="2200" dirty="0"/>
              <a:t>- </a:t>
            </a:r>
            <a:r>
              <a:rPr sz="2200" dirty="0" err="1"/>
              <a:t>כבישים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ראשי</a:t>
            </a:r>
            <a:r>
              <a:rPr sz="2200" dirty="0"/>
              <a:t>: </a:t>
            </a:r>
            <a:r>
              <a:rPr sz="2200" dirty="0" err="1"/>
              <a:t>מסגרת</a:t>
            </a:r>
            <a:r>
              <a:rPr sz="2200" dirty="0"/>
              <a:t> </a:t>
            </a:r>
            <a:r>
              <a:rPr sz="2200" dirty="0" err="1"/>
              <a:t>שחורה</a:t>
            </a:r>
            <a:r>
              <a:rPr sz="2200" dirty="0"/>
              <a:t> </a:t>
            </a:r>
            <a:r>
              <a:rPr sz="2200" dirty="0" err="1"/>
              <a:t>במילוי</a:t>
            </a:r>
            <a:r>
              <a:rPr sz="2200" dirty="0"/>
              <a:t> </a:t>
            </a:r>
            <a:r>
              <a:rPr sz="2200" dirty="0" err="1"/>
              <a:t>אדום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chemeClr val="accent6">
                    <a:lumMod val="75000"/>
                  </a:schemeClr>
                </a:solidFill>
              </a:rPr>
              <a:t>ירוק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צמחייה</a:t>
            </a:r>
            <a:endParaRPr sz="2200" dirty="0"/>
          </a:p>
        </p:txBody>
      </p:sp>
      <p:pic>
        <p:nvPicPr>
          <p:cNvPr id="4" name="Picture 3" descr="tichsit_tzvaim.png">
            <a:extLst>
              <a:ext uri="{FF2B5EF4-FFF2-40B4-BE49-F238E27FC236}">
                <a16:creationId xmlns:a16="http://schemas.microsoft.com/office/drawing/2014/main" id="{5C11864E-BA91-476B-F09D-28C21E635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57400"/>
            <a:ext cx="3794760" cy="3794760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7A5A8B33-B79F-A572-1A21-DD94ACE2424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286750" y="4210050"/>
            <a:ext cx="1447800" cy="144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786D25-BD6B-D0C4-68F9-6B7D3A5412AD}"/>
              </a:ext>
            </a:extLst>
          </p:cNvPr>
          <p:cNvSpPr/>
          <p:nvPr/>
        </p:nvSpPr>
        <p:spPr>
          <a:xfrm>
            <a:off x="0" y="-65315"/>
            <a:ext cx="12192000" cy="6988629"/>
          </a:xfrm>
          <a:prstGeom prst="rect">
            <a:avLst/>
          </a:prstGeom>
          <a:solidFill>
            <a:schemeClr val="bg1">
              <a:lumMod val="95000"/>
              <a:alpha val="92717"/>
            </a:schemeClr>
          </a:solidFill>
          <a:ln>
            <a:solidFill>
              <a:schemeClr val="bg1">
                <a:lumMod val="9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ED88B7F-FDBF-3595-EDD5-AD717F7A6902}"/>
              </a:ext>
            </a:extLst>
          </p:cNvPr>
          <p:cNvSpPr/>
          <p:nvPr/>
        </p:nvSpPr>
        <p:spPr>
          <a:xfrm>
            <a:off x="-609600" y="2710543"/>
            <a:ext cx="13411200" cy="1681843"/>
          </a:xfrm>
          <a:prstGeom prst="roundRect">
            <a:avLst/>
          </a:prstGeom>
          <a:solidFill>
            <a:srgbClr val="8DAE7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Bef>
                <a:spcPts val="600"/>
              </a:spcBef>
            </a:pPr>
            <a:r>
              <a:rPr lang="he-IL" sz="4400" b="1" dirty="0">
                <a:latin typeface="Assistant" pitchFamily="2" charset="-79"/>
                <a:cs typeface="Assistant" pitchFamily="2" charset="-79"/>
              </a:rPr>
              <a:t>תזכרו תמיד לוודא מול המקרא!!</a:t>
            </a:r>
          </a:p>
        </p:txBody>
      </p:sp>
    </p:spTree>
    <p:extLst>
      <p:ext uri="{BB962C8B-B14F-4D97-AF65-F5344CB8AC3E}">
        <p14:creationId xmlns:p14="http://schemas.microsoft.com/office/powerpoint/2010/main" val="19127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96144AE-1767-BFD5-7946-F76C4310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מפה לבנה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כוללת</a:t>
            </a:r>
            <a:r>
              <a:rPr sz="2200" dirty="0"/>
              <a:t> </a:t>
            </a:r>
            <a:r>
              <a:rPr sz="2200" dirty="0" err="1"/>
              <a:t>תבליט</a:t>
            </a:r>
            <a:r>
              <a:rPr sz="2200" dirty="0"/>
              <a:t>, </a:t>
            </a:r>
            <a:r>
              <a:rPr sz="2200" dirty="0" err="1"/>
              <a:t>תכסית</a:t>
            </a:r>
            <a:r>
              <a:rPr sz="2200" dirty="0"/>
              <a:t> </a:t>
            </a:r>
            <a:r>
              <a:rPr sz="2200" dirty="0" err="1"/>
              <a:t>ורשת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מיועדת</a:t>
            </a:r>
            <a:r>
              <a:rPr sz="2200" dirty="0"/>
              <a:t> </a:t>
            </a:r>
            <a:r>
              <a:rPr sz="2200" dirty="0" err="1"/>
              <a:t>לניווט</a:t>
            </a:r>
            <a:r>
              <a:rPr sz="2200" dirty="0"/>
              <a:t> </a:t>
            </a:r>
            <a:r>
              <a:rPr sz="2200" dirty="0" err="1"/>
              <a:t>בשטח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הרקע</a:t>
            </a:r>
            <a:r>
              <a:rPr sz="2200" dirty="0"/>
              <a:t> </a:t>
            </a:r>
            <a:r>
              <a:rPr sz="2200" dirty="0" err="1"/>
              <a:t>הלבן</a:t>
            </a:r>
            <a:r>
              <a:rPr sz="2200" dirty="0"/>
              <a:t> </a:t>
            </a:r>
            <a:r>
              <a:rPr sz="2200" dirty="0" err="1"/>
              <a:t>מבליט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התבליט</a:t>
            </a:r>
            <a:r>
              <a:rPr sz="2200" dirty="0"/>
              <a:t> </a:t>
            </a:r>
            <a:r>
              <a:rPr sz="2200" dirty="0" err="1"/>
              <a:t>נקרא</a:t>
            </a:r>
            <a:r>
              <a:rPr sz="2200" dirty="0"/>
              <a:t> </a:t>
            </a:r>
            <a:r>
              <a:rPr sz="2200" dirty="0" err="1"/>
              <a:t>בצורה</a:t>
            </a:r>
            <a:r>
              <a:rPr sz="2200" dirty="0"/>
              <a:t> </a:t>
            </a:r>
            <a:r>
              <a:rPr sz="2200" dirty="0" err="1"/>
              <a:t>הטובה</a:t>
            </a:r>
            <a:r>
              <a:rPr sz="2200" dirty="0"/>
              <a:t> </a:t>
            </a:r>
            <a:r>
              <a:rPr sz="2200" dirty="0" err="1"/>
              <a:t>ביותר</a:t>
            </a:r>
            <a:endParaRPr lang="en-IL" sz="2200" dirty="0"/>
          </a:p>
        </p:txBody>
      </p:sp>
      <p:pic>
        <p:nvPicPr>
          <p:cNvPr id="4" name="Picture 3" descr="mapa_leva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57400"/>
            <a:ext cx="3794759" cy="379475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8B31846-5ED7-45BD-0864-B175C26D4E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286750" y="42100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299A1983-AE63-C13C-F856-40C25BC36B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B243A784-49EB-E3AB-1750-4E9AA3D77D0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86750" y="42100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מה למדנו עד עכשיו?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מהי</a:t>
            </a:r>
            <a:r>
              <a:rPr sz="2200" dirty="0"/>
              <a:t> </a:t>
            </a:r>
            <a:r>
              <a:rPr sz="2200" dirty="0" err="1"/>
              <a:t>מפה</a:t>
            </a:r>
            <a:r>
              <a:rPr sz="2200" dirty="0"/>
              <a:t> </a:t>
            </a:r>
            <a:r>
              <a:rPr sz="2200" dirty="0" err="1"/>
              <a:t>ומהי</a:t>
            </a:r>
            <a:r>
              <a:rPr sz="2200" dirty="0"/>
              <a:t> </a:t>
            </a:r>
            <a:r>
              <a:rPr sz="2200" dirty="0" err="1"/>
              <a:t>מפה</a:t>
            </a:r>
            <a:r>
              <a:rPr sz="2200" dirty="0"/>
              <a:t> </a:t>
            </a:r>
            <a:r>
              <a:rPr sz="2200" dirty="0" err="1"/>
              <a:t>לבנה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רשת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endParaRPr lang="he-IL" sz="2200" dirty="0"/>
          </a:p>
          <a:p>
            <a:pPr lvl="1">
              <a:spcBef>
                <a:spcPts val="600"/>
              </a:spcBef>
            </a:pPr>
            <a:r>
              <a:rPr sz="1800" dirty="0" err="1"/>
              <a:t>קווי</a:t>
            </a:r>
            <a:r>
              <a:rPr sz="1800" dirty="0"/>
              <a:t> </a:t>
            </a:r>
            <a:r>
              <a:rPr sz="1800" dirty="0" err="1"/>
              <a:t>אורך</a:t>
            </a:r>
            <a:r>
              <a:rPr sz="1800" dirty="0"/>
              <a:t> </a:t>
            </a:r>
            <a:r>
              <a:rPr sz="1800" dirty="0" err="1"/>
              <a:t>ורוחב</a:t>
            </a:r>
            <a:r>
              <a:rPr lang="he-IL" sz="1800" dirty="0"/>
              <a:t>,</a:t>
            </a:r>
            <a:r>
              <a:rPr sz="1800" dirty="0"/>
              <a:t> </a:t>
            </a:r>
            <a:r>
              <a:rPr sz="1800" dirty="0" err="1"/>
              <a:t>משבצות</a:t>
            </a:r>
            <a:r>
              <a:rPr lang="he-IL" sz="1800" dirty="0"/>
              <a:t>, </a:t>
            </a:r>
            <a:r>
              <a:rPr sz="1800" dirty="0" err="1"/>
              <a:t>קנה</a:t>
            </a:r>
            <a:r>
              <a:rPr sz="1800" dirty="0"/>
              <a:t> </a:t>
            </a:r>
            <a:r>
              <a:rPr sz="1800" dirty="0" err="1"/>
              <a:t>מידה</a:t>
            </a:r>
            <a:endParaRPr sz="18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גבהים</a:t>
            </a:r>
            <a:endParaRPr lang="he-IL" sz="2200" dirty="0"/>
          </a:p>
          <a:p>
            <a:pPr lvl="1">
              <a:spcBef>
                <a:spcPts val="600"/>
              </a:spcBef>
            </a:pPr>
            <a:r>
              <a:rPr sz="1800" dirty="0" err="1"/>
              <a:t>גובה</a:t>
            </a:r>
            <a:r>
              <a:rPr sz="1800" dirty="0"/>
              <a:t> </a:t>
            </a:r>
            <a:r>
              <a:rPr sz="1800" dirty="0" err="1"/>
              <a:t>מוחלט</a:t>
            </a:r>
            <a:r>
              <a:rPr sz="1800" dirty="0"/>
              <a:t>  </a:t>
            </a:r>
            <a:r>
              <a:rPr lang="he-IL" sz="1800" dirty="0"/>
              <a:t>ו</a:t>
            </a:r>
            <a:r>
              <a:rPr sz="1800" dirty="0" err="1"/>
              <a:t>גובה</a:t>
            </a:r>
            <a:r>
              <a:rPr sz="1800" dirty="0"/>
              <a:t> </a:t>
            </a:r>
            <a:r>
              <a:rPr sz="1800" dirty="0" err="1"/>
              <a:t>יחסי</a:t>
            </a:r>
            <a:endParaRPr sz="1800" dirty="0"/>
          </a:p>
        </p:txBody>
      </p:sp>
      <p:pic>
        <p:nvPicPr>
          <p:cNvPr id="4" name="Picture 3" descr="כיצד להדפיס מפה טופוגרפית בקנ&quot;מ מדויק">
            <a:extLst>
              <a:ext uri="{FF2B5EF4-FFF2-40B4-BE49-F238E27FC236}">
                <a16:creationId xmlns:a16="http://schemas.microsoft.com/office/drawing/2014/main" id="{716E81E1-85FE-6EB5-3FBF-4872984B6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43" y="1346130"/>
            <a:ext cx="3246730" cy="458483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FE5189F-9C2F-99D5-8304-A02C8E1896EE}"/>
              </a:ext>
            </a:extLst>
          </p:cNvPr>
          <p:cNvSpPr txBox="1">
            <a:spLocks/>
          </p:cNvSpPr>
          <p:nvPr/>
        </p:nvSpPr>
        <p:spPr>
          <a:xfrm>
            <a:off x="-2937867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1800"/>
              <a:buFont typeface="Helvetica Neue"/>
              <a:buChar char="◊"/>
              <a:defRPr sz="2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he-IL" sz="2200" dirty="0"/>
              <a:t>תבליט</a:t>
            </a:r>
          </a:p>
          <a:p>
            <a:pPr lvl="1">
              <a:spcBef>
                <a:spcPts val="600"/>
              </a:spcBef>
            </a:pPr>
            <a:r>
              <a:rPr lang="he-IL" sz="1800" dirty="0"/>
              <a:t>קווי גובה, קו אינדקס, נקודות גובה</a:t>
            </a:r>
          </a:p>
          <a:p>
            <a:pPr>
              <a:spcBef>
                <a:spcPts val="600"/>
              </a:spcBef>
            </a:pPr>
            <a:r>
              <a:rPr lang="he-IL" sz="2200" dirty="0" err="1"/>
              <a:t>תכסית</a:t>
            </a:r>
            <a:r>
              <a:rPr lang="he-IL" sz="2200" dirty="0"/>
              <a:t> </a:t>
            </a:r>
          </a:p>
          <a:p>
            <a:pPr lvl="1">
              <a:spcBef>
                <a:spcPts val="600"/>
              </a:spcBef>
            </a:pPr>
            <a:r>
              <a:rPr lang="he-IL" sz="1800" dirty="0"/>
              <a:t>סימנים, מקרא וצבעים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build="p"/>
      <p:bldP spid="9" grpId="1" uiExpand="1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556662F9-9085-9FDA-8D67-98F494C2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>
            <a:extLst>
              <a:ext uri="{FF2B5EF4-FFF2-40B4-BE49-F238E27FC236}">
                <a16:creationId xmlns:a16="http://schemas.microsoft.com/office/drawing/2014/main" id="{8F14DD9D-344D-4D4A-E06D-7BDB936D404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he-IL" sz="7200" dirty="0">
                <a:latin typeface="Assistant" pitchFamily="2" charset="-79"/>
                <a:cs typeface="Assistant" pitchFamily="2" charset="-79"/>
              </a:rPr>
              <a:t>צורות שטח</a:t>
            </a:r>
            <a:endParaRPr lang="iw-IL" sz="8800" b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CBFDA4B-E491-2E12-C438-E35630ABCE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4ADF1560-203A-A9D1-69EE-AAC7636F51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43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lang="he-IL" dirty="0"/>
              <a:t>דוגמה חיה – שוב כפר עציון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קו</a:t>
            </a:r>
            <a:r>
              <a:rPr sz="2200" dirty="0"/>
              <a:t> </a:t>
            </a:r>
            <a:r>
              <a:rPr sz="2200" dirty="0" err="1"/>
              <a:t>הרקי</a:t>
            </a:r>
            <a:r>
              <a:rPr lang="he-IL" sz="2200" dirty="0"/>
              <a:t>ע: </a:t>
            </a:r>
            <a:r>
              <a:rPr sz="2200" dirty="0" err="1"/>
              <a:t>כמה</a:t>
            </a:r>
            <a:r>
              <a:rPr sz="2200" dirty="0"/>
              <a:t> </a:t>
            </a:r>
            <a:r>
              <a:rPr sz="2200" dirty="0" err="1"/>
              <a:t>כיפות</a:t>
            </a:r>
            <a:r>
              <a:rPr lang="he-IL" sz="2200" dirty="0"/>
              <a:t>, </a:t>
            </a:r>
            <a:r>
              <a:rPr sz="2200" dirty="0" err="1"/>
              <a:t>וביניהן</a:t>
            </a:r>
            <a:r>
              <a:rPr sz="2200" dirty="0"/>
              <a:t> </a:t>
            </a:r>
            <a:r>
              <a:rPr sz="2200" dirty="0" err="1"/>
              <a:t>שקעים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אלה</a:t>
            </a:r>
            <a:r>
              <a:rPr sz="2200" dirty="0"/>
              <a:t> </a:t>
            </a:r>
            <a:r>
              <a:rPr sz="2200" dirty="0" err="1"/>
              <a:t>האוכפים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מהכיפות</a:t>
            </a:r>
            <a:r>
              <a:rPr sz="2200" dirty="0"/>
              <a:t> </a:t>
            </a:r>
            <a:r>
              <a:rPr sz="2200" dirty="0" err="1"/>
              <a:t>יורדות</a:t>
            </a:r>
            <a:r>
              <a:rPr sz="2200" dirty="0"/>
              <a:t> </a:t>
            </a:r>
            <a:r>
              <a:rPr sz="2200" dirty="0" err="1"/>
              <a:t>שלוחות</a:t>
            </a:r>
            <a:r>
              <a:rPr sz="2200" dirty="0"/>
              <a:t>,</a:t>
            </a:r>
            <a:r>
              <a:rPr lang="he-IL" sz="2200" dirty="0"/>
              <a:t> </a:t>
            </a:r>
            <a:r>
              <a:rPr sz="2200" dirty="0" err="1"/>
              <a:t>וביניהן</a:t>
            </a:r>
            <a:r>
              <a:rPr sz="2200" dirty="0"/>
              <a:t> </a:t>
            </a:r>
            <a:r>
              <a:rPr sz="2200" dirty="0" err="1"/>
              <a:t>גאיות</a:t>
            </a:r>
            <a:r>
              <a:rPr sz="2200" dirty="0"/>
              <a:t> </a:t>
            </a:r>
            <a:r>
              <a:rPr sz="2200" dirty="0" err="1"/>
              <a:t>שמתנקזים</a:t>
            </a:r>
            <a:r>
              <a:rPr sz="2200" dirty="0"/>
              <a:t> </a:t>
            </a:r>
            <a:r>
              <a:rPr sz="2200" dirty="0" err="1"/>
              <a:t>למטה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שנלמד</a:t>
            </a:r>
            <a:r>
              <a:rPr sz="2200" dirty="0"/>
              <a:t> </a:t>
            </a:r>
            <a:r>
              <a:rPr sz="2200" dirty="0" err="1"/>
              <a:t>עכשיו</a:t>
            </a:r>
            <a:r>
              <a:rPr sz="2200" dirty="0"/>
              <a:t> </a:t>
            </a:r>
            <a:r>
              <a:rPr sz="2200" dirty="0" err="1"/>
              <a:t>במפה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קיים</a:t>
            </a:r>
            <a:r>
              <a:rPr sz="2200" dirty="0"/>
              <a:t> </a:t>
            </a:r>
            <a:r>
              <a:rPr sz="2200" dirty="0" err="1"/>
              <a:t>בשטח</a:t>
            </a:r>
            <a:r>
              <a:rPr sz="2200" dirty="0"/>
              <a:t> </a:t>
            </a:r>
            <a:r>
              <a:rPr sz="2200" dirty="0" err="1"/>
              <a:t>הזה</a:t>
            </a:r>
            <a:endParaRPr sz="2200" dirty="0"/>
          </a:p>
        </p:txBody>
      </p:sp>
      <p:pic>
        <p:nvPicPr>
          <p:cNvPr id="4" name="Picture 3" descr="gush_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39369"/>
            <a:ext cx="3794759" cy="263082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2141809D-49A2-5342-44F2-B8F88560EF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EC5D454-0AA0-7288-C2A0-F88887481A7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3B361366-6F44-C96D-012A-CDF465E25F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8D35E0F-CEC9-F459-C7A1-FAF9BDB948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כיפה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מערכת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סגורים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חייבת</a:t>
            </a:r>
            <a:r>
              <a:rPr sz="2200" dirty="0"/>
              <a:t> </a:t>
            </a:r>
            <a:r>
              <a:rPr sz="2200" dirty="0" err="1"/>
              <a:t>להיות</a:t>
            </a:r>
            <a:r>
              <a:rPr sz="2200" dirty="0"/>
              <a:t> </a:t>
            </a:r>
            <a:r>
              <a:rPr sz="2200" dirty="0" err="1"/>
              <a:t>עגולה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נקודת</a:t>
            </a:r>
            <a:r>
              <a:rPr sz="2200" dirty="0"/>
              <a:t> </a:t>
            </a:r>
            <a:r>
              <a:rPr sz="2200" dirty="0" err="1"/>
              <a:t>שיא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מקומית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lang="he-IL" sz="2200" dirty="0"/>
              <a:t>אנחנו נרד </a:t>
            </a:r>
            <a:r>
              <a:rPr sz="2200" dirty="0" err="1"/>
              <a:t>מכל</a:t>
            </a:r>
            <a:r>
              <a:rPr sz="2200" dirty="0"/>
              <a:t>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שנצא</a:t>
            </a:r>
            <a:r>
              <a:rPr sz="2200" dirty="0"/>
              <a:t> </a:t>
            </a:r>
            <a:r>
              <a:rPr sz="2200" dirty="0" err="1"/>
              <a:t>ממנה</a:t>
            </a:r>
            <a:endParaRPr sz="2200" dirty="0"/>
          </a:p>
        </p:txBody>
      </p:sp>
      <p:pic>
        <p:nvPicPr>
          <p:cNvPr id="4" name="Picture 3" descr="ki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12971"/>
            <a:ext cx="3794759" cy="3883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1070B8D8-E630-319B-30A4-7DE1072905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1135DBFF-A700-5B52-46F7-658E129B5A2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כיפה</a:t>
            </a:r>
            <a:r>
              <a:rPr lang="he-IL" dirty="0"/>
              <a:t> - במפה אמיתית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כיפה</a:t>
            </a:r>
            <a:r>
              <a:rPr sz="2200" b="1" dirty="0"/>
              <a:t> 967</a:t>
            </a:r>
            <a:r>
              <a:rPr lang="he-IL" sz="2200" b="1" dirty="0"/>
              <a:t> </a:t>
            </a:r>
            <a:r>
              <a:rPr sz="2200" b="1" dirty="0"/>
              <a:t> </a:t>
            </a:r>
            <a:r>
              <a:rPr sz="2200" b="1" dirty="0" err="1"/>
              <a:t>בגוש</a:t>
            </a:r>
            <a:r>
              <a:rPr sz="2200" b="1" dirty="0"/>
              <a:t> </a:t>
            </a:r>
            <a:r>
              <a:rPr sz="2200" b="1" dirty="0" err="1"/>
              <a:t>עציון</a:t>
            </a:r>
            <a:r>
              <a:rPr sz="2200" b="1" dirty="0"/>
              <a:t> </a:t>
            </a:r>
            <a:r>
              <a:rPr lang="he-IL" sz="2200" b="1" dirty="0"/>
              <a:t>- </a:t>
            </a:r>
            <a:r>
              <a:rPr sz="2200" b="1" dirty="0" err="1"/>
              <a:t>ליד</a:t>
            </a:r>
            <a:r>
              <a:rPr sz="2200" b="1" dirty="0"/>
              <a:t> </a:t>
            </a:r>
            <a:r>
              <a:rPr sz="2200" b="1" dirty="0" err="1"/>
              <a:t>גבעת</a:t>
            </a:r>
            <a:r>
              <a:rPr sz="2200" b="1" dirty="0"/>
              <a:t> </a:t>
            </a:r>
            <a:r>
              <a:rPr sz="2200" b="1" dirty="0" err="1"/>
              <a:t>הסלעים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sz="2200" dirty="0" err="1"/>
              <a:t>נסגרים</a:t>
            </a:r>
            <a:r>
              <a:rPr sz="2200" dirty="0"/>
              <a:t> </a:t>
            </a:r>
            <a:r>
              <a:rPr sz="2200" dirty="0" err="1"/>
              <a:t>בטבעות</a:t>
            </a:r>
            <a:r>
              <a:rPr sz="2200" dirty="0"/>
              <a:t> </a:t>
            </a:r>
            <a:r>
              <a:rPr sz="2200" dirty="0" err="1"/>
              <a:t>סביב</a:t>
            </a:r>
            <a:r>
              <a:rPr sz="2200" dirty="0"/>
              <a:t> </a:t>
            </a:r>
            <a:r>
              <a:rPr sz="2200" dirty="0" err="1"/>
              <a:t>נקודת</a:t>
            </a:r>
            <a:r>
              <a:rPr sz="2200" dirty="0"/>
              <a:t> </a:t>
            </a:r>
            <a:r>
              <a:rPr sz="2200" dirty="0" err="1"/>
              <a:t>הגובה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מכל</a:t>
            </a:r>
            <a:r>
              <a:rPr sz="2200" dirty="0"/>
              <a:t>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שיוצאים</a:t>
            </a:r>
            <a:r>
              <a:rPr sz="2200" dirty="0"/>
              <a:t> </a:t>
            </a:r>
            <a:r>
              <a:rPr sz="2200" dirty="0" err="1"/>
              <a:t>ממנה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יורדים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אותה</a:t>
            </a:r>
            <a:r>
              <a:rPr sz="2200" dirty="0"/>
              <a:t> </a:t>
            </a:r>
            <a:r>
              <a:rPr sz="2200" dirty="0" err="1"/>
              <a:t>צורה</a:t>
            </a:r>
            <a:r>
              <a:rPr sz="2200" dirty="0"/>
              <a:t> </a:t>
            </a:r>
            <a:r>
              <a:rPr sz="2200" dirty="0" err="1"/>
              <a:t>בדיוק</a:t>
            </a:r>
            <a:r>
              <a:rPr sz="2200" dirty="0"/>
              <a:t> </a:t>
            </a:r>
            <a:r>
              <a:rPr sz="2200" dirty="0" err="1"/>
              <a:t>כמו</a:t>
            </a:r>
            <a:r>
              <a:rPr sz="2200" dirty="0"/>
              <a:t> </a:t>
            </a:r>
            <a:r>
              <a:rPr sz="2200" dirty="0" err="1"/>
              <a:t>בסכמה</a:t>
            </a:r>
            <a:r>
              <a:rPr sz="2200" dirty="0"/>
              <a:t> </a:t>
            </a:r>
            <a:r>
              <a:rPr lang="he-IL" sz="2200" dirty="0"/>
              <a:t>- ר</a:t>
            </a:r>
            <a:r>
              <a:rPr sz="2200" dirty="0"/>
              <a:t>ק </a:t>
            </a:r>
            <a:r>
              <a:rPr sz="2200" dirty="0" err="1"/>
              <a:t>בשטח</a:t>
            </a:r>
            <a:r>
              <a:rPr sz="2200" dirty="0"/>
              <a:t> </a:t>
            </a:r>
            <a:r>
              <a:rPr sz="2200" dirty="0" err="1"/>
              <a:t>אמיתי</a:t>
            </a:r>
            <a:endParaRPr sz="2200" dirty="0"/>
          </a:p>
        </p:txBody>
      </p:sp>
      <p:pic>
        <p:nvPicPr>
          <p:cNvPr id="4" name="Picture 3" descr="map_kipa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511121"/>
            <a:ext cx="3794759" cy="28873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C9E1A73-0E5E-F20F-6962-BFB4246993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445A9ED6-7AD0-A1CD-716A-DD136F3F99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שלוחה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נשלחת</a:t>
            </a:r>
            <a:r>
              <a:rPr sz="2200" dirty="0"/>
              <a:t> </a:t>
            </a:r>
            <a:r>
              <a:rPr sz="2200" dirty="0" err="1"/>
              <a:t>מהכיפה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בלט</a:t>
            </a:r>
            <a:r>
              <a:rPr sz="2200" dirty="0"/>
              <a:t> </a:t>
            </a:r>
            <a:r>
              <a:rPr sz="2200" dirty="0" err="1"/>
              <a:t>מוארך</a:t>
            </a:r>
            <a:r>
              <a:rPr sz="2200" dirty="0"/>
              <a:t> </a:t>
            </a:r>
            <a:r>
              <a:rPr sz="2200" dirty="0" err="1"/>
              <a:t>היוצא</a:t>
            </a:r>
            <a:r>
              <a:rPr sz="2200" dirty="0"/>
              <a:t> </a:t>
            </a:r>
            <a:r>
              <a:rPr sz="2200" dirty="0" err="1"/>
              <a:t>ממנה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בראש</a:t>
            </a:r>
            <a:r>
              <a:rPr sz="2200" dirty="0"/>
              <a:t> </a:t>
            </a:r>
            <a:r>
              <a:rPr sz="2200" dirty="0" err="1"/>
              <a:t>שלוחה</a:t>
            </a:r>
            <a:r>
              <a:rPr lang="he-IL" sz="2200" dirty="0"/>
              <a:t>: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עלייה</a:t>
            </a:r>
            <a:r>
              <a:rPr sz="2200" dirty="0"/>
              <a:t> </a:t>
            </a:r>
            <a:r>
              <a:rPr sz="2200" dirty="0" err="1"/>
              <a:t>אחד</a:t>
            </a:r>
            <a:r>
              <a:rPr sz="2200" dirty="0"/>
              <a:t>,</a:t>
            </a:r>
            <a:r>
              <a:rPr lang="he-IL" sz="2200" dirty="0"/>
              <a:t> </a:t>
            </a:r>
            <a:r>
              <a:rPr sz="2200" dirty="0" err="1"/>
              <a:t>שלושה</a:t>
            </a:r>
            <a:r>
              <a:rPr sz="2200" dirty="0"/>
              <a:t> </a:t>
            </a:r>
            <a:r>
              <a:rPr sz="2200" dirty="0" err="1"/>
              <a:t>כיווני</a:t>
            </a:r>
            <a:r>
              <a:rPr sz="2200" dirty="0"/>
              <a:t> </a:t>
            </a:r>
            <a:r>
              <a:rPr sz="2200" dirty="0" err="1"/>
              <a:t>ירידה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לעלות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שלוחה</a:t>
            </a:r>
            <a:r>
              <a:rPr sz="2200" dirty="0"/>
              <a:t> </a:t>
            </a:r>
            <a:r>
              <a:rPr lang="he-IL" sz="2200" dirty="0"/>
              <a:t>זוהי </a:t>
            </a:r>
            <a:r>
              <a:rPr sz="2200" dirty="0" err="1"/>
              <a:t>הדרך</a:t>
            </a:r>
            <a:r>
              <a:rPr sz="2200" dirty="0"/>
              <a:t> </a:t>
            </a:r>
            <a:r>
              <a:rPr sz="2200" dirty="0" err="1"/>
              <a:t>הבטוחה</a:t>
            </a:r>
            <a:r>
              <a:rPr sz="2200" dirty="0"/>
              <a:t> </a:t>
            </a:r>
            <a:r>
              <a:rPr sz="2200" dirty="0" err="1"/>
              <a:t>לטפס</a:t>
            </a:r>
            <a:r>
              <a:rPr sz="2200" dirty="0"/>
              <a:t> </a:t>
            </a:r>
            <a:r>
              <a:rPr sz="2200" dirty="0" err="1"/>
              <a:t>לכיפה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שלוחה</a:t>
            </a:r>
            <a:r>
              <a:rPr sz="2200" dirty="0"/>
              <a:t> </a:t>
            </a:r>
            <a:r>
              <a:rPr sz="2200" dirty="0" err="1"/>
              <a:t>יורדת</a:t>
            </a:r>
            <a:r>
              <a:rPr sz="2200" dirty="0"/>
              <a:t>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פיצול</a:t>
            </a:r>
            <a:r>
              <a:rPr sz="2200" dirty="0"/>
              <a:t> </a:t>
            </a:r>
            <a:r>
              <a:rPr sz="2200" dirty="0" err="1"/>
              <a:t>נחלים</a:t>
            </a:r>
            <a:endParaRPr sz="2200" dirty="0"/>
          </a:p>
        </p:txBody>
      </p:sp>
      <p:pic>
        <p:nvPicPr>
          <p:cNvPr id="4" name="Picture 3" descr="shlu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931953"/>
            <a:ext cx="3794760" cy="40456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59FDCA73-FFCA-AD38-3FA9-4FC91BD73F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456E7D5-5559-FC03-B0E6-584465D6DC8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גיא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ההפך</a:t>
            </a:r>
            <a:r>
              <a:rPr sz="2200" dirty="0"/>
              <a:t> </a:t>
            </a:r>
            <a:r>
              <a:rPr sz="2200" dirty="0" err="1"/>
              <a:t>משלוחה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יימצא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שלוחות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בתחתיתו</a:t>
            </a:r>
            <a:r>
              <a:rPr lang="he-IL" sz="2200" dirty="0"/>
              <a:t>: </a:t>
            </a:r>
            <a:r>
              <a:rPr sz="2200" dirty="0" err="1"/>
              <a:t>שלושה</a:t>
            </a:r>
            <a:r>
              <a:rPr sz="2200" dirty="0"/>
              <a:t> </a:t>
            </a:r>
            <a:r>
              <a:rPr sz="2200" dirty="0" err="1"/>
              <a:t>כיווני</a:t>
            </a:r>
            <a:r>
              <a:rPr sz="2200" dirty="0"/>
              <a:t> </a:t>
            </a:r>
            <a:r>
              <a:rPr sz="2200" dirty="0" err="1"/>
              <a:t>עלייה</a:t>
            </a:r>
            <a:r>
              <a:rPr lang="he-IL" sz="2200" dirty="0"/>
              <a:t>,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ירידה</a:t>
            </a:r>
            <a:r>
              <a:rPr sz="2200" dirty="0"/>
              <a:t> </a:t>
            </a:r>
            <a:r>
              <a:rPr sz="2200" dirty="0" err="1"/>
              <a:t>אחד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יוביל</a:t>
            </a:r>
            <a:r>
              <a:rPr sz="2200" dirty="0"/>
              <a:t> </a:t>
            </a:r>
            <a:r>
              <a:rPr sz="2200" dirty="0" err="1"/>
              <a:t>בקצה</a:t>
            </a:r>
            <a:r>
              <a:rPr sz="2200" dirty="0"/>
              <a:t> </a:t>
            </a:r>
            <a:r>
              <a:rPr sz="2200" dirty="0" err="1"/>
              <a:t>התחתון</a:t>
            </a:r>
            <a:r>
              <a:rPr sz="2200" dirty="0"/>
              <a:t>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נחל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הג</a:t>
            </a:r>
            <a:r>
              <a:rPr lang="he-IL" sz="2200" dirty="0"/>
              <a:t>י</a:t>
            </a:r>
            <a:r>
              <a:rPr sz="2200" dirty="0" err="1"/>
              <a:t>איות</a:t>
            </a:r>
            <a:r>
              <a:rPr sz="2200" dirty="0"/>
              <a:t> </a:t>
            </a:r>
            <a:r>
              <a:rPr sz="2200" dirty="0" err="1"/>
              <a:t>מתנקזים</a:t>
            </a:r>
            <a:endParaRPr sz="2200" dirty="0"/>
          </a:p>
        </p:txBody>
      </p:sp>
      <p:pic>
        <p:nvPicPr>
          <p:cNvPr id="4" name="Picture 3" descr="g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986727"/>
            <a:ext cx="3794760" cy="3936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CF4340FC-4BA1-06A0-88BD-2F6E51EE4E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C917DD8D-84A4-543D-9789-85EC0B6682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שלוחה</a:t>
            </a:r>
            <a:r>
              <a:rPr dirty="0"/>
              <a:t> </a:t>
            </a:r>
            <a:r>
              <a:rPr dirty="0" err="1"/>
              <a:t>וגי</a:t>
            </a:r>
            <a:r>
              <a:rPr lang="he-IL" dirty="0"/>
              <a:t>א -</a:t>
            </a:r>
            <a:r>
              <a:rPr dirty="0"/>
              <a:t> </a:t>
            </a:r>
            <a:r>
              <a:rPr dirty="0" err="1"/>
              <a:t>זהו</a:t>
            </a:r>
            <a:r>
              <a:rPr dirty="0"/>
              <a:t> </a:t>
            </a:r>
            <a:r>
              <a:rPr dirty="0" err="1"/>
              <a:t>בעצמכם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לפניכם</a:t>
            </a:r>
            <a:r>
              <a:rPr sz="2200" b="1" dirty="0"/>
              <a:t> </a:t>
            </a:r>
            <a:r>
              <a:rPr sz="2200" b="1" dirty="0" err="1"/>
              <a:t>מדרון</a:t>
            </a:r>
            <a:r>
              <a:rPr sz="2200" b="1" dirty="0"/>
              <a:t> </a:t>
            </a:r>
            <a:r>
              <a:rPr sz="2200" b="1" dirty="0" err="1"/>
              <a:t>אמיתי</a:t>
            </a:r>
            <a:r>
              <a:rPr sz="2200" b="1" dirty="0"/>
              <a:t> </a:t>
            </a:r>
            <a:r>
              <a:rPr sz="2200" b="1" dirty="0" err="1"/>
              <a:t>בגוש</a:t>
            </a:r>
            <a:r>
              <a:rPr sz="2200" b="1" dirty="0"/>
              <a:t> </a:t>
            </a:r>
            <a:r>
              <a:rPr sz="2200" b="1" dirty="0" err="1"/>
              <a:t>עציון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זהו</a:t>
            </a:r>
            <a:r>
              <a:rPr sz="2200" b="1" dirty="0"/>
              <a:t> </a:t>
            </a:r>
            <a:r>
              <a:rPr sz="2200" b="1" dirty="0" err="1"/>
              <a:t>את</a:t>
            </a:r>
            <a:r>
              <a:rPr sz="2200" b="1" dirty="0"/>
              <a:t> </a:t>
            </a:r>
            <a:r>
              <a:rPr sz="2200" b="1" dirty="0" err="1"/>
              <a:t>הצורות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איפה</a:t>
            </a:r>
            <a:r>
              <a:rPr sz="2200" b="1" dirty="0"/>
              <a:t> </a:t>
            </a:r>
            <a:r>
              <a:rPr sz="2200" b="1" dirty="0" err="1"/>
              <a:t>הגי</a:t>
            </a:r>
            <a:r>
              <a:rPr lang="he-IL" sz="2200" b="1" dirty="0"/>
              <a:t>א?</a:t>
            </a:r>
            <a:r>
              <a:rPr sz="2200" b="1" dirty="0"/>
              <a:t> </a:t>
            </a:r>
            <a:r>
              <a:rPr sz="2200" b="1" dirty="0" err="1"/>
              <a:t>חפשו</a:t>
            </a:r>
            <a:r>
              <a:rPr sz="2200" b="1" dirty="0"/>
              <a:t> </a:t>
            </a:r>
            <a:r>
              <a:rPr sz="2200" b="1" dirty="0" err="1"/>
              <a:t>את</a:t>
            </a:r>
            <a:r>
              <a:rPr sz="2200" b="1" dirty="0"/>
              <a:t> </a:t>
            </a:r>
            <a:r>
              <a:rPr sz="2200" b="1" dirty="0" err="1"/>
              <a:t>הנחל</a:t>
            </a:r>
            <a:r>
              <a:rPr sz="2200" b="1" dirty="0"/>
              <a:t> </a:t>
            </a:r>
            <a:r>
              <a:rPr sz="2200" b="1" dirty="0" err="1"/>
              <a:t>האכזב</a:t>
            </a:r>
            <a:r>
              <a:rPr lang="he-IL" sz="2200" b="1" dirty="0"/>
              <a:t> (</a:t>
            </a:r>
            <a:r>
              <a:rPr sz="2200" b="1" dirty="0" err="1"/>
              <a:t>הכחול</a:t>
            </a:r>
            <a:r>
              <a:rPr sz="2200" b="1" dirty="0"/>
              <a:t> </a:t>
            </a:r>
            <a:r>
              <a:rPr sz="2200" b="1" dirty="0" err="1"/>
              <a:t>המקווק</a:t>
            </a:r>
            <a:r>
              <a:rPr lang="he-IL" sz="2200" b="1" dirty="0"/>
              <a:t>ו)</a:t>
            </a:r>
            <a:r>
              <a:rPr sz="2200" b="1" dirty="0"/>
              <a:t> </a:t>
            </a:r>
            <a:r>
              <a:rPr lang="he-IL" sz="2200" b="1" dirty="0"/>
              <a:t>- </a:t>
            </a:r>
            <a:r>
              <a:rPr sz="2200" b="1" dirty="0" err="1"/>
              <a:t>הוא</a:t>
            </a:r>
            <a:r>
              <a:rPr sz="2200" b="1" dirty="0"/>
              <a:t> </a:t>
            </a:r>
            <a:r>
              <a:rPr sz="2200" b="1" dirty="0" err="1"/>
              <a:t>תמיד</a:t>
            </a:r>
            <a:r>
              <a:rPr sz="2200" b="1" dirty="0"/>
              <a:t> </a:t>
            </a:r>
            <a:r>
              <a:rPr sz="2200" b="1" dirty="0" err="1"/>
              <a:t>בקרקעית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איפה</a:t>
            </a:r>
            <a:r>
              <a:rPr sz="2200" b="1" dirty="0"/>
              <a:t> </a:t>
            </a:r>
            <a:r>
              <a:rPr sz="2200" b="1" dirty="0" err="1"/>
              <a:t>השלוחה</a:t>
            </a:r>
            <a:r>
              <a:rPr lang="he-IL" sz="2200" b="1" dirty="0"/>
              <a:t>? </a:t>
            </a:r>
            <a:r>
              <a:rPr sz="2200" b="1" dirty="0" err="1"/>
              <a:t>הקרקע</a:t>
            </a:r>
            <a:r>
              <a:rPr sz="2200" b="1" dirty="0"/>
              <a:t> </a:t>
            </a:r>
            <a:r>
              <a:rPr sz="2200" b="1" dirty="0" err="1"/>
              <a:t>הגבוהה</a:t>
            </a:r>
            <a:r>
              <a:rPr sz="2200" b="1" dirty="0"/>
              <a:t> </a:t>
            </a:r>
            <a:r>
              <a:rPr sz="2200" b="1" dirty="0" err="1"/>
              <a:t>שעולה</a:t>
            </a:r>
            <a:r>
              <a:rPr sz="2200" b="1" dirty="0"/>
              <a:t> </a:t>
            </a:r>
            <a:r>
              <a:rPr sz="2200" b="1" dirty="0" err="1"/>
              <a:t>בין</a:t>
            </a:r>
            <a:r>
              <a:rPr sz="2200" b="1" dirty="0"/>
              <a:t> </a:t>
            </a:r>
            <a:r>
              <a:rPr sz="2200" b="1" dirty="0" err="1"/>
              <a:t>הג</a:t>
            </a:r>
            <a:r>
              <a:rPr lang="he-IL" sz="2200" b="1" dirty="0"/>
              <a:t>י</a:t>
            </a:r>
            <a:r>
              <a:rPr sz="2200" b="1" dirty="0" err="1"/>
              <a:t>איות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רמז</a:t>
            </a:r>
            <a:r>
              <a:rPr lang="he-IL" sz="2200" b="1" dirty="0"/>
              <a:t>: ק</a:t>
            </a:r>
            <a:r>
              <a:rPr sz="2200" b="1" dirty="0" err="1"/>
              <a:t>ודקוד</a:t>
            </a:r>
            <a:r>
              <a:rPr sz="2200" b="1" dirty="0"/>
              <a:t> </a:t>
            </a:r>
            <a:r>
              <a:rPr sz="2200" b="1" dirty="0" err="1"/>
              <a:t>קווי</a:t>
            </a:r>
            <a:r>
              <a:rPr sz="2200" b="1" dirty="0"/>
              <a:t> </a:t>
            </a:r>
            <a:r>
              <a:rPr sz="2200" b="1" dirty="0" err="1"/>
              <a:t>הגובה</a:t>
            </a:r>
            <a:r>
              <a:rPr sz="2200" b="1" dirty="0"/>
              <a:t> </a:t>
            </a:r>
            <a:r>
              <a:rPr sz="2200" b="1" dirty="0" err="1"/>
              <a:t>בגיא</a:t>
            </a:r>
            <a:r>
              <a:rPr sz="2200" b="1" dirty="0"/>
              <a:t> </a:t>
            </a:r>
            <a:r>
              <a:rPr sz="2200" b="1" dirty="0" err="1"/>
              <a:t>מצביע</a:t>
            </a:r>
            <a:r>
              <a:rPr sz="2200" b="1" dirty="0"/>
              <a:t> </a:t>
            </a:r>
            <a:r>
              <a:rPr sz="2200" b="1" dirty="0" err="1"/>
              <a:t>במעלה</a:t>
            </a:r>
            <a:r>
              <a:rPr lang="he-IL" sz="2200" b="1" dirty="0"/>
              <a:t>, </a:t>
            </a:r>
            <a:r>
              <a:rPr sz="2200" b="1" dirty="0" err="1"/>
              <a:t>בשלוחה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במורד</a:t>
            </a:r>
            <a:endParaRPr sz="2200" b="1" dirty="0"/>
          </a:p>
        </p:txBody>
      </p:sp>
      <p:pic>
        <p:nvPicPr>
          <p:cNvPr id="4" name="Picture 3" descr="map_shluha_gia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277906"/>
            <a:ext cx="3794760" cy="33537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2CAEA4-960E-2BEF-A5E0-12CC41573B0A}"/>
              </a:ext>
            </a:extLst>
          </p:cNvPr>
          <p:cNvSpPr/>
          <p:nvPr/>
        </p:nvSpPr>
        <p:spPr>
          <a:xfrm>
            <a:off x="2100264" y="2500313"/>
            <a:ext cx="1014412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58D0A-89F6-13ED-EDB7-346DDBAD05C9}"/>
              </a:ext>
            </a:extLst>
          </p:cNvPr>
          <p:cNvSpPr/>
          <p:nvPr/>
        </p:nvSpPr>
        <p:spPr>
          <a:xfrm>
            <a:off x="330994" y="4310063"/>
            <a:ext cx="1014412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E308D-69EC-2BA7-43A7-1F9C53463C96}"/>
              </a:ext>
            </a:extLst>
          </p:cNvPr>
          <p:cNvSpPr/>
          <p:nvPr/>
        </p:nvSpPr>
        <p:spPr>
          <a:xfrm>
            <a:off x="592934" y="2352676"/>
            <a:ext cx="1014412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0CEBEC72-D94A-0167-972B-4B5F260769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FECBCB7-6CCD-240C-EF91-6711C72472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he-IL" dirty="0"/>
              <a:t>שלוחה וגיא - הפתרון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הגיא</a:t>
            </a:r>
            <a:r>
              <a:rPr sz="2200" b="1" dirty="0"/>
              <a:t> </a:t>
            </a:r>
            <a:r>
              <a:rPr lang="he-IL" sz="2200" b="1" dirty="0"/>
              <a:t>- </a:t>
            </a:r>
            <a:r>
              <a:rPr sz="2200" b="1" dirty="0"/>
              <a:t> </a:t>
            </a:r>
            <a:r>
              <a:rPr sz="2200" b="1" dirty="0" err="1"/>
              <a:t>לאורך</a:t>
            </a:r>
            <a:r>
              <a:rPr sz="2200" b="1" dirty="0"/>
              <a:t> </a:t>
            </a:r>
            <a:r>
              <a:rPr sz="2200" b="1" dirty="0" err="1"/>
              <a:t>הנחל</a:t>
            </a:r>
            <a:r>
              <a:rPr sz="2200" b="1" dirty="0"/>
              <a:t> </a:t>
            </a:r>
            <a:r>
              <a:rPr sz="2200" b="1" dirty="0" err="1"/>
              <a:t>האכזב</a:t>
            </a:r>
            <a:r>
              <a:rPr sz="2200" b="1" dirty="0"/>
              <a:t>, </a:t>
            </a:r>
            <a:r>
              <a:rPr sz="2200" b="1" dirty="0" err="1"/>
              <a:t>המים</a:t>
            </a:r>
            <a:r>
              <a:rPr sz="2200" b="1" dirty="0"/>
              <a:t> </a:t>
            </a:r>
            <a:r>
              <a:rPr sz="2200" b="1" dirty="0" err="1"/>
              <a:t>יורדים</a:t>
            </a:r>
            <a:r>
              <a:rPr sz="2200" b="1" dirty="0"/>
              <a:t> </a:t>
            </a:r>
            <a:r>
              <a:rPr sz="2200" b="1" dirty="0" err="1"/>
              <a:t>בו</a:t>
            </a:r>
            <a:r>
              <a:rPr sz="2200" b="1" dirty="0"/>
              <a:t> </a:t>
            </a:r>
            <a:r>
              <a:rPr lang="he-IL" sz="2200" b="1" dirty="0"/>
              <a:t>(</a:t>
            </a:r>
            <a:r>
              <a:rPr sz="2200" b="1" dirty="0" err="1"/>
              <a:t>אדום</a:t>
            </a:r>
            <a:r>
              <a:rPr lang="he-IL" sz="2200" b="1" dirty="0"/>
              <a:t>)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השלוחה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הרכס</a:t>
            </a:r>
            <a:r>
              <a:rPr sz="2200" b="1" dirty="0"/>
              <a:t> </a:t>
            </a:r>
            <a:r>
              <a:rPr sz="2200" b="1" dirty="0" err="1"/>
              <a:t>הגבוה</a:t>
            </a:r>
            <a:r>
              <a:rPr sz="2200" b="1" dirty="0"/>
              <a:t> </a:t>
            </a:r>
            <a:r>
              <a:rPr sz="2200" b="1" dirty="0" err="1"/>
              <a:t>שעולה</a:t>
            </a:r>
            <a:r>
              <a:rPr sz="2200" b="1" dirty="0"/>
              <a:t> </a:t>
            </a:r>
            <a:r>
              <a:rPr sz="2200" b="1" dirty="0" err="1"/>
              <a:t>אל</a:t>
            </a:r>
            <a:r>
              <a:rPr sz="2200" b="1" dirty="0"/>
              <a:t> </a:t>
            </a:r>
            <a:r>
              <a:rPr sz="2200" b="1" dirty="0" err="1"/>
              <a:t>הגובה</a:t>
            </a:r>
            <a:r>
              <a:rPr sz="2200" b="1" dirty="0"/>
              <a:t>,</a:t>
            </a:r>
            <a:r>
              <a:rPr lang="he-IL" sz="2200" b="1" dirty="0"/>
              <a:t> </a:t>
            </a:r>
            <a:r>
              <a:rPr sz="2200" b="1" dirty="0" err="1"/>
              <a:t>בין</a:t>
            </a:r>
            <a:r>
              <a:rPr sz="2200" b="1" dirty="0"/>
              <a:t> </a:t>
            </a:r>
            <a:r>
              <a:rPr sz="2200" b="1" dirty="0" err="1"/>
              <a:t>הג</a:t>
            </a:r>
            <a:r>
              <a:rPr lang="he-IL" sz="2200" b="1" dirty="0"/>
              <a:t>י</a:t>
            </a:r>
            <a:r>
              <a:rPr sz="2200" b="1" dirty="0" err="1"/>
              <a:t>איות</a:t>
            </a:r>
            <a:r>
              <a:rPr sz="2200" b="1" dirty="0"/>
              <a:t> </a:t>
            </a:r>
            <a:r>
              <a:rPr lang="he-IL" sz="2200" b="1" dirty="0"/>
              <a:t>(</a:t>
            </a:r>
            <a:r>
              <a:rPr sz="2200" b="1" dirty="0" err="1"/>
              <a:t>כחול</a:t>
            </a:r>
            <a:r>
              <a:rPr lang="he-IL" sz="2200" b="1" dirty="0"/>
              <a:t>)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כלל</a:t>
            </a:r>
            <a:r>
              <a:rPr sz="2200" b="1" dirty="0"/>
              <a:t> </a:t>
            </a:r>
            <a:r>
              <a:rPr lang="he-IL" sz="2200" b="1" dirty="0"/>
              <a:t>אצבע: </a:t>
            </a:r>
            <a:r>
              <a:rPr sz="2200" b="1" dirty="0" err="1"/>
              <a:t>הנחל</a:t>
            </a:r>
            <a:r>
              <a:rPr sz="2200" b="1" dirty="0"/>
              <a:t> </a:t>
            </a:r>
            <a:r>
              <a:rPr sz="2200" b="1" dirty="0" err="1"/>
              <a:t>תמיד</a:t>
            </a:r>
            <a:r>
              <a:rPr sz="2200" b="1" dirty="0"/>
              <a:t> </a:t>
            </a:r>
            <a:r>
              <a:rPr sz="2200" b="1" dirty="0" err="1"/>
              <a:t>בגיא</a:t>
            </a:r>
            <a:r>
              <a:rPr lang="he-IL" sz="2200" b="1" dirty="0"/>
              <a:t>,</a:t>
            </a:r>
            <a:r>
              <a:rPr sz="2200" b="1" dirty="0"/>
              <a:t> </a:t>
            </a:r>
            <a:r>
              <a:rPr sz="2200" b="1" dirty="0" err="1"/>
              <a:t>אף</a:t>
            </a:r>
            <a:r>
              <a:rPr sz="2200" b="1" dirty="0"/>
              <a:t> </a:t>
            </a:r>
            <a:r>
              <a:rPr sz="2200" b="1" dirty="0" err="1"/>
              <a:t>פעם</a:t>
            </a:r>
            <a:r>
              <a:rPr sz="2200" b="1" dirty="0"/>
              <a:t> </a:t>
            </a:r>
            <a:r>
              <a:rPr sz="2200" b="1" dirty="0" err="1"/>
              <a:t>לא</a:t>
            </a:r>
            <a:r>
              <a:rPr sz="2200" b="1" dirty="0"/>
              <a:t> </a:t>
            </a:r>
            <a:r>
              <a:rPr sz="2200" b="1" dirty="0" err="1"/>
              <a:t>על</a:t>
            </a:r>
            <a:r>
              <a:rPr sz="2200" b="1" dirty="0"/>
              <a:t> </a:t>
            </a:r>
            <a:r>
              <a:rPr sz="2200" b="1" dirty="0" err="1"/>
              <a:t>שלוחה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כחול</a:t>
            </a:r>
            <a:r>
              <a:rPr sz="2200" b="1" dirty="0"/>
              <a:t> =</a:t>
            </a:r>
            <a:r>
              <a:rPr lang="he-IL" sz="2200" b="1" dirty="0"/>
              <a:t> </a:t>
            </a:r>
            <a:r>
              <a:rPr sz="2200" b="1" dirty="0" err="1"/>
              <a:t>כיוון</a:t>
            </a:r>
            <a:r>
              <a:rPr sz="2200" b="1" dirty="0"/>
              <a:t> </a:t>
            </a:r>
            <a:r>
              <a:rPr sz="2200" b="1" dirty="0" err="1"/>
              <a:t>עלייה</a:t>
            </a:r>
            <a:r>
              <a:rPr lang="he-IL" sz="2200" b="1" dirty="0"/>
              <a:t>,</a:t>
            </a:r>
            <a:r>
              <a:rPr sz="2200" b="1" dirty="0"/>
              <a:t> </a:t>
            </a:r>
            <a:r>
              <a:rPr sz="2200" b="1" dirty="0" err="1"/>
              <a:t>אדום</a:t>
            </a:r>
            <a:r>
              <a:rPr lang="he-IL" sz="2200" b="1" dirty="0"/>
              <a:t> =</a:t>
            </a:r>
            <a:r>
              <a:rPr sz="2200" b="1" dirty="0"/>
              <a:t> </a:t>
            </a:r>
            <a:r>
              <a:rPr sz="2200" b="1" dirty="0" err="1"/>
              <a:t>כיוון</a:t>
            </a:r>
            <a:r>
              <a:rPr sz="2200" b="1" dirty="0"/>
              <a:t> </a:t>
            </a:r>
            <a:r>
              <a:rPr sz="2200" b="1" dirty="0" err="1"/>
              <a:t>ירידה</a:t>
            </a:r>
            <a:endParaRPr sz="2200" b="1" dirty="0"/>
          </a:p>
        </p:txBody>
      </p:sp>
      <p:pic>
        <p:nvPicPr>
          <p:cNvPr id="4" name="Picture 3" descr="map_shluha_gia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277906"/>
            <a:ext cx="3794760" cy="33537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4F35FFBF-6156-F744-D07A-444BE5DE72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27D5FF7-50FD-9301-F3F6-3CE8DA78D1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איך מבדילים בין שלוחה לגיא?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לאן</a:t>
            </a:r>
            <a:r>
              <a:rPr sz="2200" dirty="0"/>
              <a:t> ״</a:t>
            </a:r>
            <a:r>
              <a:rPr sz="2200" dirty="0" err="1"/>
              <a:t>מצביע</a:t>
            </a:r>
            <a:r>
              <a:rPr sz="2200" dirty="0"/>
              <a:t>״ </a:t>
            </a:r>
            <a:r>
              <a:rPr sz="2200" dirty="0" err="1"/>
              <a:t>קודקוד</a:t>
            </a:r>
            <a:r>
              <a:rPr sz="2200" dirty="0"/>
              <a:t> </a:t>
            </a:r>
            <a:r>
              <a:rPr sz="2200" dirty="0" err="1"/>
              <a:t>הקו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המיקום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גיא</a:t>
            </a:r>
            <a:r>
              <a:rPr sz="2200" dirty="0"/>
              <a:t> </a:t>
            </a: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שלוחות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הצורה</a:t>
            </a:r>
            <a:r>
              <a:rPr lang="he-IL" sz="2200" dirty="0"/>
              <a:t> -</a:t>
            </a:r>
            <a:r>
              <a:rPr sz="2200" dirty="0"/>
              <a:t> </a:t>
            </a:r>
            <a:r>
              <a:rPr sz="2200" dirty="0" err="1"/>
              <a:t>גיא</a:t>
            </a:r>
            <a:r>
              <a:rPr sz="2200" dirty="0"/>
              <a:t> </a:t>
            </a:r>
            <a:r>
              <a:rPr sz="2200" dirty="0" err="1"/>
              <a:t>בדרך</a:t>
            </a:r>
            <a:r>
              <a:rPr sz="2200" dirty="0"/>
              <a:t> </a:t>
            </a:r>
            <a:r>
              <a:rPr sz="2200" dirty="0" err="1"/>
              <a:t>כלל</a:t>
            </a:r>
            <a:r>
              <a:rPr sz="2200" dirty="0"/>
              <a:t> </a:t>
            </a:r>
            <a:r>
              <a:rPr sz="2200" dirty="0" err="1"/>
              <a:t>צר</a:t>
            </a:r>
            <a:r>
              <a:rPr sz="2200" dirty="0"/>
              <a:t> </a:t>
            </a:r>
            <a:r>
              <a:rPr sz="2200" dirty="0" err="1"/>
              <a:t>יותר</a:t>
            </a:r>
            <a:r>
              <a:rPr sz="2200" dirty="0"/>
              <a:t> </a:t>
            </a:r>
            <a:r>
              <a:rPr sz="2200" dirty="0" err="1"/>
              <a:t>משלוחה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הכיוונים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שלוחה</a:t>
            </a:r>
            <a:r>
              <a:rPr lang="he-IL" sz="2200" dirty="0"/>
              <a:t>: ע</a:t>
            </a:r>
            <a:r>
              <a:rPr sz="2200" dirty="0" err="1"/>
              <a:t>לייה</a:t>
            </a:r>
            <a:r>
              <a:rPr sz="2200" dirty="0"/>
              <a:t> </a:t>
            </a:r>
            <a:r>
              <a:rPr sz="2200" dirty="0" err="1"/>
              <a:t>אחת</a:t>
            </a:r>
            <a:r>
              <a:rPr lang="he-IL" sz="2200" dirty="0"/>
              <a:t>,</a:t>
            </a:r>
            <a:r>
              <a:rPr sz="2200" dirty="0"/>
              <a:t> </a:t>
            </a:r>
            <a:r>
              <a:rPr sz="2200" dirty="0" err="1"/>
              <a:t>שלוש</a:t>
            </a:r>
            <a:r>
              <a:rPr sz="2200" dirty="0"/>
              <a:t> </a:t>
            </a:r>
            <a:r>
              <a:rPr sz="2200" dirty="0" err="1"/>
              <a:t>ירידות</a:t>
            </a:r>
            <a:r>
              <a:rPr sz="2200" dirty="0"/>
              <a:t>.</a:t>
            </a:r>
            <a:r>
              <a:rPr lang="he-IL" sz="2200" dirty="0"/>
              <a:t> ג</a:t>
            </a:r>
            <a:r>
              <a:rPr sz="2200" dirty="0" err="1"/>
              <a:t>יא</a:t>
            </a:r>
            <a:r>
              <a:rPr lang="he-IL" sz="2200" dirty="0"/>
              <a:t>:</a:t>
            </a:r>
            <a:r>
              <a:rPr sz="2200" dirty="0"/>
              <a:t> </a:t>
            </a:r>
            <a:r>
              <a:rPr sz="2200" dirty="0" err="1"/>
              <a:t>הפוך</a:t>
            </a:r>
            <a:endParaRPr sz="2200" dirty="0"/>
          </a:p>
        </p:txBody>
      </p:sp>
      <p:pic>
        <p:nvPicPr>
          <p:cNvPr id="4" name="Picture 3" descr="shluha_vs_g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858671"/>
            <a:ext cx="3794760" cy="2192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0977F69D-018A-A6E6-6FE3-F51EF24694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1B4A9E49-8D65-1B3D-D37E-E20A582DE6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שלוחה</a:t>
            </a:r>
            <a:r>
              <a:rPr dirty="0"/>
              <a:t> </a:t>
            </a:r>
            <a:r>
              <a:rPr dirty="0" err="1"/>
              <a:t>וגיא</a:t>
            </a:r>
            <a:r>
              <a:rPr dirty="0"/>
              <a:t> </a:t>
            </a:r>
            <a:r>
              <a:rPr lang="he-IL" dirty="0"/>
              <a:t>- גבעת התחמושת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אותם</a:t>
            </a:r>
            <a:r>
              <a:rPr sz="2200" b="1" dirty="0"/>
              <a:t> </a:t>
            </a:r>
            <a:r>
              <a:rPr sz="2200" b="1" dirty="0" err="1"/>
              <a:t>קווי</a:t>
            </a:r>
            <a:r>
              <a:rPr sz="2200" b="1" dirty="0"/>
              <a:t> </a:t>
            </a:r>
            <a:r>
              <a:rPr sz="2200" b="1" dirty="0" err="1"/>
              <a:t>גובה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הפעם</a:t>
            </a:r>
            <a:r>
              <a:rPr sz="2200" b="1" dirty="0"/>
              <a:t> </a:t>
            </a:r>
            <a:r>
              <a:rPr sz="2200" b="1" dirty="0" err="1"/>
              <a:t>בתלת־ממד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שכבה</a:t>
            </a:r>
            <a:r>
              <a:rPr sz="2200" dirty="0"/>
              <a:t> </a:t>
            </a:r>
            <a:r>
              <a:rPr sz="2200" dirty="0" err="1"/>
              <a:t>בדגם</a:t>
            </a:r>
            <a:r>
              <a:rPr sz="2200" dirty="0"/>
              <a:t> </a:t>
            </a:r>
            <a:r>
              <a:rPr sz="2200" dirty="0" err="1"/>
              <a:t>היא</a:t>
            </a:r>
            <a:r>
              <a:rPr sz="2200" dirty="0"/>
              <a:t> </a:t>
            </a:r>
            <a:r>
              <a:rPr sz="2200" dirty="0" err="1"/>
              <a:t>קו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אחד</a:t>
            </a:r>
            <a:r>
              <a:rPr lang="he-IL" sz="2200" dirty="0"/>
              <a:t>; </a:t>
            </a:r>
            <a:r>
              <a:rPr sz="2200" dirty="0" err="1"/>
              <a:t>ככל</a:t>
            </a:r>
            <a:r>
              <a:rPr sz="2200" dirty="0"/>
              <a:t> </a:t>
            </a:r>
            <a:r>
              <a:rPr sz="2200" dirty="0" err="1"/>
              <a:t>שהשכבות</a:t>
            </a:r>
            <a:r>
              <a:rPr sz="2200" dirty="0"/>
              <a:t> </a:t>
            </a:r>
            <a:r>
              <a:rPr sz="2200" dirty="0" err="1"/>
              <a:t>צפופות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המדרון</a:t>
            </a:r>
            <a:r>
              <a:rPr sz="2200" dirty="0"/>
              <a:t> </a:t>
            </a:r>
            <a:r>
              <a:rPr sz="2200" dirty="0" err="1"/>
              <a:t>תלול</a:t>
            </a:r>
            <a:r>
              <a:rPr sz="2200" dirty="0"/>
              <a:t> </a:t>
            </a:r>
            <a:r>
              <a:rPr sz="2200" dirty="0" err="1"/>
              <a:t>יותר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השלוחות</a:t>
            </a:r>
            <a:r>
              <a:rPr sz="2200" dirty="0"/>
              <a:t> </a:t>
            </a:r>
            <a:r>
              <a:rPr sz="2200" dirty="0" err="1"/>
              <a:t>בולטות</a:t>
            </a:r>
            <a:r>
              <a:rPr sz="2200" dirty="0"/>
              <a:t> </a:t>
            </a:r>
            <a:r>
              <a:rPr sz="2200" dirty="0" err="1"/>
              <a:t>החוצה</a:t>
            </a:r>
            <a:r>
              <a:rPr sz="2200" dirty="0"/>
              <a:t> </a:t>
            </a:r>
            <a:r>
              <a:rPr sz="2200" dirty="0" err="1"/>
              <a:t>מהכיפה</a:t>
            </a:r>
            <a:r>
              <a:rPr lang="he-IL" sz="2200" dirty="0"/>
              <a:t>; </a:t>
            </a:r>
            <a:r>
              <a:rPr sz="2200" dirty="0" err="1"/>
              <a:t>הג</a:t>
            </a:r>
            <a:r>
              <a:rPr lang="he-IL" sz="2200" dirty="0"/>
              <a:t>י</a:t>
            </a:r>
            <a:r>
              <a:rPr sz="2200" dirty="0" err="1"/>
              <a:t>איות</a:t>
            </a:r>
            <a:r>
              <a:rPr sz="2200" dirty="0"/>
              <a:t> </a:t>
            </a:r>
            <a:r>
              <a:rPr sz="2200" dirty="0" err="1"/>
              <a:t>נכנסות</a:t>
            </a:r>
            <a:r>
              <a:rPr sz="2200" dirty="0"/>
              <a:t> </a:t>
            </a:r>
            <a:r>
              <a:rPr sz="2200" dirty="0" err="1"/>
              <a:t>פנימה</a:t>
            </a:r>
            <a:r>
              <a:rPr sz="2200" dirty="0"/>
              <a:t> </a:t>
            </a:r>
            <a:r>
              <a:rPr sz="2200" dirty="0" err="1"/>
              <a:t>ביניהן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זה</a:t>
            </a:r>
            <a:r>
              <a:rPr sz="2200" dirty="0"/>
              <a:t> </a:t>
            </a:r>
            <a:r>
              <a:rPr sz="2200" dirty="0" err="1"/>
              <a:t>בדיוק</a:t>
            </a:r>
            <a:r>
              <a:rPr sz="2200" dirty="0"/>
              <a:t> </a:t>
            </a: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שאתם</a:t>
            </a:r>
            <a:r>
              <a:rPr sz="2200" dirty="0"/>
              <a:t> </a:t>
            </a:r>
            <a:r>
              <a:rPr sz="2200" dirty="0" err="1"/>
              <a:t>רואים</a:t>
            </a:r>
            <a:r>
              <a:rPr sz="2200" dirty="0"/>
              <a:t> </a:t>
            </a:r>
            <a:r>
              <a:rPr sz="2200" dirty="0" err="1"/>
              <a:t>במפה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רק</a:t>
            </a:r>
            <a:r>
              <a:rPr sz="2200" dirty="0"/>
              <a:t> </a:t>
            </a:r>
            <a:r>
              <a:rPr sz="2200" dirty="0" err="1"/>
              <a:t>שטוח</a:t>
            </a:r>
            <a:endParaRPr sz="2200" dirty="0"/>
          </a:p>
        </p:txBody>
      </p:sp>
      <p:pic>
        <p:nvPicPr>
          <p:cNvPr id="4" name="Picture 3" descr="model_ful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411577"/>
            <a:ext cx="3794760" cy="3086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532F54FE-30C2-A657-D3DC-8F29BD205C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FD5A4D1-B146-F7AA-6F8B-691C558DD4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אוכף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נראה</a:t>
            </a:r>
            <a:r>
              <a:rPr sz="2200" dirty="0"/>
              <a:t> </a:t>
            </a:r>
            <a:r>
              <a:rPr sz="2200" dirty="0" err="1"/>
              <a:t>כמו</a:t>
            </a:r>
            <a:r>
              <a:rPr sz="2200" dirty="0"/>
              <a:t> </a:t>
            </a:r>
            <a:r>
              <a:rPr sz="2200" dirty="0" err="1"/>
              <a:t>אוכף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סוס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מקום</a:t>
            </a:r>
            <a:r>
              <a:rPr sz="2200" dirty="0"/>
              <a:t> </a:t>
            </a:r>
            <a:r>
              <a:rPr sz="2200" dirty="0" err="1"/>
              <a:t>חיבור</a:t>
            </a:r>
            <a:r>
              <a:rPr sz="2200" dirty="0"/>
              <a:t> </a:t>
            </a:r>
            <a:r>
              <a:rPr sz="2200" dirty="0" err="1"/>
              <a:t>שקוע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שני</a:t>
            </a:r>
            <a:r>
              <a:rPr sz="2200" dirty="0"/>
              <a:t> </a:t>
            </a:r>
            <a:r>
              <a:rPr sz="2200" dirty="0" err="1"/>
              <a:t>בלטים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שני</a:t>
            </a:r>
            <a:r>
              <a:rPr sz="2200" dirty="0"/>
              <a:t> </a:t>
            </a:r>
            <a:r>
              <a:rPr sz="2200" dirty="0" err="1"/>
              <a:t>כיווני</a:t>
            </a:r>
            <a:r>
              <a:rPr sz="2200" dirty="0"/>
              <a:t> </a:t>
            </a:r>
            <a:r>
              <a:rPr sz="2200" dirty="0" err="1"/>
              <a:t>עלייה</a:t>
            </a:r>
            <a:r>
              <a:rPr sz="2200" dirty="0"/>
              <a:t> </a:t>
            </a:r>
            <a:r>
              <a:rPr sz="2200" dirty="0" err="1"/>
              <a:t>מנוגדים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הכיפות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שני</a:t>
            </a:r>
            <a:r>
              <a:rPr sz="2200" dirty="0"/>
              <a:t> </a:t>
            </a:r>
            <a:r>
              <a:rPr sz="2200" dirty="0" err="1"/>
              <a:t>כיווני</a:t>
            </a:r>
            <a:r>
              <a:rPr sz="2200" dirty="0"/>
              <a:t> </a:t>
            </a:r>
            <a:r>
              <a:rPr sz="2200" dirty="0" err="1"/>
              <a:t>ירידה</a:t>
            </a:r>
            <a:r>
              <a:rPr sz="2200" dirty="0"/>
              <a:t> </a:t>
            </a:r>
            <a:r>
              <a:rPr sz="2200" dirty="0" err="1"/>
              <a:t>מנוגדים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הג</a:t>
            </a:r>
            <a:r>
              <a:rPr lang="he-IL" sz="2200" dirty="0"/>
              <a:t>י</a:t>
            </a:r>
            <a:r>
              <a:rPr sz="2200" dirty="0" err="1"/>
              <a:t>איות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משני</a:t>
            </a:r>
            <a:r>
              <a:rPr sz="2200" dirty="0"/>
              <a:t> </a:t>
            </a:r>
            <a:r>
              <a:rPr sz="2200" dirty="0" err="1"/>
              <a:t>צידי</a:t>
            </a:r>
            <a:r>
              <a:rPr sz="2200" dirty="0"/>
              <a:t> </a:t>
            </a:r>
            <a:r>
              <a:rPr sz="2200" dirty="0" err="1"/>
              <a:t>אוכף</a:t>
            </a:r>
            <a:r>
              <a:rPr sz="2200" dirty="0"/>
              <a:t> </a:t>
            </a: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תהיה</a:t>
            </a:r>
            <a:r>
              <a:rPr sz="2200" dirty="0"/>
              <a:t> </a:t>
            </a:r>
            <a:r>
              <a:rPr sz="2200" dirty="0" err="1"/>
              <a:t>כיפ</a:t>
            </a:r>
            <a:r>
              <a:rPr lang="he-IL" sz="2200" dirty="0"/>
              <a:t>ה.</a:t>
            </a:r>
            <a:r>
              <a:rPr sz="2200" dirty="0"/>
              <a:t> </a:t>
            </a:r>
            <a:r>
              <a:rPr sz="2200" dirty="0" err="1"/>
              <a:t>אם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מסומנת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יש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 </a:t>
            </a:r>
            <a:r>
              <a:rPr sz="2200" dirty="0" err="1"/>
              <a:t>סמויה</a:t>
            </a:r>
            <a:endParaRPr sz="2200" dirty="0"/>
          </a:p>
        </p:txBody>
      </p:sp>
      <p:pic>
        <p:nvPicPr>
          <p:cNvPr id="4" name="Picture 3" descr="och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57399"/>
            <a:ext cx="3794760" cy="379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A9873D35-FD3C-B707-DFB6-7F796167C3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7A7EC3D-DF6D-1713-F516-69E1237D594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אוכף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במפה</a:t>
            </a:r>
            <a:r>
              <a:rPr dirty="0"/>
              <a:t> </a:t>
            </a:r>
            <a:r>
              <a:rPr dirty="0" err="1"/>
              <a:t>אמיתית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אוכף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הנקודה</a:t>
            </a:r>
            <a:r>
              <a:rPr sz="2200" b="1" dirty="0"/>
              <a:t> </a:t>
            </a:r>
            <a:r>
              <a:rPr sz="2200" b="1" dirty="0" err="1"/>
              <a:t>הנמוכה</a:t>
            </a:r>
            <a:r>
              <a:rPr sz="2200" b="1" dirty="0"/>
              <a:t> </a:t>
            </a:r>
            <a:r>
              <a:rPr sz="2200" b="1" dirty="0" err="1"/>
              <a:t>על</a:t>
            </a:r>
            <a:r>
              <a:rPr sz="2200" b="1" dirty="0"/>
              <a:t> </a:t>
            </a:r>
            <a:r>
              <a:rPr sz="2200" b="1" dirty="0" err="1"/>
              <a:t>הרכס</a:t>
            </a:r>
            <a:r>
              <a:rPr sz="2200" b="1" dirty="0"/>
              <a:t> </a:t>
            </a:r>
            <a:r>
              <a:rPr sz="2200" b="1" dirty="0" err="1"/>
              <a:t>בין</a:t>
            </a:r>
            <a:r>
              <a:rPr sz="2200" b="1" dirty="0"/>
              <a:t> </a:t>
            </a:r>
            <a:r>
              <a:rPr sz="2200" b="1" dirty="0" err="1"/>
              <a:t>שני</a:t>
            </a:r>
            <a:r>
              <a:rPr sz="2200" b="1" dirty="0"/>
              <a:t> </a:t>
            </a:r>
            <a:r>
              <a:rPr sz="2200" b="1" dirty="0" err="1"/>
              <a:t>גבהים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כאן</a:t>
            </a:r>
            <a:r>
              <a:rPr sz="2200" b="1" dirty="0"/>
              <a:t>:</a:t>
            </a:r>
            <a:r>
              <a:rPr lang="he-IL" sz="2200" b="1" dirty="0"/>
              <a:t> </a:t>
            </a:r>
            <a:r>
              <a:rPr sz="2200" b="1" dirty="0" err="1"/>
              <a:t>בין</a:t>
            </a:r>
            <a:r>
              <a:rPr sz="2200" b="1" dirty="0"/>
              <a:t> </a:t>
            </a:r>
            <a:r>
              <a:rPr sz="2200" b="1" dirty="0" err="1"/>
              <a:t>הכיפה</a:t>
            </a:r>
            <a:r>
              <a:rPr lang="he-IL" sz="2200" b="1" dirty="0"/>
              <a:t> </a:t>
            </a:r>
            <a:r>
              <a:rPr sz="2200" b="1" dirty="0"/>
              <a:t>967</a:t>
            </a:r>
            <a:r>
              <a:rPr lang="he-IL" sz="2200" b="1" dirty="0"/>
              <a:t> </a:t>
            </a:r>
            <a:r>
              <a:rPr sz="2200" b="1" dirty="0" err="1"/>
              <a:t>לגובה</a:t>
            </a:r>
            <a:r>
              <a:rPr sz="2200" b="1" dirty="0"/>
              <a:t> 949</a:t>
            </a:r>
            <a:r>
              <a:rPr lang="he-IL" sz="2200" b="1" dirty="0"/>
              <a:t> </a:t>
            </a:r>
            <a:r>
              <a:rPr sz="2200" b="1" dirty="0" err="1"/>
              <a:t>שלצידה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שני</a:t>
            </a:r>
            <a:r>
              <a:rPr sz="2200" b="1" dirty="0"/>
              <a:t> </a:t>
            </a:r>
            <a:r>
              <a:rPr sz="2200" b="1" dirty="0" err="1"/>
              <a:t>כיווני</a:t>
            </a:r>
            <a:r>
              <a:rPr sz="2200" b="1" dirty="0"/>
              <a:t> </a:t>
            </a:r>
            <a:r>
              <a:rPr sz="2200" b="1" dirty="0" err="1"/>
              <a:t>עלייה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אל</a:t>
            </a:r>
            <a:r>
              <a:rPr sz="2200" b="1" dirty="0"/>
              <a:t> </a:t>
            </a:r>
            <a:r>
              <a:rPr sz="2200" b="1" dirty="0" err="1"/>
              <a:t>הגבהים</a:t>
            </a:r>
            <a:r>
              <a:rPr lang="he-IL" sz="2200" b="1" dirty="0"/>
              <a:t>; </a:t>
            </a:r>
            <a:r>
              <a:rPr sz="2200" b="1" dirty="0" err="1"/>
              <a:t>שני</a:t>
            </a:r>
            <a:r>
              <a:rPr sz="2200" b="1" dirty="0"/>
              <a:t> </a:t>
            </a:r>
            <a:r>
              <a:rPr sz="2200" b="1" dirty="0" err="1"/>
              <a:t>כיווני</a:t>
            </a:r>
            <a:r>
              <a:rPr sz="2200" b="1" dirty="0"/>
              <a:t> </a:t>
            </a:r>
            <a:r>
              <a:rPr sz="2200" b="1" dirty="0" err="1"/>
              <a:t>ירידה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 err="1"/>
              <a:t>אל</a:t>
            </a:r>
            <a:r>
              <a:rPr sz="2200" b="1" dirty="0"/>
              <a:t> </a:t>
            </a:r>
            <a:r>
              <a:rPr sz="2200" b="1" dirty="0" err="1"/>
              <a:t>הגאיות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שימו</a:t>
            </a:r>
            <a:r>
              <a:rPr sz="2200" b="1" dirty="0"/>
              <a:t> </a:t>
            </a:r>
            <a:r>
              <a:rPr sz="2200" b="1" dirty="0" err="1"/>
              <a:t>לב</a:t>
            </a:r>
            <a:r>
              <a:rPr lang="he-IL" sz="2200" b="1" dirty="0"/>
              <a:t>: </a:t>
            </a:r>
            <a:r>
              <a:rPr sz="2200" b="1" dirty="0" err="1"/>
              <a:t>השביל</a:t>
            </a:r>
            <a:r>
              <a:rPr sz="2200" b="1" dirty="0"/>
              <a:t> </a:t>
            </a:r>
            <a:r>
              <a:rPr sz="2200" b="1" dirty="0" err="1"/>
              <a:t>חוצה</a:t>
            </a:r>
            <a:r>
              <a:rPr sz="2200" b="1" dirty="0"/>
              <a:t> </a:t>
            </a:r>
            <a:r>
              <a:rPr sz="2200" b="1" dirty="0" err="1"/>
              <a:t>דווקא</a:t>
            </a:r>
            <a:r>
              <a:rPr sz="2200" b="1" dirty="0"/>
              <a:t> </a:t>
            </a:r>
            <a:r>
              <a:rPr sz="2200" b="1" dirty="0" err="1"/>
              <a:t>באוכף</a:t>
            </a:r>
            <a:r>
              <a:rPr sz="2200" b="1" dirty="0"/>
              <a:t> </a:t>
            </a:r>
            <a:r>
              <a:rPr lang="he-IL" sz="2200" b="1" dirty="0"/>
              <a:t>- </a:t>
            </a:r>
            <a:r>
              <a:rPr sz="2200" b="1" dirty="0" err="1"/>
              <a:t>הנקודה</a:t>
            </a:r>
            <a:r>
              <a:rPr sz="2200" b="1" dirty="0"/>
              <a:t> </a:t>
            </a:r>
            <a:r>
              <a:rPr sz="2200" b="1" dirty="0" err="1"/>
              <a:t>הנוחה</a:t>
            </a:r>
            <a:r>
              <a:rPr sz="2200" b="1" dirty="0"/>
              <a:t> </a:t>
            </a:r>
            <a:r>
              <a:rPr sz="2200" b="1" dirty="0" err="1"/>
              <a:t>ביותר</a:t>
            </a:r>
            <a:r>
              <a:rPr sz="2200" b="1" dirty="0"/>
              <a:t> </a:t>
            </a:r>
            <a:r>
              <a:rPr sz="2200" b="1" dirty="0" err="1"/>
              <a:t>למעבר</a:t>
            </a:r>
            <a:endParaRPr sz="2200" b="1" dirty="0"/>
          </a:p>
        </p:txBody>
      </p:sp>
      <p:pic>
        <p:nvPicPr>
          <p:cNvPr id="4" name="Picture 3" descr="map_smuya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57399"/>
            <a:ext cx="3794760" cy="379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6724BEF2-8061-5BDF-58AA-928BDA3568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AF2864E-A7E0-D537-C160-58BD538B83C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כיפה סמויה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עונה</a:t>
            </a:r>
            <a:r>
              <a:rPr sz="2200" b="1" dirty="0"/>
              <a:t> </a:t>
            </a:r>
            <a:r>
              <a:rPr sz="2200" b="1" dirty="0" err="1"/>
              <a:t>על</a:t>
            </a:r>
            <a:r>
              <a:rPr sz="2200" b="1" dirty="0"/>
              <a:t> </a:t>
            </a:r>
            <a:r>
              <a:rPr sz="2200" b="1" dirty="0" err="1"/>
              <a:t>הגדרת</a:t>
            </a:r>
            <a:r>
              <a:rPr sz="2200" b="1" dirty="0"/>
              <a:t> </a:t>
            </a:r>
            <a:r>
              <a:rPr sz="2200" b="1" dirty="0" err="1"/>
              <a:t>כיפה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 err="1"/>
              <a:t>אך</a:t>
            </a:r>
            <a:r>
              <a:rPr sz="2200" b="1" dirty="0"/>
              <a:t> </a:t>
            </a:r>
            <a:r>
              <a:rPr sz="2200" b="1" dirty="0" err="1"/>
              <a:t>אינה</a:t>
            </a:r>
            <a:r>
              <a:rPr sz="2200" b="1" dirty="0"/>
              <a:t> </a:t>
            </a:r>
            <a:r>
              <a:rPr sz="2200" b="1" dirty="0" err="1"/>
              <a:t>מסומנת</a:t>
            </a:r>
            <a:r>
              <a:rPr sz="2200" b="1" dirty="0"/>
              <a:t> </a:t>
            </a:r>
            <a:r>
              <a:rPr sz="2200" b="1" dirty="0" err="1"/>
              <a:t>בקו</a:t>
            </a:r>
            <a:r>
              <a:rPr sz="2200" b="1" dirty="0"/>
              <a:t> </a:t>
            </a:r>
            <a:r>
              <a:rPr sz="2200" b="1" dirty="0" err="1"/>
              <a:t>גובה</a:t>
            </a:r>
            <a:r>
              <a:rPr sz="2200" b="1" dirty="0"/>
              <a:t> </a:t>
            </a:r>
            <a:r>
              <a:rPr sz="2200" b="1" dirty="0" err="1"/>
              <a:t>סגור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גובהה</a:t>
            </a:r>
            <a:r>
              <a:rPr sz="2200" dirty="0"/>
              <a:t> </a:t>
            </a:r>
            <a:r>
              <a:rPr sz="2200" dirty="0" err="1"/>
              <a:t>נמוך</a:t>
            </a:r>
            <a:r>
              <a:rPr sz="2200" dirty="0"/>
              <a:t> </a:t>
            </a:r>
            <a:r>
              <a:rPr sz="2200" dirty="0" err="1"/>
              <a:t>מהפרש</a:t>
            </a:r>
            <a:r>
              <a:rPr sz="2200" dirty="0"/>
              <a:t> </a:t>
            </a:r>
            <a:r>
              <a:rPr sz="2200" dirty="0" err="1"/>
              <a:t>שני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סמוכים</a:t>
            </a:r>
            <a:r>
              <a:rPr lang="he-IL" sz="2200" dirty="0"/>
              <a:t>(10 מטר)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מזהים</a:t>
            </a:r>
            <a:r>
              <a:rPr sz="2200" dirty="0"/>
              <a:t>?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לפי</a:t>
            </a:r>
            <a:r>
              <a:rPr sz="2200" dirty="0"/>
              <a:t> </a:t>
            </a:r>
            <a:r>
              <a:rPr sz="2200" dirty="0" err="1"/>
              <a:t>השלוחות</a:t>
            </a:r>
            <a:r>
              <a:rPr sz="2200" dirty="0"/>
              <a:t> </a:t>
            </a:r>
            <a:r>
              <a:rPr sz="2200" dirty="0" err="1"/>
              <a:t>והגאיות</a:t>
            </a:r>
            <a:r>
              <a:rPr sz="2200" dirty="0"/>
              <a:t> </a:t>
            </a:r>
            <a:r>
              <a:rPr sz="2200" dirty="0" err="1"/>
              <a:t>סביבה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היא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 </a:t>
            </a:r>
            <a:r>
              <a:rPr sz="2200" dirty="0" err="1"/>
              <a:t>לכל</a:t>
            </a:r>
            <a:r>
              <a:rPr sz="2200" dirty="0"/>
              <a:t> </a:t>
            </a:r>
            <a:r>
              <a:rPr sz="2200" dirty="0" err="1"/>
              <a:t>דבר</a:t>
            </a:r>
            <a:r>
              <a:rPr lang="he-IL" sz="2200" dirty="0"/>
              <a:t>,</a:t>
            </a:r>
            <a:r>
              <a:rPr sz="2200" dirty="0"/>
              <a:t> </a:t>
            </a:r>
            <a:r>
              <a:rPr sz="2200" dirty="0" err="1"/>
              <a:t>רק</a:t>
            </a:r>
            <a:r>
              <a:rPr sz="2200" dirty="0"/>
              <a:t> </a:t>
            </a:r>
            <a:r>
              <a:rPr sz="2200" dirty="0" err="1"/>
              <a:t>בלי</a:t>
            </a:r>
            <a:r>
              <a:rPr sz="2200" dirty="0"/>
              <a:t> </a:t>
            </a:r>
            <a:r>
              <a:rPr sz="2200" dirty="0" err="1"/>
              <a:t>קו</a:t>
            </a:r>
            <a:r>
              <a:rPr sz="2200" dirty="0"/>
              <a:t> </a:t>
            </a:r>
            <a:r>
              <a:rPr sz="2200" dirty="0" err="1"/>
              <a:t>סגור</a:t>
            </a:r>
            <a:endParaRPr sz="2200" dirty="0"/>
          </a:p>
        </p:txBody>
      </p:sp>
      <p:pic>
        <p:nvPicPr>
          <p:cNvPr id="4" name="Picture 3" descr="kipa_smuy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796053"/>
            <a:ext cx="3794760" cy="4317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7430F2F6-8F22-91F4-8129-FD8A7DF229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DCB610B-1968-69A2-D315-2E5452597B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כיפה</a:t>
            </a:r>
            <a:r>
              <a:rPr dirty="0"/>
              <a:t> </a:t>
            </a:r>
            <a:r>
              <a:rPr dirty="0" err="1"/>
              <a:t>סמויה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במפה</a:t>
            </a:r>
            <a:r>
              <a:rPr dirty="0"/>
              <a:t> </a:t>
            </a:r>
            <a:r>
              <a:rPr dirty="0" err="1"/>
              <a:t>אמיתית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נקודת</a:t>
            </a:r>
            <a:r>
              <a:rPr sz="2200" b="1" dirty="0"/>
              <a:t> </a:t>
            </a:r>
            <a:r>
              <a:rPr sz="2200" b="1" dirty="0" err="1"/>
              <a:t>גובה</a:t>
            </a:r>
            <a:r>
              <a:rPr sz="2200" b="1" dirty="0"/>
              <a:t> </a:t>
            </a:r>
            <a:r>
              <a:rPr lang="he-IL" sz="2200" b="1" dirty="0"/>
              <a:t>949 (</a:t>
            </a:r>
            <a:r>
              <a:rPr sz="2200" b="1" dirty="0"/>
              <a:t>מ׳ </a:t>
            </a:r>
            <a:r>
              <a:rPr sz="2200" b="1" dirty="0" err="1"/>
              <a:t>מעל</a:t>
            </a:r>
            <a:r>
              <a:rPr sz="2200" b="1" dirty="0"/>
              <a:t> </a:t>
            </a:r>
            <a:r>
              <a:rPr sz="2200" b="1" dirty="0" err="1"/>
              <a:t>הים</a:t>
            </a:r>
            <a:r>
              <a:rPr lang="he-IL" sz="2200" b="1" dirty="0"/>
              <a:t>)</a:t>
            </a:r>
            <a:r>
              <a:rPr sz="2200" b="1" dirty="0"/>
              <a:t> </a:t>
            </a:r>
            <a:r>
              <a:rPr sz="2200" b="1" dirty="0" err="1"/>
              <a:t>בלי</a:t>
            </a:r>
            <a:r>
              <a:rPr sz="2200" b="1" dirty="0"/>
              <a:t> קו גובה סגור</a:t>
            </a:r>
          </a:p>
          <a:p>
            <a:pPr algn="r" rtl="1">
              <a:spcBef>
                <a:spcPts val="600"/>
              </a:spcBef>
            </a:pPr>
            <a:r>
              <a:rPr sz="2200" b="1" dirty="0"/>
              <a:t>היא בולטת פחות ממרווח </a:t>
            </a:r>
            <a:r>
              <a:rPr sz="2200" b="1" dirty="0" err="1"/>
              <a:t>קווי</a:t>
            </a:r>
            <a:r>
              <a:rPr sz="2200" b="1" dirty="0"/>
              <a:t> </a:t>
            </a:r>
            <a:r>
              <a:rPr sz="2200" b="1" dirty="0" err="1"/>
              <a:t>הגובה</a:t>
            </a:r>
            <a:r>
              <a:rPr lang="he-IL" sz="2200" b="1" dirty="0"/>
              <a:t>(</a:t>
            </a:r>
            <a:r>
              <a:rPr sz="2200" b="1" dirty="0"/>
              <a:t>10</a:t>
            </a:r>
            <a:r>
              <a:rPr lang="he-IL" sz="2200" b="1" dirty="0"/>
              <a:t> </a:t>
            </a:r>
            <a:r>
              <a:rPr sz="2200" b="1" dirty="0"/>
              <a:t>מ׳</a:t>
            </a:r>
            <a:r>
              <a:rPr lang="he-IL" sz="2200" b="1" dirty="0"/>
              <a:t>) -</a:t>
            </a:r>
            <a:r>
              <a:rPr sz="2200" b="1" dirty="0"/>
              <a:t> לכן אין סביבה קו סגור</a:t>
            </a:r>
          </a:p>
          <a:p>
            <a:pPr algn="r" rtl="1">
              <a:spcBef>
                <a:spcPts val="600"/>
              </a:spcBef>
            </a:pPr>
            <a:r>
              <a:rPr sz="2200" b="1" dirty="0"/>
              <a:t>מזהים אותה לפי השלוחות והגאיות </a:t>
            </a:r>
            <a:r>
              <a:rPr sz="2200" b="1" dirty="0" err="1"/>
              <a:t>סביבה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היא כיפה לכל דבר</a:t>
            </a:r>
          </a:p>
          <a:p>
            <a:pPr algn="r" rtl="1">
              <a:spcBef>
                <a:spcPts val="600"/>
              </a:spcBef>
            </a:pPr>
            <a:r>
              <a:rPr sz="2200" b="1" dirty="0" err="1"/>
              <a:t>בניגוד</a:t>
            </a:r>
            <a:r>
              <a:rPr sz="2200" b="1" dirty="0"/>
              <a:t> ל</a:t>
            </a:r>
            <a:r>
              <a:rPr lang="he-IL" sz="2200" b="1" dirty="0"/>
              <a:t>-</a:t>
            </a:r>
            <a:r>
              <a:rPr sz="2200" b="1" dirty="0"/>
              <a:t>967</a:t>
            </a:r>
            <a:r>
              <a:rPr lang="he-IL" sz="2200" b="1" dirty="0"/>
              <a:t> </a:t>
            </a:r>
            <a:r>
              <a:rPr sz="2200" b="1" dirty="0" err="1"/>
              <a:t>שלידה</a:t>
            </a:r>
            <a:r>
              <a:rPr sz="2200" b="1" dirty="0"/>
              <a:t>, שיש לה קו גובה </a:t>
            </a:r>
            <a:r>
              <a:rPr sz="2200" b="1" dirty="0" err="1"/>
              <a:t>סגור</a:t>
            </a:r>
            <a:r>
              <a:rPr sz="2200" b="1" dirty="0"/>
              <a:t> </a:t>
            </a:r>
            <a:r>
              <a:rPr lang="he-IL" sz="2200" b="1" dirty="0"/>
              <a:t>(</a:t>
            </a:r>
            <a:r>
              <a:rPr sz="2200" b="1" dirty="0" err="1"/>
              <a:t>כיפה</a:t>
            </a:r>
            <a:r>
              <a:rPr sz="2200" b="1" dirty="0"/>
              <a:t> </a:t>
            </a:r>
            <a:r>
              <a:rPr sz="2200" b="1" dirty="0" err="1"/>
              <a:t>מסומנת</a:t>
            </a:r>
            <a:r>
              <a:rPr lang="he-IL" sz="2200" b="1" dirty="0"/>
              <a:t>)</a:t>
            </a:r>
            <a:endParaRPr sz="2200" b="1" dirty="0"/>
          </a:p>
        </p:txBody>
      </p:sp>
      <p:pic>
        <p:nvPicPr>
          <p:cNvPr id="4" name="Picture 3" descr="map_smuya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979158"/>
            <a:ext cx="3794760" cy="3951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4A7669B4-6F57-F6DC-3CD2-9E3C6D59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>
            <a:extLst>
              <a:ext uri="{FF2B5EF4-FFF2-40B4-BE49-F238E27FC236}">
                <a16:creationId xmlns:a16="http://schemas.microsoft.com/office/drawing/2014/main" id="{713CC250-A534-8EFF-287A-B8FE1994CC2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he-IL" sz="7200" dirty="0">
                <a:latin typeface="Assistant" pitchFamily="2" charset="-79"/>
                <a:cs typeface="Assistant" pitchFamily="2" charset="-79"/>
              </a:rPr>
              <a:t>תרגול קצר...</a:t>
            </a:r>
            <a:endParaRPr lang="iw-IL" sz="8800" b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FF389B9D-2EA4-2EA4-473C-65BAAF059A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9D1E54F0-B5DF-110D-661E-246785DB13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4591" y="3665299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9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3D017123-F391-190C-3849-6A2EA28D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>
            <a:extLst>
              <a:ext uri="{FF2B5EF4-FFF2-40B4-BE49-F238E27FC236}">
                <a16:creationId xmlns:a16="http://schemas.microsoft.com/office/drawing/2014/main" id="{A37AF60C-2669-8C1D-AC99-5D1AF15EA2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he-IL" sz="7200" dirty="0">
                <a:latin typeface="Assistant" pitchFamily="2" charset="-79"/>
                <a:cs typeface="Assistant" pitchFamily="2" charset="-79"/>
              </a:rPr>
              <a:t>מדרונות</a:t>
            </a:r>
            <a:endParaRPr lang="iw-IL" sz="8800" b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BFFE1E34-0D85-DD50-5C3C-C9AABF89AA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EFD6B757-75DD-0AB7-B2CD-BF6C1E5AD9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73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1C67A6E-FFE5-5552-E492-18E61A7CF9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AE90A6F5-8DFE-7581-0DA3-5BD282C8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סוגי מדרונות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קצוב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שיפוע</a:t>
            </a:r>
            <a:r>
              <a:rPr sz="2200" dirty="0"/>
              <a:t> </a:t>
            </a:r>
            <a:r>
              <a:rPr sz="2200" dirty="0" err="1"/>
              <a:t>קבוע</a:t>
            </a:r>
            <a:r>
              <a:rPr sz="2200" dirty="0"/>
              <a:t> </a:t>
            </a:r>
            <a:r>
              <a:rPr sz="2200" dirty="0" err="1"/>
              <a:t>לכל</a:t>
            </a:r>
            <a:r>
              <a:rPr sz="2200" dirty="0"/>
              <a:t> </a:t>
            </a:r>
            <a:r>
              <a:rPr sz="2200" dirty="0" err="1"/>
              <a:t>אורכו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מתון</a:t>
            </a:r>
            <a:r>
              <a:rPr lang="he-IL" sz="2200" dirty="0"/>
              <a:t>; ת</a:t>
            </a:r>
            <a:r>
              <a:rPr sz="2200" dirty="0" err="1"/>
              <a:t>לול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משתנה</a:t>
            </a:r>
            <a:r>
              <a:rPr lang="he-IL" sz="2200" dirty="0"/>
              <a:t> -</a:t>
            </a:r>
            <a:r>
              <a:rPr sz="2200" dirty="0"/>
              <a:t> </a:t>
            </a:r>
            <a:r>
              <a:rPr sz="2200" dirty="0" err="1"/>
              <a:t>השיפוע</a:t>
            </a:r>
            <a:r>
              <a:rPr sz="2200" dirty="0"/>
              <a:t> </a:t>
            </a:r>
            <a:r>
              <a:rPr sz="2200" dirty="0" err="1"/>
              <a:t>משתנה</a:t>
            </a:r>
            <a:r>
              <a:rPr sz="2200" dirty="0"/>
              <a:t> </a:t>
            </a:r>
            <a:r>
              <a:rPr sz="2200" dirty="0" err="1"/>
              <a:t>לאורך</a:t>
            </a:r>
            <a:r>
              <a:rPr sz="2200" dirty="0"/>
              <a:t> </a:t>
            </a:r>
            <a:r>
              <a:rPr sz="2200" dirty="0" err="1"/>
              <a:t>המדרון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קמור</a:t>
            </a:r>
            <a:r>
              <a:rPr lang="he-IL" sz="2200" dirty="0"/>
              <a:t>;</a:t>
            </a:r>
            <a:r>
              <a:rPr sz="2200" dirty="0"/>
              <a:t> </a:t>
            </a:r>
            <a:r>
              <a:rPr sz="2200" dirty="0" err="1"/>
              <a:t>קעור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lang="he-IL" sz="2200" dirty="0"/>
              <a:t>         </a:t>
            </a:r>
            <a:r>
              <a:rPr sz="2200" dirty="0" err="1"/>
              <a:t>ואיזה</a:t>
            </a:r>
            <a:r>
              <a:rPr sz="2200" dirty="0"/>
              <a:t> </a:t>
            </a:r>
            <a:r>
              <a:rPr sz="2200" dirty="0" err="1"/>
              <a:t>מדרונות</a:t>
            </a:r>
            <a:r>
              <a:rPr sz="2200" dirty="0"/>
              <a:t> </a:t>
            </a:r>
            <a:r>
              <a:rPr sz="2200" dirty="0" err="1"/>
              <a:t>אתם</a:t>
            </a:r>
            <a:r>
              <a:rPr sz="2200" dirty="0"/>
              <a:t> </a:t>
            </a:r>
            <a:r>
              <a:rPr sz="2200" dirty="0" err="1"/>
              <a:t>מכירים</a:t>
            </a:r>
            <a:r>
              <a:rPr sz="2200" dirty="0"/>
              <a:t> </a:t>
            </a:r>
            <a:r>
              <a:rPr sz="2200" dirty="0" err="1"/>
              <a:t>מהשטח</a:t>
            </a:r>
            <a:r>
              <a:rPr sz="2200" dirty="0"/>
              <a:t>?</a:t>
            </a:r>
          </a:p>
        </p:txBody>
      </p:sp>
      <p:pic>
        <p:nvPicPr>
          <p:cNvPr id="4" name="Picture 3" descr="sugei_midron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735035"/>
            <a:ext cx="3794760" cy="24394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40CB7628-5602-50AF-B309-471BF971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561B9727-0ED4-5ED0-37C7-CD6B3A7B1E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מדרון קצוב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כשמו</a:t>
            </a:r>
            <a:r>
              <a:rPr sz="2200" dirty="0"/>
              <a:t> </a:t>
            </a:r>
            <a:r>
              <a:rPr sz="2200" dirty="0" err="1"/>
              <a:t>כן</a:t>
            </a:r>
            <a:r>
              <a:rPr sz="2200" dirty="0"/>
              <a:t> </a:t>
            </a:r>
            <a:r>
              <a:rPr sz="2200" dirty="0" err="1"/>
              <a:t>הוא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שיפוע</a:t>
            </a:r>
            <a:r>
              <a:rPr sz="2200" dirty="0"/>
              <a:t> </a:t>
            </a:r>
            <a:r>
              <a:rPr sz="2200" dirty="0" err="1"/>
              <a:t>קבוע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מתון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מרווחים</a:t>
            </a:r>
            <a:r>
              <a:rPr sz="2200" dirty="0"/>
              <a:t> </a:t>
            </a:r>
            <a:r>
              <a:rPr sz="2200" dirty="0" err="1"/>
              <a:t>באופן</a:t>
            </a:r>
            <a:r>
              <a:rPr sz="2200" dirty="0"/>
              <a:t> </a:t>
            </a:r>
            <a:r>
              <a:rPr sz="2200" dirty="0" err="1"/>
              <a:t>אחיד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תלול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צפופים</a:t>
            </a:r>
            <a:r>
              <a:rPr sz="2200" dirty="0"/>
              <a:t> </a:t>
            </a:r>
            <a:r>
              <a:rPr sz="2200" dirty="0" err="1"/>
              <a:t>באופן</a:t>
            </a:r>
            <a:r>
              <a:rPr sz="2200" dirty="0"/>
              <a:t> </a:t>
            </a:r>
            <a:r>
              <a:rPr sz="2200" dirty="0" err="1"/>
              <a:t>אחיד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המרווח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הקווים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משתנה</a:t>
            </a:r>
            <a:r>
              <a:rPr sz="2200" dirty="0"/>
              <a:t> </a:t>
            </a:r>
            <a:r>
              <a:rPr sz="2200" dirty="0" err="1"/>
              <a:t>לאורך</a:t>
            </a:r>
            <a:r>
              <a:rPr sz="2200" dirty="0"/>
              <a:t> </a:t>
            </a:r>
            <a:r>
              <a:rPr sz="2200" dirty="0" err="1"/>
              <a:t>המדרון</a:t>
            </a:r>
            <a:endParaRPr sz="2200" dirty="0"/>
          </a:p>
        </p:txBody>
      </p:sp>
      <p:pic>
        <p:nvPicPr>
          <p:cNvPr id="4" name="Picture 3" descr="slope_katzu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2803"/>
            <a:ext cx="3794760" cy="1963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783A8B34-6FE4-CE6E-C5C6-70CF1BC226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2E6852E-F438-A4D3-83E3-BFA764569C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מדרון משתנה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שוב</a:t>
            </a:r>
            <a:r>
              <a:rPr sz="2200" dirty="0"/>
              <a:t>, </a:t>
            </a:r>
            <a:r>
              <a:rPr sz="2200" dirty="0" err="1"/>
              <a:t>כשמו</a:t>
            </a:r>
            <a:r>
              <a:rPr sz="2200" dirty="0"/>
              <a:t> </a:t>
            </a:r>
            <a:r>
              <a:rPr sz="2200" dirty="0" err="1"/>
              <a:t>כן</a:t>
            </a:r>
            <a:r>
              <a:rPr sz="2200" dirty="0"/>
              <a:t> </a:t>
            </a:r>
            <a:r>
              <a:rPr sz="2200" dirty="0" err="1"/>
              <a:t>הוא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השיפוע</a:t>
            </a:r>
            <a:r>
              <a:rPr sz="2200" dirty="0"/>
              <a:t> </a:t>
            </a:r>
            <a:r>
              <a:rPr sz="2200" dirty="0" err="1"/>
              <a:t>משתנה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קעור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מתון</a:t>
            </a:r>
            <a:r>
              <a:rPr sz="2200" dirty="0"/>
              <a:t> </a:t>
            </a:r>
            <a:r>
              <a:rPr sz="2200" dirty="0" err="1"/>
              <a:t>למטה</a:t>
            </a:r>
            <a:r>
              <a:rPr sz="2200" dirty="0"/>
              <a:t>, </a:t>
            </a:r>
            <a:r>
              <a:rPr sz="2200" dirty="0" err="1"/>
              <a:t>תלול</a:t>
            </a:r>
            <a:r>
              <a:rPr sz="2200" dirty="0"/>
              <a:t> </a:t>
            </a:r>
            <a:r>
              <a:rPr sz="2200" dirty="0" err="1"/>
              <a:t>למעלה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קמור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תלול</a:t>
            </a:r>
            <a:r>
              <a:rPr sz="2200" dirty="0"/>
              <a:t> </a:t>
            </a:r>
            <a:r>
              <a:rPr sz="2200" dirty="0" err="1"/>
              <a:t>למטה</a:t>
            </a:r>
            <a:r>
              <a:rPr sz="2200" dirty="0"/>
              <a:t>, </a:t>
            </a:r>
            <a:r>
              <a:rPr sz="2200" dirty="0" err="1"/>
              <a:t>מתון</a:t>
            </a:r>
            <a:r>
              <a:rPr sz="2200" dirty="0"/>
              <a:t> </a:t>
            </a:r>
            <a:r>
              <a:rPr sz="2200" dirty="0" err="1"/>
              <a:t>למעלה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צפיפות</a:t>
            </a:r>
            <a:r>
              <a:rPr sz="2200" dirty="0"/>
              <a:t>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הגובה</a:t>
            </a:r>
            <a:r>
              <a:rPr sz="2200" dirty="0"/>
              <a:t> </a:t>
            </a:r>
            <a:r>
              <a:rPr sz="2200" dirty="0" err="1"/>
              <a:t>משתנה</a:t>
            </a:r>
            <a:r>
              <a:rPr sz="2200" dirty="0"/>
              <a:t> </a:t>
            </a:r>
            <a:r>
              <a:rPr sz="2200" dirty="0" err="1"/>
              <a:t>לאורך</a:t>
            </a:r>
            <a:r>
              <a:rPr sz="2200" dirty="0"/>
              <a:t> </a:t>
            </a:r>
            <a:r>
              <a:rPr sz="2200" dirty="0" err="1"/>
              <a:t>המדרון</a:t>
            </a:r>
            <a:endParaRPr sz="2200" dirty="0"/>
          </a:p>
        </p:txBody>
      </p:sp>
      <p:pic>
        <p:nvPicPr>
          <p:cNvPr id="4" name="Picture 3" descr="slope_misht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2803"/>
            <a:ext cx="3794760" cy="1963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75DCC6FE-64C6-4AC3-4E42-13A79CC95F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F9CE289-BFEC-F4E0-4EB9-FD296ED48E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כתף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קטע</a:t>
            </a:r>
            <a:r>
              <a:rPr sz="2200" dirty="0"/>
              <a:t> </a:t>
            </a:r>
            <a:r>
              <a:rPr sz="2200" dirty="0" err="1"/>
              <a:t>מישורי</a:t>
            </a:r>
            <a:r>
              <a:rPr sz="2200" dirty="0"/>
              <a:t> </a:t>
            </a:r>
            <a:r>
              <a:rPr sz="2200" dirty="0" err="1"/>
              <a:t>בתוך</a:t>
            </a:r>
            <a:r>
              <a:rPr sz="2200" dirty="0"/>
              <a:t> </a:t>
            </a:r>
            <a:r>
              <a:rPr sz="2200" dirty="0" err="1"/>
              <a:t>מדרון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במפה</a:t>
            </a:r>
            <a:r>
              <a:rPr sz="2200" dirty="0"/>
              <a:t>: </a:t>
            </a:r>
            <a:r>
              <a:rPr sz="2200" dirty="0" err="1"/>
              <a:t>קבוצת</a:t>
            </a:r>
            <a:r>
              <a:rPr sz="2200" dirty="0"/>
              <a:t> </a:t>
            </a:r>
            <a:r>
              <a:rPr sz="2200" dirty="0" err="1"/>
              <a:t>קווים</a:t>
            </a:r>
            <a:r>
              <a:rPr sz="2200" dirty="0"/>
              <a:t> </a:t>
            </a:r>
            <a:r>
              <a:rPr sz="2200" dirty="0" err="1"/>
              <a:t>מרווחים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קבוצות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קווים</a:t>
            </a:r>
            <a:r>
              <a:rPr sz="2200" dirty="0"/>
              <a:t> </a:t>
            </a:r>
            <a:r>
              <a:rPr sz="2200" dirty="0" err="1"/>
              <a:t>צפופים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כי</a:t>
            </a:r>
            <a:r>
              <a:rPr sz="2200" dirty="0"/>
              <a:t> </a:t>
            </a:r>
            <a:r>
              <a:rPr sz="2200" dirty="0" err="1"/>
              <a:t>אין</a:t>
            </a:r>
            <a:r>
              <a:rPr sz="2200" dirty="0"/>
              <a:t> </a:t>
            </a:r>
            <a:r>
              <a:rPr sz="2200" dirty="0" err="1"/>
              <a:t>ירידה</a:t>
            </a:r>
            <a:r>
              <a:rPr sz="2200" dirty="0"/>
              <a:t> </a:t>
            </a:r>
            <a:r>
              <a:rPr sz="2200" dirty="0" err="1"/>
              <a:t>לכל</a:t>
            </a:r>
            <a:r>
              <a:rPr sz="2200" dirty="0"/>
              <a:t> </a:t>
            </a:r>
            <a:r>
              <a:rPr sz="2200" dirty="0" err="1"/>
              <a:t>הכיוונים</a:t>
            </a:r>
            <a:endParaRPr sz="2200" dirty="0"/>
          </a:p>
        </p:txBody>
      </p:sp>
      <p:pic>
        <p:nvPicPr>
          <p:cNvPr id="4" name="Picture 3" descr="kat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00096"/>
            <a:ext cx="3794760" cy="2109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D206787-058D-52B1-3F4A-66AF16A8B8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E6C68F6-E3EC-4FE7-8512-4B1C16A73B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איך נבדיל בין כיפה סמויה לכתף?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לפי הצורות סביבה!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כיפה</a:t>
            </a:r>
            <a:r>
              <a:rPr sz="2200" dirty="0"/>
              <a:t> </a:t>
            </a:r>
            <a:r>
              <a:rPr sz="2200" dirty="0" err="1"/>
              <a:t>סמויה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יש</a:t>
            </a:r>
            <a:r>
              <a:rPr sz="2200" dirty="0"/>
              <a:t> </a:t>
            </a:r>
            <a:r>
              <a:rPr sz="2200" dirty="0" err="1"/>
              <a:t>ממנה</a:t>
            </a:r>
            <a:r>
              <a:rPr sz="2200" dirty="0"/>
              <a:t> </a:t>
            </a:r>
            <a:r>
              <a:rPr sz="2200" dirty="0" err="1"/>
              <a:t>ירידה</a:t>
            </a:r>
            <a:r>
              <a:rPr sz="2200" dirty="0"/>
              <a:t>: </a:t>
            </a:r>
            <a:r>
              <a:rPr sz="2200" dirty="0" err="1"/>
              <a:t>שלוחות</a:t>
            </a:r>
            <a:r>
              <a:rPr sz="2200" dirty="0"/>
              <a:t> </a:t>
            </a:r>
            <a:r>
              <a:rPr sz="2200" dirty="0" err="1"/>
              <a:t>וג</a:t>
            </a:r>
            <a:r>
              <a:rPr lang="he-IL" sz="2200" dirty="0"/>
              <a:t>י</a:t>
            </a:r>
            <a:r>
              <a:rPr sz="2200" dirty="0" err="1"/>
              <a:t>איות</a:t>
            </a:r>
            <a:r>
              <a:rPr sz="2200" dirty="0"/>
              <a:t> </a:t>
            </a:r>
            <a:r>
              <a:rPr sz="2200" dirty="0" err="1"/>
              <a:t>סביבה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חייב</a:t>
            </a:r>
            <a:r>
              <a:rPr sz="2200" dirty="0"/>
              <a:t> </a:t>
            </a:r>
            <a:r>
              <a:rPr sz="2200" dirty="0" err="1"/>
              <a:t>אוכף</a:t>
            </a:r>
            <a:r>
              <a:rPr sz="2200" dirty="0"/>
              <a:t> </a:t>
            </a:r>
            <a:r>
              <a:rPr sz="2200" dirty="0" err="1"/>
              <a:t>משני</a:t>
            </a:r>
            <a:r>
              <a:rPr sz="2200" dirty="0"/>
              <a:t> </a:t>
            </a:r>
            <a:r>
              <a:rPr sz="2200" dirty="0" err="1"/>
              <a:t>הצדדים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כתף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יושבת</a:t>
            </a:r>
            <a:r>
              <a:rPr sz="2200" dirty="0"/>
              <a:t> </a:t>
            </a:r>
            <a:r>
              <a:rPr sz="2200" dirty="0" err="1"/>
              <a:t>בתוך</a:t>
            </a:r>
            <a:r>
              <a:rPr sz="2200" dirty="0"/>
              <a:t> </a:t>
            </a:r>
            <a:r>
              <a:rPr sz="2200" dirty="0" err="1"/>
              <a:t>מדרון</a:t>
            </a:r>
            <a:r>
              <a:rPr sz="2200" dirty="0"/>
              <a:t>, </a:t>
            </a:r>
            <a:r>
              <a:rPr sz="2200" dirty="0" err="1"/>
              <a:t>וההמשך</a:t>
            </a:r>
            <a:r>
              <a:rPr sz="2200" dirty="0"/>
              <a:t> </a:t>
            </a:r>
            <a:r>
              <a:rPr sz="2200" dirty="0" err="1"/>
              <a:t>כלפי</a:t>
            </a:r>
            <a:r>
              <a:rPr sz="2200" dirty="0"/>
              <a:t> </a:t>
            </a:r>
            <a:r>
              <a:rPr sz="2200" dirty="0" err="1"/>
              <a:t>מעלה</a:t>
            </a:r>
            <a:r>
              <a:rPr sz="2200" dirty="0"/>
              <a:t> </a:t>
            </a:r>
            <a:r>
              <a:rPr sz="2200" dirty="0" err="1"/>
              <a:t>נשאר</a:t>
            </a:r>
            <a:r>
              <a:rPr sz="2200" dirty="0"/>
              <a:t> </a:t>
            </a:r>
            <a:r>
              <a:rPr sz="2200" dirty="0" err="1"/>
              <a:t>עלייה</a:t>
            </a:r>
            <a:endParaRPr sz="2200" dirty="0"/>
          </a:p>
        </p:txBody>
      </p:sp>
      <p:pic>
        <p:nvPicPr>
          <p:cNvPr id="4" name="Picture 3" descr="smuya_kat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873715"/>
            <a:ext cx="3794760" cy="2162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2E9A1593-82DC-92B6-60B7-8EE9F5E115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0C82D586-9FA3-D23F-A93F-29D6319034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46616" y="3341449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מה למדנו היום?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מפה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מפה</a:t>
            </a:r>
            <a:r>
              <a:rPr sz="2200" dirty="0"/>
              <a:t> </a:t>
            </a:r>
            <a:r>
              <a:rPr sz="2200" dirty="0" err="1"/>
              <a:t>לבנה</a:t>
            </a:r>
            <a:r>
              <a:rPr sz="2200" dirty="0"/>
              <a:t>, </a:t>
            </a:r>
            <a:r>
              <a:rPr sz="2200" dirty="0" err="1"/>
              <a:t>רשת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r>
              <a:rPr sz="2200" dirty="0"/>
              <a:t>, </a:t>
            </a:r>
            <a:r>
              <a:rPr sz="2200" dirty="0" err="1"/>
              <a:t>קנה</a:t>
            </a:r>
            <a:r>
              <a:rPr sz="2200" dirty="0"/>
              <a:t> </a:t>
            </a:r>
            <a:r>
              <a:rPr sz="2200" dirty="0" err="1"/>
              <a:t>מידה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גבהים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מוחלט</a:t>
            </a:r>
            <a:r>
              <a:rPr sz="2200" dirty="0"/>
              <a:t> </a:t>
            </a:r>
            <a:r>
              <a:rPr sz="2200" dirty="0" err="1"/>
              <a:t>ויחסי</a:t>
            </a:r>
            <a:r>
              <a:rPr sz="2200" dirty="0"/>
              <a:t>, </a:t>
            </a:r>
            <a:r>
              <a:rPr sz="2200" dirty="0" err="1"/>
              <a:t>תבליט</a:t>
            </a:r>
            <a:r>
              <a:rPr sz="2200" dirty="0"/>
              <a:t>,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,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תכסית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סימנים</a:t>
            </a:r>
            <a:r>
              <a:rPr sz="2200" dirty="0"/>
              <a:t>, </a:t>
            </a:r>
            <a:r>
              <a:rPr sz="2200" dirty="0" err="1"/>
              <a:t>מקרא</a:t>
            </a:r>
            <a:r>
              <a:rPr sz="2200" dirty="0"/>
              <a:t>, </a:t>
            </a:r>
            <a:r>
              <a:rPr sz="2200" dirty="0" err="1"/>
              <a:t>צבעים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צורות</a:t>
            </a:r>
            <a:r>
              <a:rPr sz="2200" dirty="0"/>
              <a:t> </a:t>
            </a:r>
            <a:r>
              <a:rPr sz="2200" b="1" dirty="0" err="1"/>
              <a:t>שטח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, </a:t>
            </a:r>
            <a:r>
              <a:rPr sz="2200" dirty="0" err="1"/>
              <a:t>שלוחה</a:t>
            </a:r>
            <a:r>
              <a:rPr sz="2200" dirty="0"/>
              <a:t>, </a:t>
            </a:r>
            <a:r>
              <a:rPr sz="2200" dirty="0" err="1"/>
              <a:t>גיא</a:t>
            </a:r>
            <a:r>
              <a:rPr sz="2200" dirty="0"/>
              <a:t>, </a:t>
            </a:r>
            <a:r>
              <a:rPr sz="2200" dirty="0" err="1"/>
              <a:t>אוכף</a:t>
            </a:r>
            <a:r>
              <a:rPr sz="2200" dirty="0"/>
              <a:t>, </a:t>
            </a:r>
            <a:r>
              <a:rPr sz="2200" dirty="0" err="1"/>
              <a:t>כיפה</a:t>
            </a:r>
            <a:r>
              <a:rPr sz="2200" dirty="0"/>
              <a:t> </a:t>
            </a:r>
            <a:r>
              <a:rPr sz="2200" dirty="0" err="1"/>
              <a:t>סמויה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מדרונות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קצוב</a:t>
            </a:r>
            <a:r>
              <a:rPr sz="2200" dirty="0"/>
              <a:t>, </a:t>
            </a:r>
            <a:r>
              <a:rPr sz="2200" dirty="0" err="1"/>
              <a:t>משתנה</a:t>
            </a:r>
            <a:r>
              <a:rPr sz="2200" dirty="0"/>
              <a:t>, </a:t>
            </a:r>
            <a:r>
              <a:rPr sz="2200" dirty="0" err="1"/>
              <a:t>קעור</a:t>
            </a:r>
            <a:r>
              <a:rPr sz="2200" dirty="0"/>
              <a:t>, </a:t>
            </a:r>
            <a:r>
              <a:rPr sz="2200" dirty="0" err="1"/>
              <a:t>קמור</a:t>
            </a:r>
            <a:r>
              <a:rPr sz="2200" dirty="0"/>
              <a:t>, </a:t>
            </a:r>
            <a:r>
              <a:rPr sz="2200" dirty="0" err="1"/>
              <a:t>כתף</a:t>
            </a:r>
            <a:endParaRPr sz="2200" dirty="0"/>
          </a:p>
        </p:txBody>
      </p:sp>
      <p:pic>
        <p:nvPicPr>
          <p:cNvPr id="4" name="Picture 3" descr="כיצד להדפיס מפה טופוגרפית בקנ&quot;מ מדויק">
            <a:extLst>
              <a:ext uri="{FF2B5EF4-FFF2-40B4-BE49-F238E27FC236}">
                <a16:creationId xmlns:a16="http://schemas.microsoft.com/office/drawing/2014/main" id="{F6DE6064-2ED5-F032-97B6-E10FB48DB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3193" y="1136580"/>
            <a:ext cx="3246730" cy="4584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0" y="2530475"/>
            <a:ext cx="3810000" cy="1102560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וזהו</a:t>
            </a:r>
            <a:r>
              <a:rPr dirty="0"/>
              <a:t> </a:t>
            </a:r>
            <a:r>
              <a:rPr dirty="0" err="1"/>
              <a:t>להיום</a:t>
            </a:r>
            <a:r>
              <a:rPr lang="he-IL" dirty="0"/>
              <a:t>?</a:t>
            </a:r>
            <a:endParaRPr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51778B1-AAE7-A2B2-E009-FCEE03E02C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10F67AD7-9909-8A65-ACF1-F2BF79334B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03866" y="2436574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4E35-8C3A-843B-49CA-F93E6973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6D24-5C5B-39E6-24DB-C68AB934C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4240" y="2877720"/>
            <a:ext cx="5303520" cy="1102560"/>
          </a:xfrm>
        </p:spPr>
        <p:txBody>
          <a:bodyPr>
            <a:normAutofit fontScale="90000"/>
          </a:bodyPr>
          <a:lstStyle/>
          <a:p>
            <a:pPr rtl="1">
              <a:spcBef>
                <a:spcPts val="600"/>
              </a:spcBef>
            </a:pPr>
            <a:r>
              <a:rPr lang="he-IL" dirty="0" err="1"/>
              <a:t>סתםםםם</a:t>
            </a:r>
            <a:r>
              <a:rPr lang="he-IL" dirty="0"/>
              <a:t> נו יש עוד</a:t>
            </a:r>
            <a:endParaRPr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53FCAA72-4645-3ADD-B48D-2190743296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77053AEB-A92D-277D-C6FD-F938008FFA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441" y="2705100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5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D1D1-1B33-9BC0-A9C3-65FDB5BBC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0018-97F9-F53A-5B43-3251F6221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4240" y="2877720"/>
            <a:ext cx="5303520" cy="1102560"/>
          </a:xfrm>
        </p:spPr>
        <p:txBody>
          <a:bodyPr>
            <a:normAutofit/>
          </a:bodyPr>
          <a:lstStyle/>
          <a:p>
            <a:pPr rtl="1">
              <a:spcBef>
                <a:spcPts val="600"/>
              </a:spcBef>
            </a:pPr>
            <a:r>
              <a:rPr lang="he-IL" dirty="0" err="1"/>
              <a:t>הניווטיה</a:t>
            </a:r>
            <a:endParaRPr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73DC7E03-822D-3596-CA8A-F90E1D7D44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730D3C1-FD4F-95E9-8D7D-172C82C7DF9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441" y="2705100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19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4D5B-16A7-C737-3DAD-E1E0BAC2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0BC6F40C-971B-1CCA-4D06-ACFA367D19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E40D314-0D3F-769C-4473-F2D0A8C425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470441" y="2705100"/>
            <a:ext cx="1447800" cy="1447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EE6A5A-F997-F862-5202-72EA4FCA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lang="he-IL" dirty="0" err="1"/>
              <a:t>שו</a:t>
            </a:r>
            <a:r>
              <a:rPr lang="he-IL" dirty="0"/>
              <a:t>?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94E51-1C16-DB05-C0BE-29F5F3147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4027" y="1790000"/>
            <a:ext cx="7460000" cy="4500000"/>
          </a:xfrm>
        </p:spPr>
        <p:txBody>
          <a:bodyPr/>
          <a:lstStyle/>
          <a:p>
            <a:pPr algn="r" rtl="1">
              <a:lnSpc>
                <a:spcPct val="92000"/>
              </a:lnSpc>
              <a:spcBef>
                <a:spcPts val="200"/>
              </a:spcBef>
            </a:pPr>
            <a:r>
              <a:rPr lang="he-IL" sz="2200" dirty="0"/>
              <a:t>אתר שמטרתו לעזור לכם ללמוד קריאת מפה וניווט בצורה אפקטיבית יותר!</a:t>
            </a:r>
          </a:p>
          <a:p>
            <a:pPr algn="r" rtl="1">
              <a:lnSpc>
                <a:spcPct val="92000"/>
              </a:lnSpc>
              <a:spcBef>
                <a:spcPts val="200"/>
              </a:spcBef>
            </a:pPr>
            <a:r>
              <a:rPr lang="he-IL" sz="2200" dirty="0"/>
              <a:t>כולל פעילויות אינטראקטיביות לשיוך בין דברים שנראה בשטח לבין הסימולים שלהם </a:t>
            </a:r>
            <a:r>
              <a:rPr lang="he-IL" sz="2200" dirty="0" err="1"/>
              <a:t>בתכסית</a:t>
            </a:r>
            <a:endParaRPr lang="he-IL" sz="2200" dirty="0"/>
          </a:p>
          <a:p>
            <a:pPr algn="r" rtl="1">
              <a:lnSpc>
                <a:spcPct val="92000"/>
              </a:lnSpc>
              <a:spcBef>
                <a:spcPts val="200"/>
              </a:spcBef>
            </a:pPr>
            <a:r>
              <a:rPr lang="he-IL" sz="2200" dirty="0"/>
              <a:t> תרגולים לדקירת נ.צ ובניית צירי ניווט (יותר על זה בהמשך </a:t>
            </a:r>
            <a:r>
              <a:rPr lang="he-IL" sz="2200" dirty="0">
                <a:sym typeface="Wingdings" pitchFamily="2" charset="2"/>
              </a:rPr>
              <a:t>)</a:t>
            </a:r>
          </a:p>
          <a:p>
            <a:pPr algn="r" rtl="1">
              <a:lnSpc>
                <a:spcPct val="92000"/>
              </a:lnSpc>
              <a:spcBef>
                <a:spcPts val="200"/>
              </a:spcBef>
            </a:pPr>
            <a:r>
              <a:rPr lang="en-US" sz="2200" dirty="0">
                <a:sym typeface="Wingdings" pitchFamily="2" charset="2"/>
              </a:rPr>
              <a:t>Dark mode</a:t>
            </a:r>
            <a:r>
              <a:rPr lang="he-IL" sz="2200" dirty="0">
                <a:sym typeface="Wingdings" pitchFamily="2" charset="2"/>
              </a:rPr>
              <a:t> (חובה)</a:t>
            </a:r>
          </a:p>
          <a:p>
            <a:pPr algn="r" rtl="1">
              <a:lnSpc>
                <a:spcPct val="92000"/>
              </a:lnSpc>
              <a:spcBef>
                <a:spcPts val="200"/>
              </a:spcBef>
            </a:pPr>
            <a:r>
              <a:rPr lang="en-US" sz="2200" dirty="0" err="1">
                <a:sym typeface="Wingdings" pitchFamily="2" charset="2"/>
              </a:rPr>
              <a:t>NotebookLM</a:t>
            </a:r>
            <a:r>
              <a:rPr lang="he-IL" sz="2200" dirty="0">
                <a:sym typeface="Wingdings" pitchFamily="2" charset="2"/>
              </a:rPr>
              <a:t> שלמד את החומר הזה יותר טוב מכולנו ביחד</a:t>
            </a:r>
          </a:p>
          <a:p>
            <a:r>
              <a:rPr lang="he-IL" sz="2200" dirty="0">
                <a:sym typeface="Wingdings" pitchFamily="2" charset="2"/>
              </a:rPr>
              <a:t>למה אתם מחכים? תוציאו טלפונים / </a:t>
            </a:r>
            <a:r>
              <a:rPr lang="he-IL" sz="2200" dirty="0" err="1">
                <a:sym typeface="Wingdings" pitchFamily="2" charset="2"/>
              </a:rPr>
              <a:t>לפטופים</a:t>
            </a:r>
            <a:r>
              <a:rPr lang="he-IL" sz="2200" dirty="0">
                <a:sym typeface="Wingdings" pitchFamily="2" charset="2"/>
              </a:rPr>
              <a:t> ותרשמו: </a:t>
            </a:r>
          </a:p>
          <a:p>
            <a:pPr>
              <a:buNone/>
            </a:pPr>
            <a:r>
              <a:rPr lang="en-US" sz="2200" dirty="0">
                <a:sym typeface="Wingdings" pitchFamily="2" charset="2"/>
                <a:hlinkClick r:id="rId5"/>
              </a:rPr>
              <a:t>https://regaj.github.io/nivutia</a:t>
            </a:r>
          </a:p>
          <a:p>
            <a:pPr>
              <a:buNone/>
            </a:pPr>
            <a:r>
              <a:rPr lang="he-IL" sz="2200" dirty="0">
                <a:sym typeface="Wingdings" pitchFamily="2" charset="2"/>
              </a:rPr>
              <a:t> (או דרך </a:t>
            </a:r>
            <a:r>
              <a:rPr lang="he-IL" sz="2200" dirty="0" err="1">
                <a:sym typeface="Wingdings" pitchFamily="2" charset="2"/>
              </a:rPr>
              <a:t>הקה</a:t>
            </a:r>
            <a:r>
              <a:rPr lang="en-US" sz="2200" dirty="0">
                <a:sym typeface="Wingdings" pitchFamily="2" charset="2"/>
              </a:rPr>
              <a:t>”</a:t>
            </a:r>
            <a:r>
              <a:rPr lang="he-IL" sz="2200" dirty="0">
                <a:sym typeface="Wingdings" pitchFamily="2" charset="2"/>
              </a:rPr>
              <a:t>דיה כשזה יתווסף)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3C9B4-2C02-2BEE-4B0E-6D82952A1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80" y="2316480"/>
            <a:ext cx="4146347" cy="267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52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BB71-74BA-C13A-58A7-D364B822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B8BB-9861-D786-429E-F8157021E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2515235"/>
            <a:ext cx="10922000" cy="1102560"/>
          </a:xfrm>
        </p:spPr>
        <p:txBody>
          <a:bodyPr>
            <a:normAutofit/>
          </a:bodyPr>
          <a:lstStyle/>
          <a:p>
            <a:pPr rtl="1">
              <a:spcBef>
                <a:spcPts val="600"/>
              </a:spcBef>
            </a:pPr>
            <a:r>
              <a:rPr dirty="0" err="1"/>
              <a:t>וזהו</a:t>
            </a:r>
            <a:r>
              <a:rPr dirty="0"/>
              <a:t> </a:t>
            </a:r>
            <a:r>
              <a:rPr lang="he-IL" dirty="0"/>
              <a:t>לשיעור הזה</a:t>
            </a:r>
            <a:r>
              <a:rPr lang="en-US" dirty="0"/>
              <a:t> </a:t>
            </a:r>
            <a:r>
              <a:rPr lang="he-IL" dirty="0"/>
              <a:t>אבל באמת הפעם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4A87D-50E7-A305-94CD-2A006C7D802F}"/>
              </a:ext>
            </a:extLst>
          </p:cNvPr>
          <p:cNvSpPr txBox="1"/>
          <p:nvPr/>
        </p:nvSpPr>
        <p:spPr>
          <a:xfrm>
            <a:off x="4295667" y="3617795"/>
            <a:ext cx="3600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sz="2800" dirty="0">
                <a:latin typeface="Assistant" pitchFamily="2" charset="-79"/>
                <a:cs typeface="Assistant" pitchFamily="2" charset="-79"/>
              </a:rPr>
              <a:t>״הדרך ארוכה ומפותלת...״</a:t>
            </a:r>
            <a:endParaRPr lang="en-IL" sz="280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E90D0999-2F12-9659-46A3-C90491AFA0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1C3CB9D3-80E2-DDDB-43F1-6123A82C3E9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022" y="2431605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21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קקס יום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4518</TotalTime>
  <Words>2679</Words>
  <Application>Microsoft Office PowerPoint</Application>
  <PresentationFormat>מסך רחב</PresentationFormat>
  <Paragraphs>284</Paragraphs>
  <Slides>45</Slides>
  <Notes>45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45</vt:i4>
      </vt:variant>
    </vt:vector>
  </HeadingPairs>
  <TitlesOfParts>
    <vt:vector size="51" baseType="lpstr">
      <vt:lpstr>Wingdings</vt:lpstr>
      <vt:lpstr>Heebo ExtraBold</vt:lpstr>
      <vt:lpstr>Assistant</vt:lpstr>
      <vt:lpstr>Helvetica Neue</vt:lpstr>
      <vt:lpstr>Arial</vt:lpstr>
      <vt:lpstr>קקס יום</vt:lpstr>
      <vt:lpstr>מבוא לניווטים ״לך-לך מארצך וממולדתך ומבית אביך אל-הארץ אשר אראך״</vt:lpstr>
      <vt:lpstr>מטרות השיעור</vt:lpstr>
      <vt:lpstr>ציפיות לקראת הניווטים</vt:lpstr>
      <vt:lpstr>מצגת של PowerPoint‏</vt:lpstr>
      <vt:lpstr>מצגת של PowerPoint‏</vt:lpstr>
      <vt:lpstr>מצגת של PowerPoint‏</vt:lpstr>
      <vt:lpstr>מפה - בשביל מה?</vt:lpstr>
      <vt:lpstr>רשת ישראל - רשת הקואורדינטות</vt:lpstr>
      <vt:lpstr>דוגמה מהשטח - כפר עציון וגבעת הסלעים</vt:lpstr>
      <vt:lpstr>גבהים</vt:lpstr>
      <vt:lpstr>גובה מוחלט וגובה יחסי</vt:lpstr>
      <vt:lpstr>תבליט</vt:lpstr>
      <vt:lpstr>נקודות גובה</vt:lpstr>
      <vt:lpstr>תכסית</vt:lpstr>
      <vt:lpstr>תכסית - צבעים</vt:lpstr>
      <vt:lpstr>תכסית - צבעים</vt:lpstr>
      <vt:lpstr>מפה לבנה</vt:lpstr>
      <vt:lpstr>מה למדנו עד עכשיו?</vt:lpstr>
      <vt:lpstr>צורות שטח</vt:lpstr>
      <vt:lpstr>דוגמה חיה – שוב כפר עציון</vt:lpstr>
      <vt:lpstr>כיפה</vt:lpstr>
      <vt:lpstr>כיפה - במפה אמיתית</vt:lpstr>
      <vt:lpstr>שלוחה</vt:lpstr>
      <vt:lpstr>גיא</vt:lpstr>
      <vt:lpstr>שלוחה וגיא - זהו בעצמכם</vt:lpstr>
      <vt:lpstr>שלוחה וגיא - הפתרון</vt:lpstr>
      <vt:lpstr>איך מבדילים בין שלוחה לגיא?</vt:lpstr>
      <vt:lpstr>שלוחה וגיא - גבעת התחמושת</vt:lpstr>
      <vt:lpstr>אוכף</vt:lpstr>
      <vt:lpstr>אוכף - במפה אמיתית</vt:lpstr>
      <vt:lpstr>כיפה סמויה</vt:lpstr>
      <vt:lpstr>כיפה סמויה - במפה אמיתית</vt:lpstr>
      <vt:lpstr>תרגול קצר...</vt:lpstr>
      <vt:lpstr>מדרונות</vt:lpstr>
      <vt:lpstr>סוגי מדרונות</vt:lpstr>
      <vt:lpstr>מדרון קצוב</vt:lpstr>
      <vt:lpstr>מדרון משתנה</vt:lpstr>
      <vt:lpstr>כתף</vt:lpstr>
      <vt:lpstr>איך נבדיל בין כיפה סמויה לכתף?</vt:lpstr>
      <vt:lpstr>מה למדנו היום?</vt:lpstr>
      <vt:lpstr>וזהו להיום?</vt:lpstr>
      <vt:lpstr>סתםםםם נו יש עוד</vt:lpstr>
      <vt:lpstr>הניווטיה</vt:lpstr>
      <vt:lpstr>שו?</vt:lpstr>
      <vt:lpstr>וזהו לשיעור הזה אבל באמת הפעם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</dc:creator>
  <cp:lastModifiedBy>ספיר מרזל</cp:lastModifiedBy>
  <cp:revision>65</cp:revision>
  <dcterms:created xsi:type="dcterms:W3CDTF">2025-03-02T22:49:34Z</dcterms:created>
  <dcterms:modified xsi:type="dcterms:W3CDTF">2026-07-24T20:46:50Z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1b9bfc-c426-492e-a46c-1a922d5fe54b_Enabled">
    <vt:lpwstr>true</vt:lpwstr>
  </property>
  <property fmtid="{D5CDD505-2E9C-101B-9397-08002B2CF9AE}" pid="3" name="MSIP_Label_701b9bfc-c426-492e-a46c-1a922d5fe54b_SetDate">
    <vt:lpwstr>2026-01-08T20:20:59Z</vt:lpwstr>
  </property>
  <property fmtid="{D5CDD505-2E9C-101B-9397-08002B2CF9AE}" pid="4" name="MSIP_Label_701b9bfc-c426-492e-a46c-1a922d5fe54b_Method">
    <vt:lpwstr>Privileged</vt:lpwstr>
  </property>
  <property fmtid="{D5CDD505-2E9C-101B-9397-08002B2CF9AE}" pid="5" name="MSIP_Label_701b9bfc-c426-492e-a46c-1a922d5fe54b_Name">
    <vt:lpwstr>בלמ"ס</vt:lpwstr>
  </property>
  <property fmtid="{D5CDD505-2E9C-101B-9397-08002B2CF9AE}" pid="6" name="MSIP_Label_701b9bfc-c426-492e-a46c-1a922d5fe54b_SiteId">
    <vt:lpwstr>78820852-55fa-450b-908d-45c0d911e76b</vt:lpwstr>
  </property>
  <property fmtid="{D5CDD505-2E9C-101B-9397-08002B2CF9AE}" pid="7" name="MSIP_Label_701b9bfc-c426-492e-a46c-1a922d5fe54b_ActionId">
    <vt:lpwstr>3cfb089e-2623-4a9c-9797-e286ad447be9</vt:lpwstr>
  </property>
  <property fmtid="{D5CDD505-2E9C-101B-9397-08002B2CF9AE}" pid="8" name="MSIP_Label_701b9bfc-c426-492e-a46c-1a922d5fe54b_ContentBits">
    <vt:lpwstr>1</vt:lpwstr>
  </property>
  <property fmtid="{D5CDD505-2E9C-101B-9397-08002B2CF9AE}" pid="9" name="MSIP_Label_701b9bfc-c426-492e-a46c-1a922d5fe54b_Tag">
    <vt:lpwstr>10, 0, 1, 1</vt:lpwstr>
  </property>
  <property fmtid="{D5CDD505-2E9C-101B-9397-08002B2CF9AE}" pid="10" name="ClassificationContentMarkingHeaderLocations">
    <vt:lpwstr>קקס יום:3</vt:lpwstr>
  </property>
  <property fmtid="{D5CDD505-2E9C-101B-9397-08002B2CF9AE}" pid="11" name="ClassificationContentMarkingHeaderText">
    <vt:lpwstr>- בלמ"ס -</vt:lpwstr>
  </property>
</Properties>
</file>