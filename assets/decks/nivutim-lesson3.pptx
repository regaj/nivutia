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6" r:id="rId3"/>
    <p:sldId id="331" r:id="rId4"/>
    <p:sldId id="281" r:id="rId5"/>
    <p:sldId id="33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7" r:id="rId19"/>
    <p:sldId id="278" r:id="rId20"/>
    <p:sldId id="279" r:id="rId21"/>
    <p:sldId id="270" r:id="rId22"/>
    <p:sldId id="271" r:id="rId23"/>
    <p:sldId id="272" r:id="rId24"/>
    <p:sldId id="273" r:id="rId25"/>
    <p:sldId id="274" r:id="rId26"/>
    <p:sldId id="275" r:id="rId27"/>
    <p:sldId id="333" r:id="rId28"/>
  </p:sldIdLst>
  <p:sldSz cx="12192000" cy="6858000"/>
  <p:notesSz cx="6858000" cy="9144000"/>
  <p:embeddedFontLst>
    <p:embeddedFont>
      <p:font typeface="Assistant" pitchFamily="2" charset="-79"/>
      <p:regular r:id="rId31"/>
      <p:bold r:id="rId32"/>
    </p:embeddedFont>
    <p:embeddedFont>
      <p:font typeface="Heebo ExtraBold" pitchFamily="2" charset="-79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SzVdgqBjTH4pr3xzkFkcb1TNl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985A"/>
    <a:srgbClr val="8DAE76"/>
    <a:srgbClr val="C8D8BD"/>
    <a:srgbClr val="D9F2D0"/>
    <a:srgbClr val="A684E9"/>
    <a:srgbClr val="AAD3AF"/>
    <a:srgbClr val="BD9CD3"/>
    <a:srgbClr val="EB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79" autoAdjust="0"/>
    <p:restoredTop sz="94686"/>
  </p:normalViewPr>
  <p:slideViewPr>
    <p:cSldViewPr snapToGrid="0">
      <p:cViewPr varScale="1">
        <p:scale>
          <a:sx n="105" d="100"/>
          <a:sy n="105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2C703-9C66-4A48-B2A1-A84F871FA1C8}" type="doc">
      <dgm:prSet loTypeId="urn:microsoft.com/office/officeart/2005/8/layout/vList2" loCatId="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B4B8AA95-BB1E-D34F-8101-6134342D6392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B9A67802-8271-484D-8136-43B4371498AC}" type="parTrans" cxnId="{1B777EE3-EB18-284C-BEB8-AA5C582288BE}">
      <dgm:prSet/>
      <dgm:spPr/>
      <dgm:t>
        <a:bodyPr/>
        <a:lstStyle/>
        <a:p>
          <a:endParaRPr lang="en-US"/>
        </a:p>
      </dgm:t>
    </dgm:pt>
    <dgm:pt modelId="{944EBA98-F470-6546-B238-1951AA917200}" type="sibTrans" cxnId="{1B777EE3-EB18-284C-BEB8-AA5C582288BE}">
      <dgm:prSet/>
      <dgm:spPr/>
      <dgm:t>
        <a:bodyPr/>
        <a:lstStyle/>
        <a:p>
          <a:endParaRPr lang="en-US"/>
        </a:p>
      </dgm:t>
    </dgm:pt>
    <dgm:pt modelId="{E5DBD961-EE8C-FB4E-BCDF-FBD7D802A5DC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יתכנן ציר ניווט שלם – מסלול וסיפור דרך</a:t>
          </a:r>
          <a:endParaRPr lang="en-US" sz="2000" b="0" i="0" u="none" strike="noStrike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gm:t>
    </dgm:pt>
    <dgm:pt modelId="{D3E6DEC9-1A8A-9E46-A1B5-F44DC90F94BB}" type="parTrans" cxnId="{9232AAC3-C326-D649-9A9C-DCB2B3451C10}">
      <dgm:prSet/>
      <dgm:spPr/>
      <dgm:t>
        <a:bodyPr/>
        <a:lstStyle/>
        <a:p>
          <a:endParaRPr lang="en-US"/>
        </a:p>
      </dgm:t>
    </dgm:pt>
    <dgm:pt modelId="{1CFE98DB-E4CF-0D46-AA4E-369F0D9BBE6B}" type="sibTrans" cxnId="{9232AAC3-C326-D649-9A9C-DCB2B3451C10}">
      <dgm:prSet/>
      <dgm:spPr/>
      <dgm:t>
        <a:bodyPr/>
        <a:lstStyle/>
        <a:p>
          <a:endParaRPr lang="en-US"/>
        </a:p>
      </dgm:t>
    </dgm:pt>
    <dgm:pt modelId="{847466A7-19AC-DF4E-BA4B-B8A4CBA0C488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8F175A14-A457-3145-B662-26E3B17152AC}" type="parTrans" cxnId="{1940EAB9-0415-3146-808C-F8D8C940B3FC}">
      <dgm:prSet/>
      <dgm:spPr/>
      <dgm:t>
        <a:bodyPr/>
        <a:lstStyle/>
        <a:p>
          <a:endParaRPr lang="en-US"/>
        </a:p>
      </dgm:t>
    </dgm:pt>
    <dgm:pt modelId="{6DF1B059-161A-134B-BEA1-B05F959033A0}" type="sibTrans" cxnId="{1940EAB9-0415-3146-808C-F8D8C940B3FC}">
      <dgm:prSet/>
      <dgm:spPr/>
      <dgm:t>
        <a:bodyPr/>
        <a:lstStyle/>
        <a:p>
          <a:endParaRPr lang="en-US"/>
        </a:p>
      </dgm:t>
    </dgm:pt>
    <dgm:pt modelId="{86525833-31E0-1E41-BAA8-F778156E4EB4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יטיל נתוני ניווט על המפה ויבנה מסלול בטוח ועביר</a:t>
          </a:r>
          <a:endParaRPr lang="en-US" sz="2000" b="0" i="0" u="none" strike="noStrike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gm:t>
    </dgm:pt>
    <dgm:pt modelId="{014F92C8-C18B-2347-BE50-8320D2EB3C5E}" type="parTrans" cxnId="{5AEB5CE6-F381-4F42-8E1E-F792D0C1AF72}">
      <dgm:prSet/>
      <dgm:spPr/>
      <dgm:t>
        <a:bodyPr/>
        <a:lstStyle/>
        <a:p>
          <a:endParaRPr lang="en-US"/>
        </a:p>
      </dgm:t>
    </dgm:pt>
    <dgm:pt modelId="{F7297392-A61E-014A-9D54-38E8A2AB7973}" type="sibTrans" cxnId="{5AEB5CE6-F381-4F42-8E1E-F792D0C1AF72}">
      <dgm:prSet/>
      <dgm:spPr/>
      <dgm:t>
        <a:bodyPr/>
        <a:lstStyle/>
        <a:p>
          <a:endParaRPr lang="en-US"/>
        </a:p>
      </dgm:t>
    </dgm:pt>
    <dgm:pt modelId="{8D3803E7-0DE0-2D48-B5A0-D5C8FF4CF9F9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יחלק ציר למקטעים ויכתוב סיפור דרך מלא</a:t>
          </a:r>
        </a:p>
      </dgm:t>
    </dgm:pt>
    <dgm:pt modelId="{6D0D1574-6646-B446-B754-13716F39540B}" type="parTrans" cxnId="{0E90B1C8-2EE6-7945-A0B4-E0BEF218ED5E}">
      <dgm:prSet/>
      <dgm:spPr/>
      <dgm:t>
        <a:bodyPr/>
        <a:lstStyle/>
        <a:p>
          <a:endParaRPr lang="en-US"/>
        </a:p>
      </dgm:t>
    </dgm:pt>
    <dgm:pt modelId="{EEC0D032-8972-FF43-BE80-75CFFD8013C7}" type="sibTrans" cxnId="{0E90B1C8-2EE6-7945-A0B4-E0BEF218ED5E}">
      <dgm:prSet/>
      <dgm:spPr/>
      <dgm:t>
        <a:bodyPr/>
        <a:lstStyle/>
        <a:p>
          <a:endParaRPr lang="en-US"/>
        </a:p>
      </dgm:t>
    </dgm:pt>
    <dgm:pt modelId="{E748B35B-0031-D340-8CB9-C2191C3A20C6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יחשב מרחק הליכה בפועל</a:t>
          </a:r>
        </a:p>
      </dgm:t>
    </dgm:pt>
    <dgm:pt modelId="{64A85A9D-3E86-7743-83ED-C70463403D42}" type="parTrans" cxnId="{F065B750-6298-CF44-9D35-0D77C0628AF9}">
      <dgm:prSet/>
      <dgm:spPr/>
      <dgm:t>
        <a:bodyPr/>
        <a:lstStyle/>
        <a:p>
          <a:endParaRPr lang="en-US"/>
        </a:p>
      </dgm:t>
    </dgm:pt>
    <dgm:pt modelId="{F8C31224-130D-D34A-8947-2915813F4933}" type="sibTrans" cxnId="{F065B750-6298-CF44-9D35-0D77C0628AF9}">
      <dgm:prSet/>
      <dgm:spPr/>
      <dgm:t>
        <a:bodyPr/>
        <a:lstStyle/>
        <a:p>
          <a:endParaRPr lang="en-US"/>
        </a:p>
      </dgm:t>
    </dgm:pt>
    <dgm:pt modelId="{CCD8D3F2-B38B-5A4D-8F7E-9AD0D74C1431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ילמד על שקף בטיחות ועל החשיבות שלו</a:t>
          </a:r>
        </a:p>
      </dgm:t>
    </dgm:pt>
    <dgm:pt modelId="{A5ED2330-175C-D34B-990F-782A8C6D6F77}" type="parTrans" cxnId="{2DB4EE81-E52C-E041-BD27-A1309CF9545C}">
      <dgm:prSet/>
      <dgm:spPr/>
      <dgm:t>
        <a:bodyPr/>
        <a:lstStyle/>
        <a:p>
          <a:endParaRPr lang="en-US"/>
        </a:p>
      </dgm:t>
    </dgm:pt>
    <dgm:pt modelId="{DA94FCA5-7C40-5D45-A66B-ADDA23FF564D}" type="sibTrans" cxnId="{2DB4EE81-E52C-E041-BD27-A1309CF9545C}">
      <dgm:prSet/>
      <dgm:spPr/>
      <dgm:t>
        <a:bodyPr/>
        <a:lstStyle/>
        <a:p>
          <a:endParaRPr lang="en-US"/>
        </a:p>
      </dgm:t>
    </dgm:pt>
    <dgm:pt modelId="{723187E3-41BD-314C-9577-8FC4EA0D8C6B}" type="pres">
      <dgm:prSet presAssocID="{6312C703-9C66-4A48-B2A1-A84F871FA1C8}" presName="linear" presStyleCnt="0">
        <dgm:presLayoutVars>
          <dgm:animLvl val="lvl"/>
          <dgm:resizeHandles val="exact"/>
        </dgm:presLayoutVars>
      </dgm:prSet>
      <dgm:spPr/>
    </dgm:pt>
    <dgm:pt modelId="{EBCD3628-7840-E743-8D1B-AFE434947CC6}" type="pres">
      <dgm:prSet presAssocID="{B4B8AA95-BB1E-D34F-8101-6134342D6392}" presName="parentText" presStyleLbl="node1" presStyleIdx="0" presStyleCnt="2" custLinFactNeighborY="3761">
        <dgm:presLayoutVars>
          <dgm:chMax val="0"/>
          <dgm:bulletEnabled val="1"/>
        </dgm:presLayoutVars>
      </dgm:prSet>
      <dgm:spPr/>
    </dgm:pt>
    <dgm:pt modelId="{6C6E52D5-BA13-9140-826B-77896EDB058F}" type="pres">
      <dgm:prSet presAssocID="{B4B8AA95-BB1E-D34F-8101-6134342D6392}" presName="childText" presStyleLbl="revTx" presStyleIdx="0" presStyleCnt="2">
        <dgm:presLayoutVars>
          <dgm:bulletEnabled val="1"/>
        </dgm:presLayoutVars>
      </dgm:prSet>
      <dgm:spPr/>
    </dgm:pt>
    <dgm:pt modelId="{9CC5E5AC-5707-ED42-95FE-CB9F93C4C22E}" type="pres">
      <dgm:prSet presAssocID="{847466A7-19AC-DF4E-BA4B-B8A4CBA0C488}" presName="parentText" presStyleLbl="node1" presStyleIdx="1" presStyleCnt="2" custLinFactNeighborX="0" custLinFactNeighborY="-7606">
        <dgm:presLayoutVars>
          <dgm:chMax val="0"/>
          <dgm:bulletEnabled val="1"/>
        </dgm:presLayoutVars>
      </dgm:prSet>
      <dgm:spPr/>
    </dgm:pt>
    <dgm:pt modelId="{BB0FE7D8-1D80-8247-827E-ADFEABCAF0A0}" type="pres">
      <dgm:prSet presAssocID="{847466A7-19AC-DF4E-BA4B-B8A4CBA0C488}" presName="childText" presStyleLbl="revTx" presStyleIdx="1" presStyleCnt="2" custLinFactNeighborX="0" custLinFactNeighborY="-12212">
        <dgm:presLayoutVars>
          <dgm:bulletEnabled val="1"/>
        </dgm:presLayoutVars>
      </dgm:prSet>
      <dgm:spPr/>
    </dgm:pt>
  </dgm:ptLst>
  <dgm:cxnLst>
    <dgm:cxn modelId="{C60F9602-443D-CB41-AFB1-6DB3711315AB}" type="presOf" srcId="{B4B8AA95-BB1E-D34F-8101-6134342D6392}" destId="{EBCD3628-7840-E743-8D1B-AFE434947CC6}" srcOrd="0" destOrd="0" presId="urn:microsoft.com/office/officeart/2005/8/layout/vList2"/>
    <dgm:cxn modelId="{7DDE7422-F072-E843-AE29-7F6BFC499064}" type="presOf" srcId="{847466A7-19AC-DF4E-BA4B-B8A4CBA0C488}" destId="{9CC5E5AC-5707-ED42-95FE-CB9F93C4C22E}" srcOrd="0" destOrd="0" presId="urn:microsoft.com/office/officeart/2005/8/layout/vList2"/>
    <dgm:cxn modelId="{22102D28-C9CE-0D48-9840-FAED28A90BCA}" type="presOf" srcId="{E5DBD961-EE8C-FB4E-BCDF-FBD7D802A5DC}" destId="{6C6E52D5-BA13-9140-826B-77896EDB058F}" srcOrd="0" destOrd="0" presId="urn:microsoft.com/office/officeart/2005/8/layout/vList2"/>
    <dgm:cxn modelId="{87834F5B-D545-8A42-9F96-C02FB5DDE37D}" type="presOf" srcId="{E748B35B-0031-D340-8CB9-C2191C3A20C6}" destId="{BB0FE7D8-1D80-8247-827E-ADFEABCAF0A0}" srcOrd="0" destOrd="2" presId="urn:microsoft.com/office/officeart/2005/8/layout/vList2"/>
    <dgm:cxn modelId="{6C50546F-469B-D84D-A44D-94AA26A333B2}" type="presOf" srcId="{86525833-31E0-1E41-BAA8-F778156E4EB4}" destId="{BB0FE7D8-1D80-8247-827E-ADFEABCAF0A0}" srcOrd="0" destOrd="0" presId="urn:microsoft.com/office/officeart/2005/8/layout/vList2"/>
    <dgm:cxn modelId="{F065B750-6298-CF44-9D35-0D77C0628AF9}" srcId="{847466A7-19AC-DF4E-BA4B-B8A4CBA0C488}" destId="{E748B35B-0031-D340-8CB9-C2191C3A20C6}" srcOrd="2" destOrd="0" parTransId="{64A85A9D-3E86-7743-83ED-C70463403D42}" sibTransId="{F8C31224-130D-D34A-8947-2915813F4933}"/>
    <dgm:cxn modelId="{2DB4EE81-E52C-E041-BD27-A1309CF9545C}" srcId="{847466A7-19AC-DF4E-BA4B-B8A4CBA0C488}" destId="{CCD8D3F2-B38B-5A4D-8F7E-9AD0D74C1431}" srcOrd="3" destOrd="0" parTransId="{A5ED2330-175C-D34B-990F-782A8C6D6F77}" sibTransId="{DA94FCA5-7C40-5D45-A66B-ADDA23FF564D}"/>
    <dgm:cxn modelId="{5C663E95-A1E2-4F4A-8304-C231FDE96EFA}" type="presOf" srcId="{CCD8D3F2-B38B-5A4D-8F7E-9AD0D74C1431}" destId="{BB0FE7D8-1D80-8247-827E-ADFEABCAF0A0}" srcOrd="0" destOrd="3" presId="urn:microsoft.com/office/officeart/2005/8/layout/vList2"/>
    <dgm:cxn modelId="{1940EAB9-0415-3146-808C-F8D8C940B3FC}" srcId="{6312C703-9C66-4A48-B2A1-A84F871FA1C8}" destId="{847466A7-19AC-DF4E-BA4B-B8A4CBA0C488}" srcOrd="1" destOrd="0" parTransId="{8F175A14-A457-3145-B662-26E3B17152AC}" sibTransId="{6DF1B059-161A-134B-BEA1-B05F959033A0}"/>
    <dgm:cxn modelId="{9232AAC3-C326-D649-9A9C-DCB2B3451C10}" srcId="{B4B8AA95-BB1E-D34F-8101-6134342D6392}" destId="{E5DBD961-EE8C-FB4E-BCDF-FBD7D802A5DC}" srcOrd="0" destOrd="0" parTransId="{D3E6DEC9-1A8A-9E46-A1B5-F44DC90F94BB}" sibTransId="{1CFE98DB-E4CF-0D46-AA4E-369F0D9BBE6B}"/>
    <dgm:cxn modelId="{0E90B1C8-2EE6-7945-A0B4-E0BEF218ED5E}" srcId="{847466A7-19AC-DF4E-BA4B-B8A4CBA0C488}" destId="{8D3803E7-0DE0-2D48-B5A0-D5C8FF4CF9F9}" srcOrd="1" destOrd="0" parTransId="{6D0D1574-6646-B446-B754-13716F39540B}" sibTransId="{EEC0D032-8972-FF43-BE80-75CFFD8013C7}"/>
    <dgm:cxn modelId="{64D160D9-22A0-6144-80E0-DF8FA155703F}" type="presOf" srcId="{6312C703-9C66-4A48-B2A1-A84F871FA1C8}" destId="{723187E3-41BD-314C-9577-8FC4EA0D8C6B}" srcOrd="0" destOrd="0" presId="urn:microsoft.com/office/officeart/2005/8/layout/vList2"/>
    <dgm:cxn modelId="{1B777EE3-EB18-284C-BEB8-AA5C582288BE}" srcId="{6312C703-9C66-4A48-B2A1-A84F871FA1C8}" destId="{B4B8AA95-BB1E-D34F-8101-6134342D6392}" srcOrd="0" destOrd="0" parTransId="{B9A67802-8271-484D-8136-43B4371498AC}" sibTransId="{944EBA98-F470-6546-B238-1951AA917200}"/>
    <dgm:cxn modelId="{5AEB5CE6-F381-4F42-8E1E-F792D0C1AF72}" srcId="{847466A7-19AC-DF4E-BA4B-B8A4CBA0C488}" destId="{86525833-31E0-1E41-BAA8-F778156E4EB4}" srcOrd="0" destOrd="0" parTransId="{014F92C8-C18B-2347-BE50-8320D2EB3C5E}" sibTransId="{F7297392-A61E-014A-9D54-38E8A2AB7973}"/>
    <dgm:cxn modelId="{8104B4E9-67CD-CF4E-945A-3FC221B8485E}" type="presOf" srcId="{8D3803E7-0DE0-2D48-B5A0-D5C8FF4CF9F9}" destId="{BB0FE7D8-1D80-8247-827E-ADFEABCAF0A0}" srcOrd="0" destOrd="1" presId="urn:microsoft.com/office/officeart/2005/8/layout/vList2"/>
    <dgm:cxn modelId="{C2FDA7BF-E900-C449-A2F4-6039F1184D0D}" type="presParOf" srcId="{723187E3-41BD-314C-9577-8FC4EA0D8C6B}" destId="{EBCD3628-7840-E743-8D1B-AFE434947CC6}" srcOrd="0" destOrd="0" presId="urn:microsoft.com/office/officeart/2005/8/layout/vList2"/>
    <dgm:cxn modelId="{44A905F6-CCA0-4E42-9124-06F97F20615F}" type="presParOf" srcId="{723187E3-41BD-314C-9577-8FC4EA0D8C6B}" destId="{6C6E52D5-BA13-9140-826B-77896EDB058F}" srcOrd="1" destOrd="0" presId="urn:microsoft.com/office/officeart/2005/8/layout/vList2"/>
    <dgm:cxn modelId="{9B25851F-4E97-CC43-84AD-98E5630176CC}" type="presParOf" srcId="{723187E3-41BD-314C-9577-8FC4EA0D8C6B}" destId="{9CC5E5AC-5707-ED42-95FE-CB9F93C4C22E}" srcOrd="2" destOrd="0" presId="urn:microsoft.com/office/officeart/2005/8/layout/vList2"/>
    <dgm:cxn modelId="{5288E246-8249-E34D-BF9D-411DE70BD58A}" type="presParOf" srcId="{723187E3-41BD-314C-9577-8FC4EA0D8C6B}" destId="{BB0FE7D8-1D80-8247-827E-ADFEABCAF0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D3628-7840-E743-8D1B-AFE434947CC6}">
      <dsp:nvSpPr>
        <dsp:cNvPr id="0" name=""/>
        <dsp:cNvSpPr/>
      </dsp:nvSpPr>
      <dsp:spPr>
        <a:xfrm>
          <a:off x="0" y="50891"/>
          <a:ext cx="10108615" cy="80496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39295" y="90186"/>
        <a:ext cx="10030025" cy="726370"/>
      </dsp:txXfrm>
    </dsp:sp>
    <dsp:sp modelId="{6C6E52D5-BA13-9140-826B-77896EDB058F}">
      <dsp:nvSpPr>
        <dsp:cNvPr id="0" name=""/>
        <dsp:cNvSpPr/>
      </dsp:nvSpPr>
      <dsp:spPr>
        <a:xfrm>
          <a:off x="0" y="829069"/>
          <a:ext cx="10108615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יתכנן ציר ניווט שלם – מסלול וסיפור דרך</a:t>
          </a:r>
          <a:endParaRPr lang="en-US" sz="2000" b="0" i="0" u="none" strike="noStrike" kern="1200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sp:txBody>
      <dsp:txXfrm>
        <a:off x="0" y="829069"/>
        <a:ext cx="10108615" cy="712080"/>
      </dsp:txXfrm>
    </dsp:sp>
    <dsp:sp modelId="{9CC5E5AC-5707-ED42-95FE-CB9F93C4C22E}">
      <dsp:nvSpPr>
        <dsp:cNvPr id="0" name=""/>
        <dsp:cNvSpPr/>
      </dsp:nvSpPr>
      <dsp:spPr>
        <a:xfrm>
          <a:off x="0" y="1371897"/>
          <a:ext cx="10108615" cy="804960"/>
        </a:xfrm>
        <a:prstGeom prst="roundRect">
          <a:avLst/>
        </a:prstGeom>
        <a:solidFill>
          <a:schemeClr val="accent3">
            <a:shade val="80000"/>
            <a:hueOff val="-257998"/>
            <a:satOff val="-52986"/>
            <a:lumOff val="39763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39295" y="1411192"/>
        <a:ext cx="10030025" cy="726370"/>
      </dsp:txXfrm>
    </dsp:sp>
    <dsp:sp modelId="{BB0FE7D8-1D80-8247-827E-ADFEABCAF0A0}">
      <dsp:nvSpPr>
        <dsp:cNvPr id="0" name=""/>
        <dsp:cNvSpPr/>
      </dsp:nvSpPr>
      <dsp:spPr>
        <a:xfrm>
          <a:off x="0" y="2247808"/>
          <a:ext cx="10108615" cy="2225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יטיל נתוני ניווט על המפה ויבנה מסלול בטוח ועביר</a:t>
          </a:r>
          <a:endParaRPr lang="en-US" sz="2000" b="0" i="0" u="none" strike="noStrike" kern="1200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יחלק ציר למקטעים ויכתוב סיפור דרך מלא</a:t>
          </a: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יחשב מרחק הליכה בפועל</a:t>
          </a: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ילמד על שקף בטיחות ועל החשיבות שלו</a:t>
          </a:r>
        </a:p>
      </dsp:txBody>
      <dsp:txXfrm>
        <a:off x="0" y="2247808"/>
        <a:ext cx="10108615" cy="2225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A56C19-2A1C-3111-2515-B4B36DC063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137D-2EE3-8A88-5B49-84A4F5BAD3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46A22-0A7C-C443-BB5E-2D99C2CE66C3}" type="datetime1">
              <a:rPr lang="en-US" smtClean="0"/>
              <a:t>7/25/2026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6377B-22B4-8D6C-F8E3-1E74B7FFDF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1F892-B6F4-16B7-47A9-0E6936B98E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69780-F380-1243-A867-6FB669A63A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039380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הפתיחה: היום סוגרים מעגל — מהמפה אל ציר מוכן לשטח.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מהר. היום שיעור בנייה — בסופו הם יודעים להכין ציר מלא בעצמם.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מפת</a:t>
            </a:r>
            <a:r>
              <a:rPr dirty="0"/>
              <a:t> </a:t>
            </a:r>
            <a:r>
              <a:rPr dirty="0" err="1"/>
              <a:t>דרכים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הקורס</a:t>
            </a:r>
            <a:r>
              <a:rPr dirty="0"/>
              <a:t>: </a:t>
            </a:r>
            <a:r>
              <a:rPr dirty="0" err="1"/>
              <a:t>מבוא</a:t>
            </a:r>
            <a:r>
              <a:rPr dirty="0"/>
              <a:t> (</a:t>
            </a:r>
            <a:r>
              <a:rPr dirty="0" err="1"/>
              <a:t>היום</a:t>
            </a:r>
            <a:r>
              <a:rPr dirty="0"/>
              <a:t>), </a:t>
            </a:r>
            <a:r>
              <a:rPr dirty="0" err="1"/>
              <a:t>פרקטיקה</a:t>
            </a:r>
            <a:r>
              <a:rPr dirty="0"/>
              <a:t>, </a:t>
            </a:r>
            <a:r>
              <a:rPr dirty="0" err="1"/>
              <a:t>בניית</a:t>
            </a:r>
            <a:r>
              <a:rPr dirty="0"/>
              <a:t> </a:t>
            </a:r>
            <a:r>
              <a:rPr dirty="0" err="1"/>
              <a:t>צירים</a:t>
            </a:r>
            <a:r>
              <a:rPr dirty="0"/>
              <a:t>. </a:t>
            </a:r>
            <a:r>
              <a:rPr dirty="0" err="1"/>
              <a:t>לחזור</a:t>
            </a:r>
            <a:r>
              <a:rPr dirty="0"/>
              <a:t> </a:t>
            </a:r>
            <a:r>
              <a:rPr dirty="0" err="1"/>
              <a:t>אליה</a:t>
            </a:r>
            <a:r>
              <a:rPr dirty="0"/>
              <a:t>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שיעור</a:t>
            </a:r>
            <a:r>
              <a:rPr dirty="0"/>
              <a:t>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D6DF-937A-2FBC-D827-F0679572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6D148-4D00-CB97-9717-9FEB89CD6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51CCF-5FD1-F936-4D85-A88012E81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שלושת השלבים: תכנון, לימוד, דגשים ובטיחות. בין כל שלב — אישור מפקד. לא מדלגים.</a:t>
            </a:r>
          </a:p>
        </p:txBody>
      </p:sp>
    </p:spTree>
    <p:extLst>
      <p:ext uri="{BB962C8B-B14F-4D97-AF65-F5344CB8AC3E}">
        <p14:creationId xmlns:p14="http://schemas.microsoft.com/office/powerpoint/2010/main" val="2189038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פתיחת שלב א׳.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רשימת הנתונים שמקבלים לפני ניווט. לוודא שמכירים את הקיצורים: נ.ה, נ.ס, נת״ב.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חמשת השיקולים. לשאול לפני שמראים: מה הייתם שוקלים כשאתם בוחרים מסלול?</a:t>
            </a:r>
          </a:p>
          <a:p>
            <a:r>
              <a:t>למיין את התשובות שלהם לתוך: בטיחות, עבירות, אורך, תכסית, תוואי.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מטילים נ.ה ונ.ס על המפה. להראות על מפה אמיתית מוקרנת אם אפשר.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נת״בים: שטחי אש, בורות, מצוקים. אלה קווים אדומים — לא עוברים שם. קודם מסמנים, אחר כך מתכננים.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בוחנים חלופות ובוחרים. לנמק למה המסלול הנבחר עוקף את הסכנות גם אם הוא ארוך יותר.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שלב ב׳ — לימוד הציר.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שלושת הרכיבים: מקטעים, סיפור דרך, שינון.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מקטעים: נקודות ברורות בשטח כל 0.5-1 ק״מ. קצר מדי — אי אפשר ללמוד; ארוך מדי — מאבדים אומדן.</a:t>
            </a:r>
          </a:p>
          <a:p>
            <a:r>
              <a:t>לשאול: אילו נקודות טובות למקטע? (כיפה, אוכף, פיצול...)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טבלת סיפור הדרך — לעבור עמודה-עמודה על הדוגמה.</a:t>
            </a:r>
          </a:p>
          <a:p>
            <a:r>
              <a:t>זה הפורמט שהם ימלאו בעצמם — לוודא שהוא מובן עד הסוף.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חישוב מרחק הליכה: אופקי + אנכי. כל קו גובה בעלייה = ‎+10 מ׳.</a:t>
            </a:r>
          </a:p>
          <a:p>
            <a:r>
              <a:t>תרגיל מהיר על הלוח: מקטע 600 מ׳ עם 4 קווי גובה בעלייה — כמה בפועל? (640).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מרכיבי</a:t>
            </a:r>
            <a:r>
              <a:rPr dirty="0"/>
              <a:t> </a:t>
            </a:r>
            <a:r>
              <a:rPr dirty="0" err="1"/>
              <a:t>סיפור</a:t>
            </a:r>
            <a:r>
              <a:rPr dirty="0"/>
              <a:t> </a:t>
            </a:r>
            <a:r>
              <a:rPr dirty="0" err="1"/>
              <a:t>הדרך</a:t>
            </a:r>
            <a:r>
              <a:rPr dirty="0"/>
              <a:t> </a:t>
            </a:r>
            <a:r>
              <a:rPr dirty="0" err="1"/>
              <a:t>אחד-אחד</a:t>
            </a:r>
            <a:r>
              <a:rPr dirty="0"/>
              <a:t>. </a:t>
            </a:r>
            <a:r>
              <a:rPr dirty="0" err="1"/>
              <a:t>לעצור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נקודות</a:t>
            </a:r>
            <a:r>
              <a:rPr dirty="0"/>
              <a:t> </a:t>
            </a:r>
            <a:r>
              <a:rPr dirty="0" err="1"/>
              <a:t>אימות</a:t>
            </a:r>
            <a:r>
              <a:rPr dirty="0"/>
              <a:t>: 2 </a:t>
            </a:r>
            <a:r>
              <a:rPr dirty="0" err="1"/>
              <a:t>למקטע</a:t>
            </a:r>
            <a:r>
              <a:rPr dirty="0"/>
              <a:t>, 3 </a:t>
            </a:r>
            <a:r>
              <a:rPr dirty="0" err="1"/>
              <a:t>לנ.צ</a:t>
            </a:r>
            <a:r>
              <a:rPr dirty="0"/>
              <a:t>.</a:t>
            </a:r>
          </a:p>
          <a:p>
            <a:r>
              <a:rPr dirty="0" err="1"/>
              <a:t>גבול</a:t>
            </a:r>
            <a:r>
              <a:rPr dirty="0"/>
              <a:t> </a:t>
            </a:r>
            <a:r>
              <a:rPr dirty="0" err="1"/>
              <a:t>ברור</a:t>
            </a:r>
            <a:r>
              <a:rPr dirty="0"/>
              <a:t> = </a:t>
            </a:r>
            <a:r>
              <a:rPr dirty="0" err="1"/>
              <a:t>ביטוח</a:t>
            </a:r>
            <a:r>
              <a:rPr dirty="0"/>
              <a:t>: </a:t>
            </a:r>
            <a:r>
              <a:rPr dirty="0" err="1"/>
              <a:t>הגעתם</a:t>
            </a:r>
            <a:r>
              <a:rPr dirty="0"/>
              <a:t> </a:t>
            </a:r>
            <a:r>
              <a:rPr dirty="0" err="1"/>
              <a:t>אליו</a:t>
            </a:r>
            <a:r>
              <a:rPr dirty="0"/>
              <a:t> — </a:t>
            </a:r>
            <a:r>
              <a:rPr dirty="0" err="1"/>
              <a:t>התברברתם</a:t>
            </a:r>
            <a:r>
              <a:rPr dirty="0"/>
              <a:t>. </a:t>
            </a:r>
            <a:r>
              <a:rPr dirty="0" err="1"/>
              <a:t>לרוב</a:t>
            </a:r>
            <a:r>
              <a:rPr dirty="0"/>
              <a:t> </a:t>
            </a:r>
            <a:r>
              <a:rPr dirty="0" err="1"/>
              <a:t>כביש</a:t>
            </a:r>
            <a:r>
              <a:rPr dirty="0"/>
              <a:t>; </a:t>
            </a:r>
            <a:r>
              <a:rPr dirty="0" err="1"/>
              <a:t>פועלים</a:t>
            </a:r>
            <a:r>
              <a:rPr dirty="0"/>
              <a:t> </a:t>
            </a:r>
            <a:r>
              <a:rPr dirty="0" err="1"/>
              <a:t>לפי</a:t>
            </a:r>
            <a:r>
              <a:rPr dirty="0"/>
              <a:t> </a:t>
            </a:r>
            <a:r>
              <a:rPr dirty="0" err="1"/>
              <a:t>נוהל</a:t>
            </a:r>
            <a:r>
              <a:rPr dirty="0"/>
              <a:t> </a:t>
            </a:r>
            <a:r>
              <a:rPr dirty="0" err="1"/>
              <a:t>ברבור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לעבור על המפה ערך-ערך ולתת לכיתה לחלץ כל נתון לפני שחושפים את הבוליט.</a:t>
            </a:r>
          </a:p>
          <a:p>
            <a:r>
              <a:t>להראות פיזית את ספירת קווי הגובה בעלייה (7) — זה החישוב מהשקופית הקודמת.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להראות איך כל הנתונים מתקפלים לשורה אחת בטבלה.</a:t>
            </a:r>
          </a:p>
          <a:p>
            <a:r>
              <a:t>להדגיש: סיפור טוב = אפשר ללכת אותו בראש בעיניים עצומות. אימות זה מה שרואים, לא מה שמקווים לראות.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עבודה בזוגות, 4-3 דקות, ואז סבב תשובות.</a:t>
            </a:r>
          </a:p>
          <a:p>
            <a:r>
              <a:t>פתרון למנחה: מרחק ~280 מ׳ (ירידה — בלי תוספת), אזימוט ~090, תוואי: קו הרכס, אימות: יורדים כל הדרך + הכיפה הסמויה ממזרח, גבול ברור: התחלתם לעלות — עברתם את האוכף.</a:t>
            </a:r>
          </a:p>
          <a:p>
            <a:r>
              <a:t>טעות נפוצה: להוסיף 10 מ׳ גם על קווים בירידה.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שלב ג׳ — דגשים ובטיחות.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מה כולל שקף הבטיחות — רשימה. הדגש: זה מה שמציג מפקד רואה לפני שהוא מאשר יציאה.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איך בונים: עיגון ב-2 נ.צ. על הצירים, ואז מסרטטים. בלי עיגון נכון — כל השקף זז.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דוגמה חיה של שקף על מפה. לעבור על הסימונים עם הכיתה: איפה הנת״בים, איפה הציר.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קוד הצבעים — לשנן: שחור ג״ג ונ.צ, אדום אסור, כחול נ.צ, ירוק נתיב.</a:t>
            </a:r>
          </a:p>
          <a:p>
            <a:r>
              <a:t>בוחן קצר: אני מצביע על סימון — אתם אומרים צבע.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 בשאלות — לתת לכיתה לענות לפני חשיפה. כל תשובה חסרה = לחזור לשקופית הרלוונטית.</a:t>
            </a:r>
          </a:p>
          <a:p>
            <a:r>
              <a:t>מכאן: בשיעור הבא בונים ציר אמיתי בעצמכם.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F814-6CC6-4AD1-58D5-BA1E2208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DDC70-CBFC-91C7-BD36-FEADA140B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B94D2-E1D6-A026-88EC-3B37FAF1A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פתיחת שלב א׳.</a:t>
            </a:r>
          </a:p>
        </p:txBody>
      </p:sp>
    </p:spTree>
    <p:extLst>
      <p:ext uri="{BB962C8B-B14F-4D97-AF65-F5344CB8AC3E}">
        <p14:creationId xmlns:p14="http://schemas.microsoft.com/office/powerpoint/2010/main" val="89753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ראשית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ימין">
  <p:cSld name="תוכן מימין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1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43"/>
          <p:cNvPicPr preferRelativeResize="0"/>
          <p:nvPr userDrawn="1"/>
        </p:nvPicPr>
        <p:blipFill rotWithShape="1">
          <a:blip r:embed="rId2">
            <a:alphaModFix amt="78000"/>
          </a:blip>
          <a:srcRect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שמאל">
  <p:cSld name="כותרת פרק משמא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 txBox="1">
            <a:spLocks noGrp="1"/>
          </p:cNvSpPr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subTitle" idx="1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ימין">
  <p:cSld name="כותרת פרק מימין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5"/>
          <p:cNvSpPr txBox="1">
            <a:spLocks noGrp="1"/>
          </p:cNvSpPr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subTitle" idx="1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" name="Google Shape;40;p44">
            <a:extLst>
              <a:ext uri="{FF2B5EF4-FFF2-40B4-BE49-F238E27FC236}">
                <a16:creationId xmlns:a16="http://schemas.microsoft.com/office/drawing/2014/main" id="{AA035BCC-F4B2-27F5-3430-904D7C10E629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שמאל">
  <p:cSld name="תוכן משמא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oogle Shape;40;p44">
            <a:extLst>
              <a:ext uri="{FF2B5EF4-FFF2-40B4-BE49-F238E27FC236}">
                <a16:creationId xmlns:a16="http://schemas.microsoft.com/office/drawing/2014/main" id="{D83497E6-9C96-F74C-41D9-372E3A94C3E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9"/>
          <p:cNvPicPr preferRelativeResize="0"/>
          <p:nvPr userDrawn="1"/>
        </p:nvPicPr>
        <p:blipFill rotWithShape="1">
          <a:blip r:embed="rId8">
            <a:alphaModFix amt="25000"/>
          </a:blip>
          <a:srcRect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9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39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he-IL" sz="18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sz="18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sz="44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endParaRPr dirty="0"/>
          </a:p>
        </p:txBody>
      </p:sp>
      <p:sp>
        <p:nvSpPr>
          <p:cNvPr id="10" name="Google Shape;10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sz="2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</a:pPr>
            <a:endParaRPr dirty="0"/>
          </a:p>
        </p:txBody>
      </p:sp>
      <p:sp>
        <p:nvSpPr>
          <p:cNvPr id="11" name="Google Shape;11;p39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w-IL" sz="1000" b="0" i="0" u="none" strike="noStrike" cap="none" dirty="0">
                <a:solidFill>
                  <a:schemeClr val="dk1"/>
                </a:solidFill>
                <a:latin typeface="Assistant" pitchFamily="2" charset="-79"/>
                <a:ea typeface="Calibri"/>
                <a:cs typeface="Assistant" pitchFamily="2" charset="-79"/>
                <a:sym typeface="Calibri"/>
              </a:rPr>
              <a:t>- בלמ"ס -</a:t>
            </a:r>
            <a:endParaRPr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2" name="Google Shape;12;p39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"ממפה תראו וכך תנווטו</a:t>
            </a:r>
            <a:r>
              <a:rPr lang="he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" (לא מ</a:t>
            </a:r>
            <a:r>
              <a:rPr lang="iw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שופטים ז', י"ז</a:t>
            </a:r>
            <a:r>
              <a:rPr lang="he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pic>
        <p:nvPicPr>
          <p:cNvPr id="13" name="Google Shape;13;p39"/>
          <p:cNvPicPr preferRelativeResize="0"/>
          <p:nvPr/>
        </p:nvPicPr>
        <p:blipFill rotWithShape="1">
          <a:blip r:embed="rId9">
            <a:alphaModFix amt="50000"/>
          </a:blip>
          <a:srcRect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9" descr="תמונה שמכילה עיגול, צבעוני&#10;&#10;התיאור נוצר באופן אוטומטי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9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קורס קציני סייבר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8" name="Google Shape;18;p39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- בלמ״ס -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4" name="Google Shape;18;p39">
            <a:extLst>
              <a:ext uri="{FF2B5EF4-FFF2-40B4-BE49-F238E27FC236}">
                <a16:creationId xmlns:a16="http://schemas.microsoft.com/office/drawing/2014/main" id="{19AE7ACA-EB65-F124-DACE-6465109DC42D}"/>
              </a:ext>
            </a:extLst>
          </p:cNvPr>
          <p:cNvSpPr txBox="1"/>
          <p:nvPr userDrawn="1"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72624C2C-4D87-6348-A13B-703904495666}" type="slidenum">
              <a:rPr lang="iw-IL" sz="1200" b="1" i="0" u="none" strike="noStrike" cap="none" smtClean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‹#›</a:t>
            </a:fld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Heebo ExtraBold" pitchFamily="2" charset="-79"/>
          <a:ea typeface="Heebo ExtraBold" pitchFamily="2" charset="-79"/>
          <a:cs typeface="Heebo ExtraBold" pitchFamily="2" charset="-79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2881312"/>
            <a:ext cx="9144000" cy="1095375"/>
          </a:xfrm>
        </p:spPr>
        <p:txBody>
          <a:bodyPr>
            <a:normAutofit fontScale="90000"/>
          </a:bodyPr>
          <a:lstStyle/>
          <a:p>
            <a:pPr rtl="1">
              <a:spcBef>
                <a:spcPts val="600"/>
              </a:spcBef>
            </a:pPr>
            <a:r>
              <a:rPr lang="he-IL" dirty="0"/>
              <a:t>ניווטים בפעם האחרונה (לבינתיים)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7467" y="3589421"/>
            <a:ext cx="6977063" cy="1095375"/>
          </a:xfrm>
        </p:spPr>
        <p:txBody>
          <a:bodyPr/>
          <a:lstStyle/>
          <a:p>
            <a:r>
              <a:rPr lang="he-IL" dirty="0"/>
              <a:t>בניית ציר ניווט וסיפור דרך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מטרות השיעור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643B08C-4D2A-31F1-6D47-BFE816E482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767247"/>
              </p:ext>
            </p:extLst>
          </p:nvPr>
        </p:nvGraphicFramePr>
        <p:xfrm>
          <a:off x="1245184" y="1485901"/>
          <a:ext cx="10108616" cy="4595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5;p3">
            <a:extLst>
              <a:ext uri="{FF2B5EF4-FFF2-40B4-BE49-F238E27FC236}">
                <a16:creationId xmlns:a16="http://schemas.microsoft.com/office/drawing/2014/main" id="{9DF56702-A1AC-6AC9-7C14-51F70DC5CCE5}"/>
              </a:ext>
            </a:extLst>
          </p:cNvPr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מה מצפה לנו?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3" name="תמונה 2" descr="Story pin image">
            <a:extLst>
              <a:ext uri="{FF2B5EF4-FFF2-40B4-BE49-F238E27FC236}">
                <a16:creationId xmlns:a16="http://schemas.microsoft.com/office/drawing/2014/main" id="{880C5758-4828-9D6B-99EB-177C3395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5" b="21148"/>
          <a:stretch>
            <a:fillRect/>
          </a:stretch>
        </p:blipFill>
        <p:spPr>
          <a:xfrm>
            <a:off x="303213" y="1854199"/>
            <a:ext cx="6119096" cy="3485893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25FF4A0-AAB1-7DAA-4CFC-ED93F47DC933}"/>
              </a:ext>
            </a:extLst>
          </p:cNvPr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מבוא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פרקטיקה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מדריך לבניית צירים וסיפור דרך</a:t>
            </a:r>
            <a:endParaRPr lang="en-IL" sz="240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8" name="תמונה 17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CCC9E8EC-23ED-430C-11D0-DB44794FB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1854199"/>
            <a:ext cx="751605" cy="881883"/>
          </a:xfrm>
          <a:prstGeom prst="rect">
            <a:avLst/>
          </a:prstGeom>
        </p:spPr>
      </p:pic>
      <p:pic>
        <p:nvPicPr>
          <p:cNvPr id="30" name="תמונה 29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6D3D5D34-D4CA-8DA9-FD40-CF7FD577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7" y="2988058"/>
            <a:ext cx="751605" cy="881883"/>
          </a:xfrm>
          <a:prstGeom prst="rect">
            <a:avLst/>
          </a:prstGeom>
        </p:spPr>
      </p:pic>
      <p:pic>
        <p:nvPicPr>
          <p:cNvPr id="32" name="תמונה 31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F1A9FC43-31F9-913D-B408-8271D6EFA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4121917"/>
            <a:ext cx="751605" cy="88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05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B120-FD5C-D064-E2A5-FA07E732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62AD-45DD-E8D8-77BB-B3B9FD4B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השלבים בבניית הציר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19438-311D-FE08-CA8F-6C3C65DEAF87}"/>
              </a:ext>
            </a:extLst>
          </p:cNvPr>
          <p:cNvSpPr txBox="1"/>
          <p:nvPr/>
        </p:nvSpPr>
        <p:spPr>
          <a:xfrm>
            <a:off x="217170" y="3395097"/>
            <a:ext cx="34832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*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בין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כל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שלב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יש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לקבל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אישור</a:t>
            </a:r>
            <a:r>
              <a:rPr sz="2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מפקד</a:t>
            </a:r>
            <a:endParaRPr sz="22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CED5C8-1EF3-4176-56F9-15B26B19B9FA}"/>
              </a:ext>
            </a:extLst>
          </p:cNvPr>
          <p:cNvGrpSpPr/>
          <p:nvPr/>
        </p:nvGrpSpPr>
        <p:grpSpPr>
          <a:xfrm>
            <a:off x="5486401" y="1539773"/>
            <a:ext cx="6186485" cy="1325700"/>
            <a:chOff x="5486401" y="1539773"/>
            <a:chExt cx="6186485" cy="132570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8CBB7D3-90A9-DA5D-8A7D-2A22DF521FA7}"/>
                </a:ext>
              </a:extLst>
            </p:cNvPr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תכנון הציר</a:t>
              </a:r>
              <a:endParaRPr lang="en-IL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FAA569D-AB08-643C-932A-E63703E65278}"/>
                </a:ext>
              </a:extLst>
            </p:cNvPr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I</a:t>
              </a:r>
              <a:endParaRPr lang="en-IL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27788-C45D-E9B2-757D-5AFE79BE134D}"/>
              </a:ext>
            </a:extLst>
          </p:cNvPr>
          <p:cNvGrpSpPr/>
          <p:nvPr/>
        </p:nvGrpSpPr>
        <p:grpSpPr>
          <a:xfrm>
            <a:off x="5486400" y="3016525"/>
            <a:ext cx="6186485" cy="1325700"/>
            <a:chOff x="5486401" y="1539773"/>
            <a:chExt cx="6186485" cy="13257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1B37786-FC94-0A39-93CC-D75C93DDF768}"/>
                </a:ext>
              </a:extLst>
            </p:cNvPr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לימוד הציר</a:t>
              </a:r>
              <a:endParaRPr lang="en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E920C2-544B-A073-A317-CF18CA120CD0}"/>
                </a:ext>
              </a:extLst>
            </p:cNvPr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II</a:t>
              </a:r>
              <a:endParaRPr lang="en-IL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3D090F-DCA2-2C22-29BB-1B8C4189E8BC}"/>
              </a:ext>
            </a:extLst>
          </p:cNvPr>
          <p:cNvGrpSpPr/>
          <p:nvPr/>
        </p:nvGrpSpPr>
        <p:grpSpPr>
          <a:xfrm>
            <a:off x="5486400" y="4505844"/>
            <a:ext cx="6186485" cy="1325700"/>
            <a:chOff x="5486401" y="1539773"/>
            <a:chExt cx="6186485" cy="132570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73C9C1B-7D4F-FF74-0864-B632ED806915}"/>
                </a:ext>
              </a:extLst>
            </p:cNvPr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he-IL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דגשים לניווט ובטיחות</a:t>
              </a:r>
              <a:endParaRPr lang="en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231B76B-E122-B252-CD5E-6F4EF93CA13C}"/>
                </a:ext>
              </a:extLst>
            </p:cNvPr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ssistant" pitchFamily="2" charset="-79"/>
                  <a:cs typeface="Assistant" pitchFamily="2" charset="-79"/>
                </a:rPr>
                <a:t>III</a:t>
              </a:r>
              <a:endParaRPr lang="en-IL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4765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3">
            <a:extLst>
              <a:ext uri="{FF2B5EF4-FFF2-40B4-BE49-F238E27FC236}">
                <a16:creationId xmlns:a16="http://schemas.microsoft.com/office/drawing/2014/main" id="{36BCC605-3081-1286-88BA-EE53E7E9A85E}"/>
              </a:ext>
            </a:extLst>
          </p:cNvPr>
          <p:cNvSpPr txBox="1"/>
          <p:nvPr/>
        </p:nvSpPr>
        <p:spPr>
          <a:xfrm>
            <a:off x="-424815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חבר יקר,</a:t>
            </a:r>
          </a:p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לא יאמן שתכף נפרדים...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53AF6B4-5F36-B48F-A9AA-632035F4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48A3805-F69A-CF53-15FF-C7E5BA9B6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2509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9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500" fill="hold"/>
                                        <p:tgtEl>
                                          <p:spTgt spid="8"/>
                                        </p:tgtEl>
                                      </p:cBhvr>
                                      <p:by x="30000" y="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-0.01459 0.3796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8500" y="2769141"/>
            <a:ext cx="7094995" cy="926347"/>
          </a:xfrm>
        </p:spPr>
        <p:txBody>
          <a:bodyPr>
            <a:normAutofit fontScale="90000"/>
          </a:bodyPr>
          <a:lstStyle/>
          <a:p>
            <a:pPr rtl="1">
              <a:spcBef>
                <a:spcPts val="600"/>
              </a:spcBef>
            </a:pPr>
            <a:r>
              <a:rPr dirty="0" err="1"/>
              <a:t>שלב</a:t>
            </a:r>
            <a:r>
              <a:rPr dirty="0"/>
              <a:t> א׳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תכנון</a:t>
            </a:r>
            <a:r>
              <a:rPr dirty="0"/>
              <a:t> </a:t>
            </a:r>
            <a:r>
              <a:rPr dirty="0" err="1"/>
              <a:t>הציר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9411" y="3429001"/>
            <a:ext cx="4873175" cy="926348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קבלת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ובניית</a:t>
            </a:r>
            <a:r>
              <a:rPr dirty="0"/>
              <a:t> </a:t>
            </a:r>
            <a:r>
              <a:rPr dirty="0" err="1"/>
              <a:t>המסלול</a:t>
            </a:r>
            <a:endParaRPr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719B492-6E85-88AD-50DB-376B4FFBB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626CFC4-BC13-A9C5-88FF-AA02AF96E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864B067-5DFD-0C36-2EA3-C3E3809498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AF4BA8A-888D-72A8-06E0-ACE89AB1C8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תכנון</a:t>
            </a:r>
            <a:r>
              <a:rPr dirty="0"/>
              <a:t> </a:t>
            </a:r>
            <a:r>
              <a:rPr dirty="0" err="1"/>
              <a:t>הציר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קבלת</a:t>
            </a:r>
            <a:r>
              <a:rPr sz="2200" dirty="0"/>
              <a:t> </a:t>
            </a:r>
            <a:r>
              <a:rPr sz="2200" dirty="0" err="1"/>
              <a:t>נתוני</a:t>
            </a:r>
            <a:r>
              <a:rPr sz="2200" dirty="0"/>
              <a:t> </a:t>
            </a:r>
            <a:r>
              <a:rPr sz="2200" dirty="0" err="1"/>
              <a:t>הניווט</a:t>
            </a:r>
            <a:r>
              <a:rPr sz="2200" dirty="0"/>
              <a:t>:</a:t>
            </a:r>
            <a:endParaRPr lang="he-IL" sz="2200" dirty="0"/>
          </a:p>
          <a:p>
            <a:pPr lvl="1">
              <a:spcBef>
                <a:spcPts val="600"/>
              </a:spcBef>
            </a:pPr>
            <a:r>
              <a:rPr sz="1800" dirty="0" err="1"/>
              <a:t>חברי</a:t>
            </a:r>
            <a:r>
              <a:rPr sz="1800" dirty="0"/>
              <a:t> </a:t>
            </a:r>
            <a:r>
              <a:rPr sz="1800" dirty="0" err="1"/>
              <a:t>החוליה</a:t>
            </a:r>
            <a:endParaRPr lang="he-IL" sz="1800" dirty="0"/>
          </a:p>
          <a:p>
            <a:pPr lvl="1">
              <a:spcBef>
                <a:spcPts val="600"/>
              </a:spcBef>
            </a:pPr>
            <a:r>
              <a:rPr sz="1800" dirty="0" err="1"/>
              <a:t>נקודת</a:t>
            </a:r>
            <a:r>
              <a:rPr sz="1800" dirty="0"/>
              <a:t> </a:t>
            </a:r>
            <a:r>
              <a:rPr sz="1800" dirty="0" err="1"/>
              <a:t>התחלה</a:t>
            </a:r>
            <a:r>
              <a:rPr lang="he-IL" sz="1800" dirty="0"/>
              <a:t>(</a:t>
            </a:r>
            <a:r>
              <a:rPr sz="1800" dirty="0" err="1"/>
              <a:t>נ.ה</a:t>
            </a:r>
            <a:r>
              <a:rPr lang="he-IL" sz="1800" dirty="0"/>
              <a:t>) </a:t>
            </a:r>
          </a:p>
          <a:p>
            <a:pPr lvl="1">
              <a:spcBef>
                <a:spcPts val="600"/>
              </a:spcBef>
            </a:pPr>
            <a:r>
              <a:rPr sz="1800" dirty="0" err="1"/>
              <a:t>נקודת</a:t>
            </a:r>
            <a:r>
              <a:rPr sz="1800" dirty="0"/>
              <a:t> </a:t>
            </a:r>
            <a:r>
              <a:rPr sz="1800" dirty="0" err="1"/>
              <a:t>סוף</a:t>
            </a:r>
            <a:r>
              <a:rPr lang="he-IL" sz="1800" dirty="0"/>
              <a:t>(</a:t>
            </a:r>
            <a:r>
              <a:rPr sz="1800" dirty="0" err="1"/>
              <a:t>נ.ס</a:t>
            </a:r>
            <a:r>
              <a:rPr lang="he-IL" sz="1800" dirty="0"/>
              <a:t>)</a:t>
            </a:r>
          </a:p>
          <a:p>
            <a:pPr lvl="1">
              <a:spcBef>
                <a:spcPts val="600"/>
              </a:spcBef>
            </a:pPr>
            <a:r>
              <a:rPr sz="1800" dirty="0" err="1"/>
              <a:t>אורך</a:t>
            </a:r>
            <a:r>
              <a:rPr sz="1800" dirty="0"/>
              <a:t> </a:t>
            </a:r>
            <a:r>
              <a:rPr sz="1800" dirty="0" err="1"/>
              <a:t>צי</a:t>
            </a:r>
            <a:r>
              <a:rPr lang="he-IL" sz="1800" dirty="0"/>
              <a:t>ר</a:t>
            </a:r>
          </a:p>
          <a:p>
            <a:pPr>
              <a:spcBef>
                <a:spcPts val="600"/>
              </a:spcBef>
            </a:pPr>
            <a:r>
              <a:rPr lang="he-IL" sz="2200" dirty="0"/>
              <a:t>הטלת הנתונים על גבי המפה</a:t>
            </a:r>
          </a:p>
          <a:p>
            <a:pPr>
              <a:spcBef>
                <a:spcPts val="600"/>
              </a:spcBef>
            </a:pPr>
            <a:r>
              <a:rPr lang="he-IL" sz="2200" dirty="0"/>
              <a:t>בניית ציר ההליכה האולטימטיבי</a:t>
            </a:r>
          </a:p>
          <a:p>
            <a:pPr>
              <a:spcBef>
                <a:spcPts val="600"/>
              </a:spcBef>
            </a:pPr>
            <a:endParaRPr lang="he-IL" sz="2200" dirty="0"/>
          </a:p>
          <a:p>
            <a:pPr lvl="1">
              <a:spcBef>
                <a:spcPts val="600"/>
              </a:spcBef>
            </a:pPr>
            <a:endParaRPr lang="he-IL" sz="1800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9FAEB37-BF21-3A79-06A7-B76D573E4A22}"/>
              </a:ext>
            </a:extLst>
          </p:cNvPr>
          <p:cNvSpPr txBox="1"/>
          <p:nvPr/>
        </p:nvSpPr>
        <p:spPr>
          <a:xfrm>
            <a:off x="2303362" y="2478668"/>
            <a:ext cx="6904646" cy="120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1" indent="-2286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סוג ניווט</a:t>
            </a:r>
          </a:p>
          <a:p>
            <a:pPr marL="914400" marR="0" lvl="1" indent="-2286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נ.צ. לדקירה</a:t>
            </a:r>
          </a:p>
          <a:p>
            <a:pPr marL="914400" marR="0" lvl="1" indent="-2286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נת״בים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(נקודות תורפה בטיחותיות)-שטחי אש,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שד״מים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/>
                <a:cs typeface="Assistant"/>
                <a:sym typeface="Assistant"/>
              </a:rPr>
              <a:t>, בורות ומאגרי מים</a:t>
            </a:r>
          </a:p>
          <a:p>
            <a:endParaRPr lang="en-IL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CAB18D7B-C7F1-DB5F-5AF1-E8A1FFA68B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1E4C3F55-64DB-3736-D12D-89AA86CA84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מהם השיקולים לבניית ציר ניווט?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בטיחות</a:t>
            </a:r>
            <a:r>
              <a:rPr sz="2200" b="1" dirty="0"/>
              <a:t>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בטוח</a:t>
            </a:r>
            <a:r>
              <a:rPr sz="2200" b="1" dirty="0"/>
              <a:t> </a:t>
            </a:r>
            <a:r>
              <a:rPr sz="2200" b="1" dirty="0" err="1"/>
              <a:t>להליכה</a:t>
            </a:r>
            <a:r>
              <a:rPr sz="2200" b="1" dirty="0"/>
              <a:t>; </a:t>
            </a:r>
            <a:r>
              <a:rPr sz="2200" b="1" dirty="0" err="1"/>
              <a:t>נת״בים</a:t>
            </a:r>
            <a:r>
              <a:rPr sz="2200" b="1" dirty="0"/>
              <a:t> </a:t>
            </a:r>
            <a:r>
              <a:rPr sz="2200" b="1" dirty="0" err="1"/>
              <a:t>ושד״מים</a:t>
            </a:r>
            <a:r>
              <a:rPr sz="2200" b="1" dirty="0"/>
              <a:t>; </a:t>
            </a:r>
            <a:r>
              <a:rPr sz="2200" b="1" dirty="0" err="1"/>
              <a:t>היכרות</a:t>
            </a:r>
            <a:r>
              <a:rPr sz="2200" b="1" dirty="0"/>
              <a:t> </a:t>
            </a:r>
            <a:r>
              <a:rPr sz="2200" b="1" dirty="0" err="1"/>
              <a:t>עם</a:t>
            </a:r>
            <a:r>
              <a:rPr sz="2200" b="1" dirty="0"/>
              <a:t> </a:t>
            </a:r>
            <a:r>
              <a:rPr sz="2200" b="1" dirty="0" err="1"/>
              <a:t>הג״ג</a:t>
            </a:r>
            <a:r>
              <a:rPr sz="2200" b="1" dirty="0"/>
              <a:t>; </a:t>
            </a:r>
            <a:r>
              <a:rPr sz="2200" b="1" dirty="0" err="1"/>
              <a:t>לא</a:t>
            </a:r>
            <a:r>
              <a:rPr sz="2200" b="1" dirty="0"/>
              <a:t> </a:t>
            </a:r>
            <a:r>
              <a:rPr sz="2200" b="1" dirty="0" err="1"/>
              <a:t>נעבור</a:t>
            </a:r>
            <a:r>
              <a:rPr sz="2200" b="1" dirty="0"/>
              <a:t> </a:t>
            </a:r>
            <a:r>
              <a:rPr sz="2200" b="1" dirty="0" err="1"/>
              <a:t>בשטח</a:t>
            </a:r>
            <a:r>
              <a:rPr sz="2200" b="1" dirty="0"/>
              <a:t> </a:t>
            </a:r>
            <a:r>
              <a:rPr sz="2200" b="1" dirty="0" err="1"/>
              <a:t>בנוי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עבירות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האם</a:t>
            </a:r>
            <a:r>
              <a:rPr sz="2200" dirty="0"/>
              <a:t> </a:t>
            </a:r>
            <a:r>
              <a:rPr sz="2200" dirty="0" err="1"/>
              <a:t>ניתן</a:t>
            </a:r>
            <a:r>
              <a:rPr sz="2200" dirty="0"/>
              <a:t> </a:t>
            </a:r>
            <a:r>
              <a:rPr sz="2200" dirty="0" err="1"/>
              <a:t>ללכת</a:t>
            </a:r>
            <a:r>
              <a:rPr sz="2200" dirty="0"/>
              <a:t> </a:t>
            </a:r>
            <a:r>
              <a:rPr sz="2200" dirty="0" err="1"/>
              <a:t>בתוואי</a:t>
            </a:r>
            <a:r>
              <a:rPr sz="2200" dirty="0"/>
              <a:t> </a:t>
            </a:r>
            <a:r>
              <a:rPr sz="2200" dirty="0" err="1"/>
              <a:t>מבחינת</a:t>
            </a:r>
            <a:r>
              <a:rPr sz="2200" dirty="0"/>
              <a:t> </a:t>
            </a:r>
            <a:r>
              <a:rPr sz="2200" dirty="0" err="1"/>
              <a:t>שיפועים</a:t>
            </a:r>
            <a:r>
              <a:rPr sz="2200" dirty="0"/>
              <a:t>, </a:t>
            </a:r>
            <a:r>
              <a:rPr sz="2200" dirty="0" err="1"/>
              <a:t>מצוקים</a:t>
            </a:r>
            <a:r>
              <a:rPr sz="2200" dirty="0"/>
              <a:t> </a:t>
            </a:r>
            <a:r>
              <a:rPr sz="2200" dirty="0" err="1"/>
              <a:t>וערוצים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אורך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אורך</a:t>
            </a:r>
            <a:r>
              <a:rPr sz="2200" dirty="0"/>
              <a:t> </a:t>
            </a:r>
            <a:r>
              <a:rPr sz="2200" dirty="0" err="1"/>
              <a:t>הציר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יחרוג</a:t>
            </a:r>
            <a:r>
              <a:rPr sz="2200" dirty="0"/>
              <a:t> </a:t>
            </a:r>
            <a:r>
              <a:rPr sz="2200" dirty="0" err="1"/>
              <a:t>משמעותית</a:t>
            </a:r>
            <a:r>
              <a:rPr sz="2200" dirty="0"/>
              <a:t> </a:t>
            </a:r>
            <a:r>
              <a:rPr sz="2200" dirty="0" err="1"/>
              <a:t>מהאורך</a:t>
            </a:r>
            <a:r>
              <a:rPr sz="2200" dirty="0"/>
              <a:t> </a:t>
            </a:r>
            <a:r>
              <a:rPr sz="2200" dirty="0" err="1"/>
              <a:t>שהוגדר</a:t>
            </a:r>
            <a:r>
              <a:rPr sz="2200" dirty="0"/>
              <a:t> </a:t>
            </a:r>
            <a:r>
              <a:rPr sz="2200" dirty="0" err="1"/>
              <a:t>לניווט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תכסית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עדיף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ללכת</a:t>
            </a:r>
            <a:r>
              <a:rPr sz="2200" dirty="0"/>
              <a:t> </a:t>
            </a:r>
            <a:r>
              <a:rPr sz="2200" dirty="0" err="1"/>
              <a:t>בשטח</a:t>
            </a:r>
            <a:r>
              <a:rPr sz="2200" dirty="0"/>
              <a:t> </a:t>
            </a:r>
            <a:r>
              <a:rPr sz="2200" dirty="0" err="1"/>
              <a:t>מיוער</a:t>
            </a:r>
            <a:r>
              <a:rPr sz="2200" dirty="0"/>
              <a:t> </a:t>
            </a:r>
            <a:r>
              <a:rPr sz="2200" dirty="0" err="1"/>
              <a:t>או</a:t>
            </a:r>
            <a:r>
              <a:rPr sz="2200" dirty="0"/>
              <a:t> </a:t>
            </a:r>
            <a:r>
              <a:rPr sz="2200" dirty="0" err="1"/>
              <a:t>היכן</a:t>
            </a:r>
            <a:r>
              <a:rPr sz="2200" dirty="0"/>
              <a:t> </a:t>
            </a:r>
            <a:r>
              <a:rPr sz="2200" dirty="0" err="1"/>
              <a:t>שקשה</a:t>
            </a:r>
            <a:r>
              <a:rPr sz="2200" dirty="0"/>
              <a:t> </a:t>
            </a:r>
            <a:r>
              <a:rPr sz="2200" dirty="0" err="1"/>
              <a:t>לראות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תוואי</a:t>
            </a:r>
            <a:r>
              <a:rPr sz="2200" dirty="0"/>
              <a:t> </a:t>
            </a:r>
            <a:r>
              <a:rPr sz="2200" dirty="0" err="1"/>
              <a:t>השטח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תוואי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נלך</a:t>
            </a:r>
            <a:r>
              <a:rPr sz="2200" dirty="0"/>
              <a:t> </a:t>
            </a:r>
            <a:r>
              <a:rPr sz="2200" dirty="0" err="1"/>
              <a:t>בתוואי</a:t>
            </a:r>
            <a:r>
              <a:rPr sz="2200" dirty="0"/>
              <a:t> </a:t>
            </a:r>
            <a:r>
              <a:rPr sz="2200" dirty="0" err="1"/>
              <a:t>ברור</a:t>
            </a:r>
            <a:r>
              <a:rPr sz="2200" dirty="0"/>
              <a:t>: </a:t>
            </a:r>
            <a:r>
              <a:rPr sz="2200" dirty="0" err="1"/>
              <a:t>שלוחה</a:t>
            </a:r>
            <a:r>
              <a:rPr sz="2200" dirty="0"/>
              <a:t>, </a:t>
            </a:r>
            <a:r>
              <a:rPr sz="2200" dirty="0" err="1"/>
              <a:t>ציר</a:t>
            </a:r>
            <a:r>
              <a:rPr sz="2200" dirty="0"/>
              <a:t> </a:t>
            </a:r>
            <a:r>
              <a:rPr sz="2200" dirty="0" err="1"/>
              <a:t>ראשי</a:t>
            </a:r>
            <a:r>
              <a:rPr sz="2200" dirty="0"/>
              <a:t> </a:t>
            </a:r>
            <a:r>
              <a:rPr sz="2200" dirty="0" err="1"/>
              <a:t>וכו</a:t>
            </a:r>
            <a:r>
              <a:rPr sz="2200" dirty="0"/>
              <a:t>׳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תכנון</a:t>
            </a:r>
            <a:r>
              <a:rPr dirty="0"/>
              <a:t> </a:t>
            </a:r>
            <a:r>
              <a:rPr dirty="0" err="1"/>
              <a:t>הציר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הטלת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המפה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6965" y="1816720"/>
            <a:ext cx="7356835" cy="4351606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מטילים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נקודת</a:t>
            </a:r>
            <a:r>
              <a:rPr sz="2200" dirty="0"/>
              <a:t> </a:t>
            </a:r>
            <a:r>
              <a:rPr sz="2200" dirty="0" err="1"/>
              <a:t>ההתחלה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נ.ה</a:t>
            </a:r>
            <a:r>
              <a:rPr lang="he-IL" sz="2200" dirty="0"/>
              <a:t>)</a:t>
            </a:r>
            <a:r>
              <a:rPr sz="2200" dirty="0"/>
              <a:t> </a:t>
            </a:r>
            <a:r>
              <a:rPr sz="2200" dirty="0" err="1"/>
              <a:t>ואת</a:t>
            </a:r>
            <a:r>
              <a:rPr sz="2200" dirty="0"/>
              <a:t> </a:t>
            </a:r>
            <a:r>
              <a:rPr sz="2200" dirty="0" err="1"/>
              <a:t>נקודת</a:t>
            </a:r>
            <a:r>
              <a:rPr sz="2200" dirty="0"/>
              <a:t> </a:t>
            </a:r>
            <a:r>
              <a:rPr sz="2200" dirty="0" err="1"/>
              <a:t>הסוף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נ.ס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מסמנים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הנקודות</a:t>
            </a:r>
            <a:r>
              <a:rPr sz="2200" dirty="0"/>
              <a:t> </a:t>
            </a:r>
            <a:r>
              <a:rPr sz="2200" dirty="0" err="1"/>
              <a:t>שקיבלנו</a:t>
            </a:r>
            <a:r>
              <a:rPr sz="2200" dirty="0"/>
              <a:t> </a:t>
            </a:r>
            <a:r>
              <a:rPr sz="2200" dirty="0" err="1"/>
              <a:t>בנתוני</a:t>
            </a:r>
            <a:r>
              <a:rPr sz="2200" dirty="0"/>
              <a:t> </a:t>
            </a:r>
            <a:r>
              <a:rPr sz="2200" dirty="0" err="1"/>
              <a:t>הניווט</a:t>
            </a:r>
            <a:endParaRPr sz="2200" dirty="0"/>
          </a:p>
        </p:txBody>
      </p:sp>
      <p:pic>
        <p:nvPicPr>
          <p:cNvPr id="4" name="Picture 3" descr="l3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5" y="2586429"/>
            <a:ext cx="4629032" cy="3499354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1555BBFE-71E8-6D26-98A5-F55DF4C896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92037D4-67FC-5900-CF5D-5CE2A739DBE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084100" y="5216094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תכנון</a:t>
            </a:r>
            <a:r>
              <a:rPr dirty="0"/>
              <a:t> </a:t>
            </a:r>
            <a:r>
              <a:rPr dirty="0" err="1"/>
              <a:t>הציר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סימון</a:t>
            </a:r>
            <a:r>
              <a:rPr dirty="0"/>
              <a:t> </a:t>
            </a:r>
            <a:r>
              <a:rPr dirty="0" err="1"/>
              <a:t>נקודות</a:t>
            </a:r>
            <a:r>
              <a:rPr dirty="0"/>
              <a:t> </a:t>
            </a:r>
            <a:r>
              <a:rPr dirty="0" err="1"/>
              <a:t>תורפה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מסמנים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התורפה</a:t>
            </a:r>
            <a:r>
              <a:rPr sz="2200" dirty="0"/>
              <a:t> </a:t>
            </a:r>
            <a:r>
              <a:rPr sz="2200" dirty="0" err="1"/>
              <a:t>הבטיחותיות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נת״בים</a:t>
            </a:r>
            <a:r>
              <a:rPr lang="he-IL" sz="2200" dirty="0"/>
              <a:t>)</a:t>
            </a:r>
            <a:endParaRPr sz="2200" dirty="0"/>
          </a:p>
          <a:p>
            <a:pPr lvl="1">
              <a:spcBef>
                <a:spcPts val="600"/>
              </a:spcBef>
            </a:pPr>
            <a:r>
              <a:rPr sz="2200" dirty="0" err="1"/>
              <a:t>שטח</a:t>
            </a:r>
            <a:r>
              <a:rPr sz="2200" dirty="0"/>
              <a:t> </a:t>
            </a:r>
            <a:r>
              <a:rPr sz="2200" dirty="0" err="1"/>
              <a:t>אש</a:t>
            </a:r>
            <a:r>
              <a:rPr sz="2200" dirty="0"/>
              <a:t>, </a:t>
            </a:r>
            <a:r>
              <a:rPr sz="2200" dirty="0" err="1"/>
              <a:t>בורות</a:t>
            </a:r>
            <a:r>
              <a:rPr sz="2200" dirty="0"/>
              <a:t>, </a:t>
            </a:r>
            <a:r>
              <a:rPr sz="2200" dirty="0" err="1"/>
              <a:t>באר</a:t>
            </a:r>
            <a:r>
              <a:rPr sz="2200" dirty="0"/>
              <a:t>, </a:t>
            </a:r>
            <a:r>
              <a:rPr sz="2200" dirty="0" err="1"/>
              <a:t>מצוקים</a:t>
            </a:r>
            <a:r>
              <a:rPr sz="2200" dirty="0"/>
              <a:t> </a:t>
            </a:r>
            <a:r>
              <a:rPr sz="2200" dirty="0" err="1"/>
              <a:t>וכו</a:t>
            </a:r>
            <a:r>
              <a:rPr sz="2200" dirty="0"/>
              <a:t>׳</a:t>
            </a:r>
          </a:p>
          <a:p>
            <a:pPr algn="r" rtl="1">
              <a:spcBef>
                <a:spcPts val="600"/>
              </a:spcBef>
            </a:pPr>
            <a:r>
              <a:rPr sz="2200" b="1" dirty="0" err="1"/>
              <a:t>אלה</a:t>
            </a:r>
            <a:r>
              <a:rPr sz="2200" b="1" dirty="0"/>
              <a:t> </a:t>
            </a:r>
            <a:r>
              <a:rPr sz="2200" b="1" dirty="0" err="1"/>
              <a:t>אזורים</a:t>
            </a:r>
            <a:r>
              <a:rPr sz="2200" b="1" dirty="0"/>
              <a:t> </a:t>
            </a:r>
            <a:r>
              <a:rPr sz="2200" b="1" dirty="0" err="1"/>
              <a:t>שנרצה</a:t>
            </a:r>
            <a:r>
              <a:rPr sz="2200" b="1" dirty="0"/>
              <a:t> </a:t>
            </a:r>
            <a:r>
              <a:rPr sz="2200" b="1" dirty="0" err="1"/>
              <a:t>להימנע</a:t>
            </a:r>
            <a:r>
              <a:rPr sz="2200" b="1" dirty="0"/>
              <a:t> </a:t>
            </a:r>
            <a:r>
              <a:rPr sz="2200" b="1" dirty="0" err="1"/>
              <a:t>מהם</a:t>
            </a:r>
            <a:r>
              <a:rPr sz="2200" b="1" dirty="0"/>
              <a:t> </a:t>
            </a:r>
            <a:r>
              <a:rPr sz="2200" b="1" dirty="0" err="1"/>
              <a:t>בתכנון</a:t>
            </a:r>
            <a:r>
              <a:rPr sz="2200" b="1" dirty="0"/>
              <a:t> </a:t>
            </a:r>
            <a:r>
              <a:rPr sz="2200" b="1" dirty="0" err="1"/>
              <a:t>הציר</a:t>
            </a:r>
            <a:endParaRPr sz="2200" b="1" dirty="0"/>
          </a:p>
        </p:txBody>
      </p:sp>
      <p:pic>
        <p:nvPicPr>
          <p:cNvPr id="4" name="Picture 3" descr="l3_haz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87" y="2131957"/>
            <a:ext cx="4534764" cy="3428091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B6FF7F19-8AD3-C319-E91C-AC0F52DE322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DF98391-AA7B-B3F2-A374-CEC5959BE1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084100" y="5216094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תכנון</a:t>
            </a:r>
            <a:r>
              <a:rPr dirty="0"/>
              <a:t> </a:t>
            </a:r>
            <a:r>
              <a:rPr dirty="0" err="1"/>
              <a:t>הציר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בניית</a:t>
            </a:r>
            <a:r>
              <a:rPr dirty="0"/>
              <a:t> </a:t>
            </a:r>
            <a:r>
              <a:rPr dirty="0" err="1"/>
              <a:t>המסלול</a:t>
            </a:r>
            <a:r>
              <a:rPr dirty="0"/>
              <a:t> </a:t>
            </a:r>
            <a:r>
              <a:rPr dirty="0" err="1"/>
              <a:t>האולטימטיבי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בוחנים</a:t>
            </a:r>
            <a:r>
              <a:rPr sz="2200" dirty="0"/>
              <a:t> </a:t>
            </a:r>
            <a:r>
              <a:rPr sz="2200" dirty="0" err="1"/>
              <a:t>כמה</a:t>
            </a:r>
            <a:r>
              <a:rPr sz="2200" dirty="0"/>
              <a:t> </a:t>
            </a:r>
            <a:r>
              <a:rPr sz="2200" dirty="0" err="1"/>
              <a:t>חלופות</a:t>
            </a:r>
            <a:r>
              <a:rPr sz="2200" dirty="0"/>
              <a:t> </a:t>
            </a:r>
            <a:r>
              <a:rPr sz="2200" dirty="0" err="1"/>
              <a:t>מסלול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נ.ה</a:t>
            </a:r>
            <a:r>
              <a:rPr sz="2200" dirty="0"/>
              <a:t> </a:t>
            </a:r>
            <a:r>
              <a:rPr sz="2200" dirty="0" err="1"/>
              <a:t>לנ.ס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מסלול</a:t>
            </a:r>
            <a:r>
              <a:rPr sz="2200" dirty="0"/>
              <a:t> </a:t>
            </a:r>
            <a:r>
              <a:rPr sz="2200" dirty="0" err="1"/>
              <a:t>שחוצה</a:t>
            </a:r>
            <a:r>
              <a:rPr sz="2200" dirty="0"/>
              <a:t> </a:t>
            </a:r>
            <a:r>
              <a:rPr sz="2200" dirty="0" err="1"/>
              <a:t>שטח</a:t>
            </a:r>
            <a:r>
              <a:rPr sz="2200" dirty="0"/>
              <a:t> </a:t>
            </a:r>
            <a:r>
              <a:rPr sz="2200" dirty="0" err="1"/>
              <a:t>אש</a:t>
            </a:r>
            <a:r>
              <a:rPr sz="2200" dirty="0"/>
              <a:t> </a:t>
            </a:r>
            <a:r>
              <a:rPr sz="2200" dirty="0" err="1"/>
              <a:t>או</a:t>
            </a:r>
            <a:r>
              <a:rPr sz="2200" dirty="0"/>
              <a:t> </a:t>
            </a:r>
            <a:r>
              <a:rPr sz="2200" dirty="0" err="1"/>
              <a:t>תוואי</a:t>
            </a:r>
            <a:r>
              <a:rPr sz="2200" dirty="0"/>
              <a:t> </a:t>
            </a:r>
            <a:r>
              <a:rPr sz="2200" dirty="0" err="1"/>
              <a:t>מסוכן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נפסל</a:t>
            </a:r>
            <a:r>
              <a:rPr sz="2200" dirty="0"/>
              <a:t> (✗)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המסלול</a:t>
            </a:r>
            <a:r>
              <a:rPr sz="2200" dirty="0"/>
              <a:t> </a:t>
            </a:r>
            <a:r>
              <a:rPr sz="2200" dirty="0" err="1"/>
              <a:t>הנבחר</a:t>
            </a:r>
            <a:r>
              <a:rPr sz="2200" dirty="0"/>
              <a:t> (✓) </a:t>
            </a:r>
            <a:r>
              <a:rPr sz="2200" dirty="0" err="1"/>
              <a:t>עוקף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הסכנות</a:t>
            </a:r>
            <a:r>
              <a:rPr sz="2200" dirty="0"/>
              <a:t> </a:t>
            </a:r>
            <a:r>
              <a:rPr sz="2200" dirty="0" err="1"/>
              <a:t>ונצמד</a:t>
            </a:r>
            <a:r>
              <a:rPr sz="2200" dirty="0"/>
              <a:t> </a:t>
            </a:r>
            <a:r>
              <a:rPr sz="2200" dirty="0" err="1"/>
              <a:t>לתוואי</a:t>
            </a:r>
            <a:r>
              <a:rPr sz="2200" dirty="0"/>
              <a:t> </a:t>
            </a:r>
            <a:r>
              <a:rPr sz="2200" dirty="0" err="1"/>
              <a:t>ברור</a:t>
            </a:r>
            <a:endParaRPr sz="2200" dirty="0"/>
          </a:p>
        </p:txBody>
      </p:sp>
      <p:pic>
        <p:nvPicPr>
          <p:cNvPr id="4" name="Picture 3" descr="l3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33" y="2039997"/>
            <a:ext cx="4553618" cy="3442344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0934A59-6B92-1058-A65A-F01BE54F63C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86BBDA8-6F57-664D-1EA9-9033DFE1EB2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084100" y="5216094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8502" y="2645704"/>
            <a:ext cx="7094995" cy="987331"/>
          </a:xfrm>
        </p:spPr>
        <p:txBody>
          <a:bodyPr>
            <a:normAutofit fontScale="90000"/>
          </a:bodyPr>
          <a:lstStyle/>
          <a:p>
            <a:pPr rtl="1">
              <a:spcBef>
                <a:spcPts val="600"/>
              </a:spcBef>
            </a:pPr>
            <a:r>
              <a:rPr dirty="0" err="1"/>
              <a:t>שלב</a:t>
            </a:r>
            <a:r>
              <a:rPr dirty="0"/>
              <a:t> ב׳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לימוד</a:t>
            </a:r>
            <a:r>
              <a:rPr dirty="0"/>
              <a:t> </a:t>
            </a:r>
            <a:r>
              <a:rPr dirty="0" err="1"/>
              <a:t>הציר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2530" y="3295709"/>
            <a:ext cx="4046938" cy="808463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חלוקה</a:t>
            </a:r>
            <a:r>
              <a:rPr dirty="0"/>
              <a:t> </a:t>
            </a:r>
            <a:r>
              <a:rPr dirty="0" err="1"/>
              <a:t>למקטעים</a:t>
            </a:r>
            <a:r>
              <a:rPr dirty="0"/>
              <a:t> </a:t>
            </a:r>
            <a:r>
              <a:rPr dirty="0" err="1"/>
              <a:t>ובניית</a:t>
            </a:r>
            <a:r>
              <a:rPr dirty="0"/>
              <a:t> </a:t>
            </a:r>
            <a:r>
              <a:rPr dirty="0" err="1"/>
              <a:t>סיפור</a:t>
            </a:r>
            <a:r>
              <a:rPr dirty="0"/>
              <a:t> </a:t>
            </a:r>
            <a:r>
              <a:rPr dirty="0" err="1"/>
              <a:t>דרך</a:t>
            </a:r>
            <a:endParaRPr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3C237D8-5B38-BE25-EC14-13555E80F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04BF9FB-4323-BE1E-E0A8-08542C2E49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8572" y="4104172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3425CED-866D-05D9-C68D-2EE21BFD2F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59B8D7E-9BD1-9D86-B214-10E077FE50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88572" y="4104172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לימוד הציר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חלוקה</a:t>
            </a:r>
            <a:r>
              <a:rPr sz="2200" dirty="0"/>
              <a:t> </a:t>
            </a:r>
            <a:r>
              <a:rPr sz="2200" dirty="0" err="1"/>
              <a:t>למקטעים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בניית</a:t>
            </a:r>
            <a:r>
              <a:rPr sz="2200" dirty="0"/>
              <a:t> </a:t>
            </a:r>
            <a:r>
              <a:rPr sz="2200" dirty="0" err="1"/>
              <a:t>סיפור</a:t>
            </a:r>
            <a:r>
              <a:rPr sz="2200" dirty="0"/>
              <a:t> </a:t>
            </a:r>
            <a:r>
              <a:rPr sz="2200" dirty="0" err="1"/>
              <a:t>דרך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הציר</a:t>
            </a:r>
            <a:endParaRPr lang="he-IL"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הליכה</a:t>
            </a:r>
            <a:endParaRPr lang="he-IL"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אימות</a:t>
            </a:r>
            <a:r>
              <a:rPr lang="he-IL" sz="2200" dirty="0"/>
              <a:t> </a:t>
            </a:r>
          </a:p>
          <a:p>
            <a:pPr lvl="1" algn="r" rtl="1">
              <a:spcBef>
                <a:spcPts val="600"/>
              </a:spcBef>
            </a:pPr>
            <a:r>
              <a:rPr sz="2200" dirty="0" err="1"/>
              <a:t>גבול</a:t>
            </a:r>
            <a:r>
              <a:rPr sz="2200" dirty="0"/>
              <a:t> </a:t>
            </a:r>
            <a:r>
              <a:rPr sz="2200" dirty="0" err="1"/>
              <a:t>ברור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שינון</a:t>
            </a:r>
            <a:r>
              <a:rPr sz="2200" dirty="0"/>
              <a:t> </a:t>
            </a:r>
            <a:r>
              <a:rPr sz="2200" dirty="0" err="1"/>
              <a:t>סיפור</a:t>
            </a:r>
            <a:r>
              <a:rPr sz="2200" dirty="0"/>
              <a:t> </a:t>
            </a:r>
            <a:r>
              <a:rPr sz="2200" dirty="0" err="1"/>
              <a:t>הדרך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33DB62F0-48CD-8B00-9E7B-5F1ECB3DB1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1344BC0E-127F-A272-C199-15A979645A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88572" y="4104172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חלוקה למקטעים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6785" y="1816720"/>
            <a:ext cx="7367016" cy="4351606"/>
          </a:xfrm>
        </p:spPr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מקטעים</a:t>
            </a:r>
            <a:r>
              <a:rPr sz="2200" dirty="0"/>
              <a:t> </a:t>
            </a:r>
            <a:r>
              <a:rPr sz="2200" dirty="0" err="1"/>
              <a:t>הם</a:t>
            </a:r>
            <a:r>
              <a:rPr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ציר</a:t>
            </a:r>
            <a:r>
              <a:rPr sz="2200" dirty="0"/>
              <a:t> </a:t>
            </a:r>
            <a:r>
              <a:rPr sz="2200" dirty="0" err="1"/>
              <a:t>הניווט</a:t>
            </a:r>
            <a:r>
              <a:rPr sz="2200" dirty="0"/>
              <a:t>, </a:t>
            </a:r>
            <a:r>
              <a:rPr sz="2200" dirty="0" err="1"/>
              <a:t>לצורך</a:t>
            </a:r>
            <a:r>
              <a:rPr sz="2200" dirty="0"/>
              <a:t> </a:t>
            </a:r>
            <a:r>
              <a:rPr sz="2200" dirty="0" err="1"/>
              <a:t>חישוב</a:t>
            </a:r>
            <a:r>
              <a:rPr sz="2200" dirty="0"/>
              <a:t> </a:t>
            </a:r>
            <a:r>
              <a:rPr sz="2200" dirty="0" err="1"/>
              <a:t>אומדן</a:t>
            </a:r>
            <a:r>
              <a:rPr sz="2200" dirty="0"/>
              <a:t> </a:t>
            </a:r>
            <a:r>
              <a:rPr sz="2200" dirty="0" err="1"/>
              <a:t>המרחק</a:t>
            </a:r>
            <a:r>
              <a:rPr sz="2200" dirty="0"/>
              <a:t> </a:t>
            </a:r>
            <a:r>
              <a:rPr sz="2200" dirty="0" err="1"/>
              <a:t>והזדהות</a:t>
            </a:r>
            <a:r>
              <a:rPr sz="2200" dirty="0"/>
              <a:t> </a:t>
            </a:r>
            <a:r>
              <a:rPr sz="2200" dirty="0" err="1"/>
              <a:t>עם</a:t>
            </a:r>
            <a:r>
              <a:rPr sz="2200" dirty="0"/>
              <a:t> </a:t>
            </a:r>
            <a:r>
              <a:rPr sz="2200" dirty="0" err="1"/>
              <a:t>השטח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מקטע</a:t>
            </a:r>
            <a:r>
              <a:rPr sz="2200" dirty="0"/>
              <a:t> </a:t>
            </a:r>
            <a:r>
              <a:rPr sz="2200" dirty="0" err="1"/>
              <a:t>נבחר</a:t>
            </a:r>
            <a:r>
              <a:rPr sz="2200" dirty="0"/>
              <a:t> 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ברורה</a:t>
            </a:r>
            <a:r>
              <a:rPr sz="2200" dirty="0"/>
              <a:t> </a:t>
            </a:r>
            <a:r>
              <a:rPr sz="2200" dirty="0" err="1"/>
              <a:t>בשטח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כיפה</a:t>
            </a:r>
            <a:r>
              <a:rPr sz="2200" dirty="0"/>
              <a:t>, </a:t>
            </a:r>
            <a:r>
              <a:rPr sz="2200" dirty="0" err="1"/>
              <a:t>אוכף</a:t>
            </a:r>
            <a:r>
              <a:rPr sz="2200" dirty="0"/>
              <a:t>, </a:t>
            </a:r>
            <a:r>
              <a:rPr sz="2200" dirty="0" err="1"/>
              <a:t>פיצול</a:t>
            </a:r>
            <a:r>
              <a:rPr sz="2200" dirty="0"/>
              <a:t> </a:t>
            </a:r>
            <a:r>
              <a:rPr sz="2200" dirty="0" err="1"/>
              <a:t>גאיות</a:t>
            </a:r>
            <a:r>
              <a:rPr sz="2200" dirty="0"/>
              <a:t> </a:t>
            </a:r>
            <a:r>
              <a:rPr sz="2200" dirty="0" err="1"/>
              <a:t>וכו</a:t>
            </a:r>
            <a:r>
              <a:rPr sz="2200" dirty="0"/>
              <a:t>׳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מקטע</a:t>
            </a:r>
            <a:r>
              <a:rPr sz="2200" dirty="0"/>
              <a:t> </a:t>
            </a:r>
            <a:r>
              <a:rPr sz="2200" dirty="0" err="1"/>
              <a:t>למקטע</a:t>
            </a:r>
            <a:r>
              <a:rPr lang="he-IL" sz="2200" dirty="0"/>
              <a:t>: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כ</a:t>
            </a:r>
            <a:r>
              <a:rPr lang="he-IL" sz="2200" dirty="0"/>
              <a:t>-0.5-1 </a:t>
            </a:r>
            <a:r>
              <a:rPr sz="2200" dirty="0" err="1"/>
              <a:t>ק״מ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קיטועים</a:t>
            </a:r>
            <a:r>
              <a:rPr sz="2200" dirty="0"/>
              <a:t> </a:t>
            </a:r>
            <a:r>
              <a:rPr sz="2200" dirty="0" err="1"/>
              <a:t>קצרים</a:t>
            </a:r>
            <a:r>
              <a:rPr sz="2200" dirty="0"/>
              <a:t> </a:t>
            </a:r>
            <a:r>
              <a:rPr sz="2200" dirty="0" err="1"/>
              <a:t>מדי</a:t>
            </a:r>
            <a:r>
              <a:rPr sz="2200" dirty="0"/>
              <a:t> </a:t>
            </a:r>
            <a:r>
              <a:rPr sz="2200" dirty="0" err="1"/>
              <a:t>מקשים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לימוד</a:t>
            </a:r>
            <a:r>
              <a:rPr sz="2200" dirty="0"/>
              <a:t> </a:t>
            </a:r>
            <a:r>
              <a:rPr sz="2200" dirty="0" err="1"/>
              <a:t>הציר</a:t>
            </a:r>
            <a:r>
              <a:rPr lang="he-IL" sz="2200" dirty="0"/>
              <a:t>;</a:t>
            </a:r>
            <a:r>
              <a:rPr sz="2200" dirty="0"/>
              <a:t> </a:t>
            </a:r>
            <a:r>
              <a:rPr sz="2200" dirty="0" err="1"/>
              <a:t>ארוכים</a:t>
            </a:r>
            <a:r>
              <a:rPr sz="2200" dirty="0"/>
              <a:t> </a:t>
            </a:r>
            <a:r>
              <a:rPr sz="2200" dirty="0" err="1"/>
              <a:t>מדי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מאבדים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אומדן</a:t>
            </a:r>
            <a:r>
              <a:rPr sz="2200" dirty="0"/>
              <a:t> </a:t>
            </a:r>
            <a:r>
              <a:rPr sz="2200" dirty="0" err="1"/>
              <a:t>המרחק</a:t>
            </a:r>
            <a:endParaRPr sz="2200" dirty="0"/>
          </a:p>
        </p:txBody>
      </p:sp>
      <p:pic>
        <p:nvPicPr>
          <p:cNvPr id="4" name="Picture 3" descr="l3_seg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33" y="2329388"/>
            <a:ext cx="3794760" cy="2868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AEF066E6-640F-A24D-A2B4-DB7638B2D5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14323BA-612C-BC5A-E90B-F977181AD3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בניית סיפור דרך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0554"/>
            <a:ext cx="10911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כדי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לזכור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את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הציר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על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בוריו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נחבר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סיפור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דרך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שמקצר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את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לימוד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הציר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בין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כל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שני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מקטעים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נכתוב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סיפור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קצר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על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b="1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הדרך</a:t>
            </a:r>
            <a:r>
              <a:rPr sz="2200" b="1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627459"/>
              </p:ext>
            </p:extLst>
          </p:nvPr>
        </p:nvGraphicFramePr>
        <p:xfrm>
          <a:off x="563880" y="2468880"/>
          <a:ext cx="11064240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סיפור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גבול ברור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 dirty="0" err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אימות</a:t>
                      </a:r>
                      <a:endParaRPr sz="2400" b="1" dirty="0">
                        <a:solidFill>
                          <a:srgbClr val="FFFFFF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תוואי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אזימוט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מרחק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מקטע</a:t>
                      </a:r>
                    </a:p>
                  </a:txBody>
                  <a:tcPr marL="54864" marR="54864" marT="27432" marB="27432" anchor="ctr">
                    <a:solidFill>
                      <a:srgbClr val="4E7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מהנ.ה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עולים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על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שלוחה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באזימוט</a:t>
                      </a: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20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עד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ראש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הכיפה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273</a:t>
                      </a: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תחילת ירידה</a:t>
                      </a: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געה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לראש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הכיפה</a:t>
                      </a: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273;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מדרום</a:t>
                      </a: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-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מזרח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אוכף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;</a:t>
                      </a: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ממערב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כיפה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נוספת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שלוחה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020</a:t>
                      </a: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670</a:t>
                      </a: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נ.ה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lang="he-IL"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-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מקטע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1</a:t>
                      </a:r>
                    </a:p>
                  </a:txBody>
                  <a:tcPr marL="54864" marR="54864" marT="27432" marB="27432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23F5FE15-E1D3-DFDF-92FE-A0DBB29321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B908D869-2778-13A2-4AE6-4A52D6DA12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חישוב מרחק ההליכה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המרחק</a:t>
            </a:r>
            <a:r>
              <a:rPr sz="2200" dirty="0"/>
              <a:t> </a:t>
            </a:r>
            <a:r>
              <a:rPr sz="2200" dirty="0" err="1"/>
              <a:t>שנצעד</a:t>
            </a:r>
            <a:r>
              <a:rPr sz="2200" dirty="0"/>
              <a:t> </a:t>
            </a:r>
            <a:r>
              <a:rPr sz="2200" dirty="0" err="1"/>
              <a:t>בפועל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מקטע</a:t>
            </a:r>
            <a:r>
              <a:rPr sz="2200" dirty="0"/>
              <a:t> </a:t>
            </a:r>
            <a:r>
              <a:rPr sz="2200" dirty="0" err="1"/>
              <a:t>למקטע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בשטח</a:t>
            </a:r>
            <a:r>
              <a:rPr sz="2200" dirty="0"/>
              <a:t> </a:t>
            </a:r>
            <a:r>
              <a:rPr sz="2200" dirty="0" err="1"/>
              <a:t>צועדים</a:t>
            </a:r>
            <a:r>
              <a:rPr sz="2200" dirty="0"/>
              <a:t> </a:t>
            </a:r>
            <a:r>
              <a:rPr sz="2200" dirty="0" err="1"/>
              <a:t>בעליות</a:t>
            </a:r>
            <a:r>
              <a:rPr sz="2200" dirty="0"/>
              <a:t> </a:t>
            </a:r>
            <a:r>
              <a:rPr sz="2200" dirty="0" err="1"/>
              <a:t>וירידות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שמאריכות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הדרך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לכן</a:t>
            </a:r>
            <a:r>
              <a:rPr sz="2200" dirty="0"/>
              <a:t>: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אופקי</a:t>
            </a:r>
            <a:r>
              <a:rPr lang="he-IL" sz="2200" dirty="0"/>
              <a:t> +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אנכי</a:t>
            </a:r>
            <a:r>
              <a:rPr lang="he-IL" sz="2200" dirty="0"/>
              <a:t> </a:t>
            </a:r>
            <a:r>
              <a:rPr sz="2200" dirty="0"/>
              <a:t> </a:t>
            </a:r>
            <a:r>
              <a:rPr lang="he-IL" sz="2200" dirty="0"/>
              <a:t>=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ההליכה</a:t>
            </a:r>
            <a:r>
              <a:rPr sz="2200" dirty="0"/>
              <a:t> </a:t>
            </a:r>
            <a:r>
              <a:rPr sz="2200" dirty="0" err="1"/>
              <a:t>בפועל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שחוצים</a:t>
            </a:r>
            <a:r>
              <a:rPr sz="2200" dirty="0"/>
              <a:t> </a:t>
            </a:r>
            <a:r>
              <a:rPr sz="2200" dirty="0" err="1"/>
              <a:t>בעלייה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מוסיפים</a:t>
            </a:r>
            <a:r>
              <a:rPr sz="2200" dirty="0"/>
              <a:t> </a:t>
            </a:r>
            <a:r>
              <a:rPr lang="he-IL" sz="2200" dirty="0"/>
              <a:t>10</a:t>
            </a:r>
            <a:r>
              <a:rPr sz="2200" dirty="0"/>
              <a:t> מ׳ </a:t>
            </a:r>
            <a:r>
              <a:rPr sz="2200" dirty="0" err="1"/>
              <a:t>למרחק</a:t>
            </a:r>
            <a:endParaRPr sz="2200" dirty="0"/>
          </a:p>
        </p:txBody>
      </p:sp>
      <p:pic>
        <p:nvPicPr>
          <p:cNvPr id="4" name="Picture 3" descr="l3_dist_r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1" y="2124637"/>
            <a:ext cx="5029200" cy="2863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6B03A7B7-2CAC-10ED-CACA-957B984468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D7A24F2-4BC3-7A6F-1E53-B7446DCEBA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מרכיבי סיפור הדרך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rtl="1">
              <a:spcBef>
                <a:spcPts val="600"/>
              </a:spcBef>
            </a:pPr>
            <a:r>
              <a:rPr sz="2200" b="1" dirty="0" err="1"/>
              <a:t>אזימוט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האזימוט</a:t>
            </a:r>
            <a:r>
              <a:rPr sz="2200" dirty="0"/>
              <a:t> </a:t>
            </a:r>
            <a:r>
              <a:rPr sz="2200" dirty="0" err="1"/>
              <a:t>הכללי</a:t>
            </a:r>
            <a:r>
              <a:rPr sz="2200" dirty="0"/>
              <a:t> </a:t>
            </a:r>
            <a:r>
              <a:rPr sz="2200" dirty="0" err="1"/>
              <a:t>ממקטע</a:t>
            </a:r>
            <a:r>
              <a:rPr sz="2200" dirty="0"/>
              <a:t> </a:t>
            </a:r>
            <a:r>
              <a:rPr sz="2200" dirty="0" err="1"/>
              <a:t>למקטע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הוצאת</a:t>
            </a:r>
            <a:r>
              <a:rPr sz="2200" dirty="0"/>
              <a:t> </a:t>
            </a:r>
            <a:r>
              <a:rPr sz="2200" dirty="0" err="1"/>
              <a:t>אזימוטים</a:t>
            </a:r>
            <a:r>
              <a:rPr sz="2200" dirty="0"/>
              <a:t> </a:t>
            </a:r>
            <a:r>
              <a:rPr sz="2200" dirty="0" err="1"/>
              <a:t>מהמפה</a:t>
            </a:r>
            <a:r>
              <a:rPr lang="he-IL" sz="2200" dirty="0"/>
              <a:t>)</a:t>
            </a:r>
            <a:endParaRPr sz="2200" dirty="0"/>
          </a:p>
          <a:p>
            <a:pPr algn="just" rtl="1">
              <a:spcBef>
                <a:spcPts val="600"/>
              </a:spcBef>
            </a:pPr>
            <a:r>
              <a:rPr sz="2200" b="1" dirty="0" err="1"/>
              <a:t>תוואי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צורת</a:t>
            </a:r>
            <a:r>
              <a:rPr sz="2200" dirty="0"/>
              <a:t> </a:t>
            </a:r>
            <a:r>
              <a:rPr sz="2200" dirty="0" err="1"/>
              <a:t>השטח</a:t>
            </a:r>
            <a:r>
              <a:rPr sz="2200" dirty="0"/>
              <a:t> </a:t>
            </a:r>
            <a:r>
              <a:rPr sz="2200" dirty="0" err="1"/>
              <a:t>שלאורכה</a:t>
            </a:r>
            <a:r>
              <a:rPr sz="2200" dirty="0"/>
              <a:t> </a:t>
            </a:r>
            <a:r>
              <a:rPr sz="2200" dirty="0" err="1"/>
              <a:t>נלך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שלוחה</a:t>
            </a:r>
            <a:r>
              <a:rPr sz="2200" dirty="0"/>
              <a:t>, </a:t>
            </a:r>
            <a:r>
              <a:rPr sz="2200" dirty="0" err="1"/>
              <a:t>גיא</a:t>
            </a:r>
            <a:r>
              <a:rPr sz="2200" dirty="0"/>
              <a:t>, </a:t>
            </a:r>
            <a:r>
              <a:rPr sz="2200" dirty="0" err="1"/>
              <a:t>ציר</a:t>
            </a:r>
            <a:r>
              <a:rPr lang="he-IL" sz="2200" dirty="0"/>
              <a:t>)</a:t>
            </a:r>
            <a:endParaRPr sz="2200" dirty="0"/>
          </a:p>
          <a:p>
            <a:pPr algn="just" rtl="1">
              <a:spcBef>
                <a:spcPts val="600"/>
              </a:spcBef>
            </a:pPr>
            <a:r>
              <a:rPr sz="2200" b="1" dirty="0" err="1"/>
              <a:t>נקודות</a:t>
            </a:r>
            <a:r>
              <a:rPr sz="2200" b="1" dirty="0"/>
              <a:t> </a:t>
            </a:r>
            <a:r>
              <a:rPr sz="2200" b="1" dirty="0" err="1"/>
              <a:t>אימות</a:t>
            </a:r>
            <a:r>
              <a:rPr sz="2200" b="1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לוודא</a:t>
            </a:r>
            <a:r>
              <a:rPr sz="2200" dirty="0"/>
              <a:t> </a:t>
            </a:r>
            <a:r>
              <a:rPr sz="2200" dirty="0" err="1"/>
              <a:t>שאנו</a:t>
            </a:r>
            <a:r>
              <a:rPr sz="2200" dirty="0"/>
              <a:t> </a:t>
            </a:r>
            <a:r>
              <a:rPr sz="2200" dirty="0" err="1"/>
              <a:t>במקום</a:t>
            </a:r>
            <a:r>
              <a:rPr sz="2200" dirty="0"/>
              <a:t> </a:t>
            </a:r>
            <a:r>
              <a:rPr sz="2200" dirty="0" err="1"/>
              <a:t>הנכון</a:t>
            </a:r>
            <a:endParaRPr sz="2200" dirty="0"/>
          </a:p>
          <a:p>
            <a:pPr lvl="1" algn="just" rtl="1">
              <a:spcBef>
                <a:spcPts val="600"/>
              </a:spcBef>
            </a:pPr>
            <a:r>
              <a:rPr lang="en-US" sz="2200" dirty="0"/>
              <a:t> </a:t>
            </a:r>
            <a:r>
              <a:rPr sz="2200" dirty="0"/>
              <a:t>2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אימות</a:t>
            </a:r>
            <a:r>
              <a:rPr sz="2200" dirty="0"/>
              <a:t> </a:t>
            </a: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מקטע</a:t>
            </a:r>
            <a:r>
              <a:rPr lang="he-IL" sz="2200" dirty="0"/>
              <a:t>; 3</a:t>
            </a:r>
            <a:r>
              <a:rPr lang="en-US"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אימות</a:t>
            </a:r>
            <a:r>
              <a:rPr sz="2200" dirty="0"/>
              <a:t> </a:t>
            </a:r>
            <a:r>
              <a:rPr sz="2200" dirty="0" err="1"/>
              <a:t>לכל</a:t>
            </a:r>
            <a:r>
              <a:rPr sz="2200" dirty="0"/>
              <a:t> </a:t>
            </a:r>
            <a:r>
              <a:rPr sz="2200" dirty="0" err="1"/>
              <a:t>נ.צ</a:t>
            </a:r>
            <a:endParaRPr sz="2200" dirty="0"/>
          </a:p>
          <a:p>
            <a:pPr algn="just" rtl="1">
              <a:spcBef>
                <a:spcPts val="600"/>
              </a:spcBef>
            </a:pPr>
            <a:r>
              <a:rPr sz="2200" b="1" dirty="0" err="1"/>
              <a:t>גבול</a:t>
            </a:r>
            <a:r>
              <a:rPr sz="2200" b="1" dirty="0"/>
              <a:t> </a:t>
            </a:r>
            <a:r>
              <a:rPr sz="2200" b="1" dirty="0" err="1"/>
              <a:t>ברור</a:t>
            </a:r>
            <a:r>
              <a:rPr sz="2200" b="1" dirty="0"/>
              <a:t> </a:t>
            </a:r>
            <a:r>
              <a:rPr lang="he-IL" sz="2200" dirty="0"/>
              <a:t>- 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שאם</a:t>
            </a:r>
            <a:r>
              <a:rPr sz="2200" dirty="0"/>
              <a:t> </a:t>
            </a:r>
            <a:r>
              <a:rPr sz="2200" dirty="0" err="1"/>
              <a:t>הגענו</a:t>
            </a:r>
            <a:r>
              <a:rPr sz="2200" dirty="0"/>
              <a:t> </a:t>
            </a:r>
            <a:r>
              <a:rPr sz="2200" dirty="0" err="1"/>
              <a:t>אליה</a:t>
            </a:r>
            <a:r>
              <a:rPr sz="2200" dirty="0"/>
              <a:t>, </a:t>
            </a:r>
            <a:r>
              <a:rPr sz="2200" dirty="0" err="1"/>
              <a:t>עברנו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המקטע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התברברנו</a:t>
            </a:r>
            <a:r>
              <a:rPr sz="2200" dirty="0"/>
              <a:t>!</a:t>
            </a:r>
            <a:r>
              <a:rPr lang="he-IL" sz="2200" dirty="0"/>
              <a:t>)</a:t>
            </a:r>
            <a:endParaRPr sz="2200" dirty="0"/>
          </a:p>
          <a:p>
            <a:pPr lvl="1" algn="just" rtl="1">
              <a:spcBef>
                <a:spcPts val="600"/>
              </a:spcBef>
            </a:pPr>
            <a:r>
              <a:rPr lang="he-IL" sz="2200" dirty="0"/>
              <a:t>                              </a:t>
            </a:r>
            <a:r>
              <a:rPr sz="2200" dirty="0" err="1"/>
              <a:t>לרוב</a:t>
            </a:r>
            <a:r>
              <a:rPr sz="2200" dirty="0"/>
              <a:t> </a:t>
            </a:r>
            <a:r>
              <a:rPr sz="2200" dirty="0" err="1"/>
              <a:t>יהיה</a:t>
            </a:r>
            <a:r>
              <a:rPr sz="2200" dirty="0"/>
              <a:t> </a:t>
            </a:r>
            <a:r>
              <a:rPr sz="2200" dirty="0" err="1"/>
              <a:t>כביש</a:t>
            </a:r>
            <a:r>
              <a:rPr lang="he-IL" sz="2200" dirty="0"/>
              <a:t>; </a:t>
            </a:r>
            <a:r>
              <a:rPr sz="2200" dirty="0" err="1"/>
              <a:t>במקרה</a:t>
            </a:r>
            <a:r>
              <a:rPr sz="2200" dirty="0"/>
              <a:t> </a:t>
            </a:r>
            <a:r>
              <a:rPr sz="2200" dirty="0" err="1"/>
              <a:t>כזה</a:t>
            </a:r>
            <a:r>
              <a:rPr sz="2200" dirty="0"/>
              <a:t> </a:t>
            </a:r>
            <a:r>
              <a:rPr sz="2200" dirty="0" err="1"/>
              <a:t>נפעל</a:t>
            </a:r>
            <a:r>
              <a:rPr sz="2200" dirty="0"/>
              <a:t> </a:t>
            </a:r>
            <a:r>
              <a:rPr sz="2200" dirty="0" err="1"/>
              <a:t>לפי</a:t>
            </a:r>
            <a:r>
              <a:rPr sz="2200" dirty="0"/>
              <a:t> </a:t>
            </a:r>
            <a:r>
              <a:rPr sz="2200" dirty="0" err="1"/>
              <a:t>נוהל</a:t>
            </a:r>
            <a:r>
              <a:rPr sz="2200" dirty="0"/>
              <a:t> </a:t>
            </a:r>
            <a:r>
              <a:rPr sz="2200" dirty="0" err="1"/>
              <a:t>ברבור</a:t>
            </a:r>
            <a:endParaRPr sz="2200" dirty="0"/>
          </a:p>
          <a:p>
            <a:pPr algn="just" rtl="1">
              <a:spcBef>
                <a:spcPts val="600"/>
              </a:spcBef>
            </a:pPr>
            <a:r>
              <a:rPr sz="2200" b="1" dirty="0" err="1"/>
              <a:t>סיפור</a:t>
            </a:r>
            <a:r>
              <a:rPr sz="2200" b="1" dirty="0"/>
              <a:t> </a:t>
            </a:r>
            <a:r>
              <a:rPr sz="2200" b="1" dirty="0" err="1"/>
              <a:t>דרך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תיאור</a:t>
            </a:r>
            <a:r>
              <a:rPr sz="2200" dirty="0"/>
              <a:t> </a:t>
            </a:r>
            <a:r>
              <a:rPr sz="2200" dirty="0" err="1"/>
              <a:t>סיפורי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הדרך</a:t>
            </a:r>
            <a:r>
              <a:rPr sz="2200" dirty="0"/>
              <a:t> </a:t>
            </a:r>
            <a:r>
              <a:rPr sz="2200" dirty="0" err="1"/>
              <a:t>שבה</a:t>
            </a:r>
            <a:r>
              <a:rPr sz="2200" dirty="0"/>
              <a:t> </a:t>
            </a:r>
            <a:r>
              <a:rPr sz="2200" dirty="0" err="1"/>
              <a:t>עוברים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613C0DC-E82B-8F4C-F1E1-7A1F0DB544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55CBEA4D-6C56-9482-3969-8973D9488B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בונים</a:t>
            </a:r>
            <a:r>
              <a:rPr dirty="0"/>
              <a:t> </a:t>
            </a:r>
            <a:r>
              <a:rPr dirty="0" err="1"/>
              <a:t>סיפור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דוגמה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המשימה</a:t>
            </a:r>
            <a:r>
              <a:rPr sz="2200" b="1" dirty="0"/>
              <a:t>: </a:t>
            </a:r>
            <a:r>
              <a:rPr sz="2200" b="1" dirty="0" err="1"/>
              <a:t>מקטע</a:t>
            </a:r>
            <a:r>
              <a:rPr lang="he-IL" sz="2200" b="1" dirty="0"/>
              <a:t> 1 -</a:t>
            </a:r>
            <a:r>
              <a:rPr sz="2200" b="1" dirty="0"/>
              <a:t> </a:t>
            </a:r>
            <a:r>
              <a:rPr sz="2200" b="1" dirty="0" err="1"/>
              <a:t>מהנ.ה</a:t>
            </a:r>
            <a:r>
              <a:rPr lang="he-IL" sz="2200" b="1" dirty="0"/>
              <a:t>.</a:t>
            </a:r>
            <a:r>
              <a:rPr sz="2200" b="1" dirty="0"/>
              <a:t> </a:t>
            </a:r>
            <a:r>
              <a:rPr sz="2200" b="1" dirty="0" err="1"/>
              <a:t>אל</a:t>
            </a:r>
            <a:r>
              <a:rPr sz="2200" b="1" dirty="0"/>
              <a:t> </a:t>
            </a:r>
            <a:r>
              <a:rPr sz="2200" b="1" dirty="0" err="1"/>
              <a:t>הכיפה</a:t>
            </a:r>
            <a:r>
              <a:rPr sz="2200" b="1" dirty="0"/>
              <a:t> 273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אופקי</a:t>
            </a:r>
            <a:r>
              <a:rPr lang="he-IL" sz="2200" dirty="0"/>
              <a:t>:</a:t>
            </a:r>
            <a:r>
              <a:rPr sz="2200" dirty="0"/>
              <a:t> כ</a:t>
            </a:r>
            <a:r>
              <a:rPr lang="he-IL" sz="2200" dirty="0"/>
              <a:t>-600 </a:t>
            </a:r>
            <a:r>
              <a:rPr sz="2200" dirty="0"/>
              <a:t>מ׳</a:t>
            </a:r>
            <a:r>
              <a:rPr lang="he-IL" sz="2200" dirty="0"/>
              <a:t>, </a:t>
            </a:r>
            <a:r>
              <a:rPr sz="2200" dirty="0"/>
              <a:t> 7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 </a:t>
            </a:r>
            <a:r>
              <a:rPr sz="2200" dirty="0" err="1"/>
              <a:t>בעלייה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הליכה</a:t>
            </a:r>
            <a:r>
              <a:rPr lang="he-IL" sz="2200" dirty="0"/>
              <a:t> = 600 + 70, כלומר </a:t>
            </a:r>
            <a:r>
              <a:rPr sz="2200" dirty="0"/>
              <a:t>כ</a:t>
            </a:r>
            <a:r>
              <a:rPr lang="he-IL" sz="2200" dirty="0"/>
              <a:t>-670 מ'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כללי</a:t>
            </a:r>
            <a:r>
              <a:rPr lang="he-IL" sz="2200" dirty="0"/>
              <a:t>: 020</a:t>
            </a:r>
            <a:endParaRPr sz="2200" dirty="0" err="1"/>
          </a:p>
          <a:p>
            <a:pPr algn="r" rtl="1">
              <a:spcBef>
                <a:spcPts val="600"/>
              </a:spcBef>
            </a:pPr>
            <a:r>
              <a:rPr sz="2200" dirty="0" err="1"/>
              <a:t>תוואי</a:t>
            </a:r>
            <a:r>
              <a:rPr lang="he-IL" sz="2200" dirty="0"/>
              <a:t>:</a:t>
            </a:r>
            <a:r>
              <a:rPr sz="2200" dirty="0"/>
              <a:t> </a:t>
            </a:r>
            <a:r>
              <a:rPr sz="2200" dirty="0" err="1"/>
              <a:t>במעלה</a:t>
            </a:r>
            <a:r>
              <a:rPr sz="2200" dirty="0"/>
              <a:t> </a:t>
            </a:r>
            <a:r>
              <a:rPr sz="2200" dirty="0" err="1"/>
              <a:t>ציר</a:t>
            </a:r>
            <a:r>
              <a:rPr sz="2200" dirty="0"/>
              <a:t> </a:t>
            </a:r>
            <a:r>
              <a:rPr sz="2200" dirty="0" err="1"/>
              <a:t>השלוחה</a:t>
            </a:r>
            <a:endParaRPr sz="2200" dirty="0"/>
          </a:p>
        </p:txBody>
      </p:sp>
      <p:pic>
        <p:nvPicPr>
          <p:cNvPr id="4" name="Picture 3" descr="route_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31785"/>
            <a:ext cx="3794760" cy="3645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659FDC1-C793-8DF5-7D39-65C65EB89E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40B986F-4239-8ED0-C340-7400289CBD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lang="he-IL" dirty="0"/>
              <a:t>בפועל יראה כך...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אימות: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הכיפה</a:t>
            </a:r>
            <a:r>
              <a:rPr sz="2200" dirty="0"/>
              <a:t> 273 </a:t>
            </a:r>
            <a:r>
              <a:rPr sz="2200" dirty="0" err="1"/>
              <a:t>מלפנים</a:t>
            </a:r>
            <a:r>
              <a:rPr sz="2200" dirty="0"/>
              <a:t> </a:t>
            </a:r>
            <a:r>
              <a:rPr sz="2200" dirty="0" err="1"/>
              <a:t>לאורך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העלייה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הגיא</a:t>
            </a:r>
            <a:r>
              <a:rPr sz="2200" dirty="0"/>
              <a:t> </a:t>
            </a:r>
            <a:r>
              <a:rPr sz="2200" dirty="0" err="1"/>
              <a:t>נשאר</a:t>
            </a:r>
            <a:r>
              <a:rPr sz="2200" dirty="0"/>
              <a:t> </a:t>
            </a:r>
            <a:r>
              <a:rPr sz="2200" dirty="0" err="1"/>
              <a:t>מימין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גבול ברור: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תחילת</a:t>
            </a:r>
            <a:r>
              <a:rPr sz="2200" dirty="0"/>
              <a:t> </a:t>
            </a:r>
            <a:r>
              <a:rPr sz="2200" dirty="0" err="1"/>
              <a:t>ירידה</a:t>
            </a:r>
            <a:r>
              <a:rPr sz="2200" dirty="0"/>
              <a:t> </a:t>
            </a:r>
            <a:r>
              <a:rPr sz="2200" dirty="0" err="1"/>
              <a:t>מעבר</a:t>
            </a:r>
            <a:r>
              <a:rPr sz="2200" dirty="0"/>
              <a:t> </a:t>
            </a:r>
            <a:r>
              <a:rPr sz="2200" dirty="0" err="1"/>
              <a:t>לפסגה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אם</a:t>
            </a:r>
            <a:r>
              <a:rPr sz="2200" dirty="0"/>
              <a:t> </a:t>
            </a:r>
            <a:r>
              <a:rPr sz="2200" dirty="0" err="1"/>
              <a:t>ירדנו</a:t>
            </a:r>
            <a:r>
              <a:rPr sz="2200" dirty="0"/>
              <a:t>, </a:t>
            </a:r>
            <a:r>
              <a:rPr sz="2200" dirty="0" err="1"/>
              <a:t>עברנו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המקטע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סיפור הדרך: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מה</a:t>
            </a:r>
            <a:r>
              <a:rPr lang="he-IL" sz="2200" dirty="0"/>
              <a:t>-</a:t>
            </a:r>
            <a:r>
              <a:rPr sz="2200" dirty="0" err="1"/>
              <a:t>נ.ה</a:t>
            </a:r>
            <a:r>
              <a:rPr sz="2200" dirty="0"/>
              <a:t> </a:t>
            </a:r>
            <a:r>
              <a:rPr sz="2200" dirty="0" err="1"/>
              <a:t>עולים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ציר</a:t>
            </a:r>
            <a:r>
              <a:rPr sz="2200" dirty="0"/>
              <a:t> </a:t>
            </a:r>
            <a:r>
              <a:rPr sz="2200" dirty="0" err="1"/>
              <a:t>השלוחה</a:t>
            </a:r>
            <a:r>
              <a:rPr sz="2200" dirty="0"/>
              <a:t> </a:t>
            </a:r>
            <a:r>
              <a:rPr sz="2200" dirty="0" err="1"/>
              <a:t>באזימוט</a:t>
            </a:r>
            <a:r>
              <a:rPr sz="2200" dirty="0"/>
              <a:t> 020 </a:t>
            </a:r>
            <a:r>
              <a:rPr lang="he-IL" sz="2200" dirty="0"/>
              <a:t> </a:t>
            </a:r>
            <a:r>
              <a:rPr sz="2200" dirty="0"/>
              <a:t>כ</a:t>
            </a:r>
            <a:r>
              <a:rPr lang="he-IL" sz="2200" dirty="0"/>
              <a:t>-</a:t>
            </a:r>
            <a:r>
              <a:rPr sz="2200" dirty="0"/>
              <a:t>670</a:t>
            </a:r>
            <a:r>
              <a:rPr lang="he-IL" sz="2200" dirty="0"/>
              <a:t> </a:t>
            </a:r>
            <a:r>
              <a:rPr sz="2200" dirty="0"/>
              <a:t> מ׳ </a:t>
            </a:r>
            <a:r>
              <a:rPr sz="2200" dirty="0" err="1"/>
              <a:t>עד</a:t>
            </a:r>
            <a:r>
              <a:rPr sz="2200" dirty="0"/>
              <a:t> </a:t>
            </a:r>
            <a:r>
              <a:rPr sz="2200" dirty="0" err="1"/>
              <a:t>ראש</a:t>
            </a:r>
            <a:r>
              <a:rPr sz="2200" dirty="0"/>
              <a:t> </a:t>
            </a:r>
            <a:r>
              <a:rPr sz="2200" dirty="0" err="1"/>
              <a:t>הכיפה</a:t>
            </a:r>
            <a:r>
              <a:rPr sz="2200" dirty="0"/>
              <a:t> 273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13DC383-5B37-E8DC-DF5A-34AC99D58E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0DECB7A7-AC2A-82D0-7275-91A435BBA3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66980" y="3750267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תרגול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סיפור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dirty="0" err="1"/>
              <a:t>למקטע</a:t>
            </a:r>
            <a:r>
              <a:rPr dirty="0"/>
              <a:t>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1" y="1816720"/>
            <a:ext cx="7239000" cy="4351606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עכשיו</a:t>
            </a:r>
            <a:r>
              <a:rPr sz="2200" b="1" dirty="0"/>
              <a:t> </a:t>
            </a:r>
            <a:r>
              <a:rPr sz="2200" b="1" dirty="0" err="1"/>
              <a:t>אתם</a:t>
            </a:r>
            <a:r>
              <a:rPr sz="2200" b="1" dirty="0"/>
              <a:t>: </a:t>
            </a:r>
            <a:r>
              <a:rPr sz="2200" b="1" dirty="0" err="1"/>
              <a:t>מהכיפה</a:t>
            </a:r>
            <a:r>
              <a:rPr sz="2200" b="1" dirty="0"/>
              <a:t> 273 </a:t>
            </a:r>
            <a:r>
              <a:rPr lang="he-IL" sz="2200" b="1" dirty="0"/>
              <a:t> </a:t>
            </a:r>
            <a:r>
              <a:rPr sz="2200" b="1" dirty="0" err="1"/>
              <a:t>אל</a:t>
            </a:r>
            <a:r>
              <a:rPr sz="2200" b="1" dirty="0"/>
              <a:t> </a:t>
            </a:r>
            <a:r>
              <a:rPr sz="2200" b="1" dirty="0" err="1"/>
              <a:t>האוכף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מדדו</a:t>
            </a:r>
            <a:r>
              <a:rPr sz="2200" dirty="0"/>
              <a:t>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אופקי</a:t>
            </a:r>
            <a:r>
              <a:rPr sz="2200" dirty="0"/>
              <a:t> </a:t>
            </a:r>
            <a:r>
              <a:rPr sz="2200" dirty="0" err="1"/>
              <a:t>וחשבו</a:t>
            </a:r>
            <a:r>
              <a:rPr sz="2200" dirty="0"/>
              <a:t>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הליכה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רמז</a:t>
            </a:r>
            <a:r>
              <a:rPr sz="2200" dirty="0"/>
              <a:t>: </a:t>
            </a:r>
            <a:r>
              <a:rPr sz="2200" dirty="0" err="1"/>
              <a:t>בירידה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מוסיפים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הוציאו אזימוט כללי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קבעו תוואי, שתי נקודות אימות וגבול ברור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כתבו את השורה המלאה בטבלת סיפור הדרך</a:t>
            </a:r>
          </a:p>
        </p:txBody>
      </p:sp>
      <p:pic>
        <p:nvPicPr>
          <p:cNvPr id="4" name="Picture 3" descr="route_story_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31785"/>
            <a:ext cx="3794760" cy="3645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8137" y="2222261"/>
            <a:ext cx="8395723" cy="1813678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שלב</a:t>
            </a:r>
            <a:r>
              <a:rPr dirty="0"/>
              <a:t> ג׳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דגשים</a:t>
            </a:r>
            <a:r>
              <a:rPr dirty="0"/>
              <a:t> </a:t>
            </a:r>
            <a:r>
              <a:rPr dirty="0" err="1"/>
              <a:t>ובטיחות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1937" y="3645693"/>
            <a:ext cx="5652524" cy="1014413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קבלת</a:t>
            </a:r>
            <a:r>
              <a:rPr dirty="0"/>
              <a:t> </a:t>
            </a:r>
            <a:r>
              <a:rPr dirty="0" err="1"/>
              <a:t>דגשים</a:t>
            </a:r>
            <a:r>
              <a:rPr dirty="0"/>
              <a:t> </a:t>
            </a:r>
            <a:r>
              <a:rPr dirty="0" err="1"/>
              <a:t>ובניית</a:t>
            </a:r>
            <a:r>
              <a:rPr dirty="0"/>
              <a:t> </a:t>
            </a:r>
            <a:r>
              <a:rPr dirty="0" err="1"/>
              <a:t>שקף</a:t>
            </a:r>
            <a:r>
              <a:rPr dirty="0"/>
              <a:t> </a:t>
            </a:r>
            <a:r>
              <a:rPr dirty="0" err="1"/>
              <a:t>בטיחות</a:t>
            </a:r>
            <a:endParaRPr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294929E-4729-6802-69F1-F88A482CC0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9280960-9A6F-832E-FDEA-D0C8789664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5761" y="34290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194A6FF9-0E15-DD0B-2B3C-D29D98452E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D621F63-0DDB-A1EE-1BDB-5931CCEC4D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255761" y="342900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דגשים</a:t>
            </a:r>
            <a:r>
              <a:rPr dirty="0"/>
              <a:t> </a:t>
            </a:r>
            <a:r>
              <a:rPr dirty="0" err="1"/>
              <a:t>ובטיחות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400" dirty="0" err="1"/>
              <a:t>קבלת</a:t>
            </a:r>
            <a:r>
              <a:rPr sz="2400" dirty="0"/>
              <a:t> </a:t>
            </a:r>
            <a:r>
              <a:rPr sz="2400" dirty="0" err="1"/>
              <a:t>דגשים</a:t>
            </a:r>
            <a:r>
              <a:rPr sz="2400" dirty="0"/>
              <a:t> </a:t>
            </a:r>
            <a:r>
              <a:rPr sz="2400" dirty="0" err="1"/>
              <a:t>לניווט</a:t>
            </a:r>
            <a:r>
              <a:rPr sz="2400" dirty="0"/>
              <a:t> </a:t>
            </a:r>
            <a:r>
              <a:rPr sz="2400" dirty="0" err="1"/>
              <a:t>על</a:t>
            </a:r>
            <a:r>
              <a:rPr sz="2400" dirty="0"/>
              <a:t> </a:t>
            </a:r>
            <a:r>
              <a:rPr sz="2400" dirty="0" err="1"/>
              <a:t>ידי</a:t>
            </a:r>
            <a:r>
              <a:rPr sz="2400" dirty="0"/>
              <a:t> </a:t>
            </a:r>
            <a:r>
              <a:rPr sz="2400" dirty="0" err="1"/>
              <a:t>המפקד</a:t>
            </a:r>
            <a:endParaRPr sz="2400" dirty="0"/>
          </a:p>
          <a:p>
            <a:pPr algn="r" rtl="1">
              <a:spcBef>
                <a:spcPts val="600"/>
              </a:spcBef>
            </a:pPr>
            <a:r>
              <a:rPr sz="2400" dirty="0" err="1"/>
              <a:t>בניית</a:t>
            </a:r>
            <a:r>
              <a:rPr sz="2400" dirty="0"/>
              <a:t> </a:t>
            </a:r>
            <a:r>
              <a:rPr sz="2400" dirty="0" err="1"/>
              <a:t>שקף</a:t>
            </a:r>
            <a:r>
              <a:rPr sz="2400" dirty="0"/>
              <a:t> </a:t>
            </a:r>
            <a:r>
              <a:rPr sz="2400" dirty="0" err="1"/>
              <a:t>בטיחות</a:t>
            </a:r>
            <a:r>
              <a:rPr sz="2400" dirty="0"/>
              <a:t> </a:t>
            </a:r>
            <a:r>
              <a:rPr sz="2400" dirty="0" err="1"/>
              <a:t>הכולל</a:t>
            </a:r>
            <a:r>
              <a:rPr sz="24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שמות</a:t>
            </a:r>
            <a:r>
              <a:rPr sz="2200" b="1" dirty="0"/>
              <a:t> </a:t>
            </a:r>
            <a:r>
              <a:rPr sz="2200" b="1" dirty="0" err="1"/>
              <a:t>חברי</a:t>
            </a:r>
            <a:r>
              <a:rPr sz="2200" b="1" dirty="0"/>
              <a:t> </a:t>
            </a:r>
            <a:r>
              <a:rPr sz="2200" b="1" dirty="0" err="1"/>
              <a:t>החוליה</a:t>
            </a:r>
            <a:r>
              <a:rPr sz="2200" b="1" dirty="0"/>
              <a:t> </a:t>
            </a:r>
            <a:endParaRPr lang="he-IL" sz="2200" b="1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מספרי</a:t>
            </a:r>
            <a:r>
              <a:rPr sz="2200" b="1" dirty="0"/>
              <a:t> </a:t>
            </a:r>
            <a:r>
              <a:rPr sz="2200" b="1" dirty="0" err="1"/>
              <a:t>טלפון</a:t>
            </a:r>
            <a:endParaRPr sz="2200" b="1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אורך</a:t>
            </a:r>
            <a:r>
              <a:rPr sz="2200" b="1" dirty="0"/>
              <a:t> </a:t>
            </a:r>
            <a:r>
              <a:rPr sz="2200" b="1" dirty="0" err="1"/>
              <a:t>הציר</a:t>
            </a:r>
            <a:endParaRPr lang="he-IL" sz="2200" b="1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מסלול</a:t>
            </a:r>
            <a:r>
              <a:rPr sz="2200" b="1" dirty="0"/>
              <a:t> </a:t>
            </a:r>
            <a:r>
              <a:rPr sz="2200" b="1" dirty="0" err="1"/>
              <a:t>ההליכה</a:t>
            </a:r>
            <a:endParaRPr sz="2200" b="1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נת״בים</a:t>
            </a:r>
            <a:endParaRPr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6B0C617E-6CBE-F908-4C36-ED9A1AFE0C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2B332791-DD3E-B883-AF91-4E5E640C6F8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255761" y="342900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איך נראה שקף בטיחות?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שקף</a:t>
            </a:r>
            <a:r>
              <a:rPr sz="2200" dirty="0"/>
              <a:t> </a:t>
            </a:r>
            <a:r>
              <a:rPr sz="2200" dirty="0" err="1"/>
              <a:t>שעליו</a:t>
            </a:r>
            <a:r>
              <a:rPr sz="2200" dirty="0"/>
              <a:t> </a:t>
            </a:r>
            <a:r>
              <a:rPr sz="2200" dirty="0" err="1"/>
              <a:t>מופיע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המידע</a:t>
            </a:r>
            <a:r>
              <a:rPr sz="2200" dirty="0"/>
              <a:t> </a:t>
            </a:r>
            <a:r>
              <a:rPr sz="2200" dirty="0" err="1"/>
              <a:t>הרלוונטי</a:t>
            </a:r>
            <a:r>
              <a:rPr sz="2200" dirty="0"/>
              <a:t> </a:t>
            </a:r>
            <a:r>
              <a:rPr sz="2200" dirty="0" err="1"/>
              <a:t>כדי</a:t>
            </a:r>
            <a:r>
              <a:rPr sz="2200" dirty="0"/>
              <a:t> </a:t>
            </a:r>
            <a:r>
              <a:rPr sz="2200" dirty="0" err="1"/>
              <a:t>לדעת</a:t>
            </a:r>
            <a:r>
              <a:rPr sz="2200" dirty="0"/>
              <a:t> </a:t>
            </a:r>
            <a:r>
              <a:rPr sz="2200" dirty="0" err="1"/>
              <a:t>שאנחנו</a:t>
            </a:r>
            <a:r>
              <a:rPr sz="2200" dirty="0"/>
              <a:t> </a:t>
            </a:r>
            <a:r>
              <a:rPr sz="2200" dirty="0" err="1"/>
              <a:t>בטוחים</a:t>
            </a:r>
            <a:r>
              <a:rPr sz="2200" dirty="0"/>
              <a:t> </a:t>
            </a:r>
            <a:r>
              <a:rPr sz="2200" dirty="0" err="1"/>
              <a:t>ולתפעל</a:t>
            </a:r>
            <a:r>
              <a:rPr sz="2200" dirty="0"/>
              <a:t> </a:t>
            </a:r>
            <a:r>
              <a:rPr sz="2200" dirty="0" err="1"/>
              <a:t>בעת</a:t>
            </a:r>
            <a:r>
              <a:rPr sz="2200" dirty="0"/>
              <a:t> </a:t>
            </a:r>
            <a:r>
              <a:rPr sz="2200" dirty="0" err="1"/>
              <a:t>הצורך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מעגנים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השקף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ב</a:t>
            </a:r>
            <a:r>
              <a:rPr lang="he-IL" sz="2200" dirty="0"/>
              <a:t>-2</a:t>
            </a:r>
            <a:r>
              <a:rPr sz="2200" dirty="0"/>
              <a:t> </a:t>
            </a:r>
            <a:r>
              <a:rPr sz="2200" dirty="0" err="1"/>
              <a:t>נ״צ</a:t>
            </a:r>
            <a:r>
              <a:rPr sz="2200" dirty="0"/>
              <a:t> </a:t>
            </a:r>
            <a:r>
              <a:rPr sz="2200" dirty="0" err="1"/>
              <a:t>שעל</a:t>
            </a:r>
            <a:r>
              <a:rPr sz="2200" dirty="0"/>
              <a:t> </a:t>
            </a:r>
            <a:r>
              <a:rPr sz="2200" dirty="0" err="1"/>
              <a:t>הצירים</a:t>
            </a:r>
            <a:r>
              <a:rPr lang="he-IL" sz="2200" dirty="0"/>
              <a:t>(</a:t>
            </a:r>
            <a:r>
              <a:rPr sz="2200" dirty="0" err="1"/>
              <a:t>אנכי</a:t>
            </a:r>
            <a:r>
              <a:rPr sz="2200" dirty="0"/>
              <a:t> </a:t>
            </a:r>
            <a:r>
              <a:rPr sz="2200" dirty="0" err="1"/>
              <a:t>ואופקי</a:t>
            </a:r>
            <a:r>
              <a:rPr lang="he-IL" sz="2200" dirty="0"/>
              <a:t>) </a:t>
            </a:r>
            <a:r>
              <a:rPr sz="2200" dirty="0" err="1"/>
              <a:t>לווידוא</a:t>
            </a:r>
            <a:r>
              <a:rPr sz="2200" dirty="0"/>
              <a:t> </a:t>
            </a:r>
            <a:r>
              <a:rPr sz="2200" dirty="0" err="1"/>
              <a:t>עיגון</a:t>
            </a:r>
            <a:r>
              <a:rPr sz="2200" dirty="0"/>
              <a:t>, </a:t>
            </a:r>
            <a:r>
              <a:rPr sz="2200" dirty="0" err="1"/>
              <a:t>ואז</a:t>
            </a:r>
            <a:r>
              <a:rPr sz="2200" dirty="0"/>
              <a:t> </a:t>
            </a:r>
            <a:r>
              <a:rPr sz="2200" dirty="0" err="1"/>
              <a:t>מסרטטים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 err="1"/>
              <a:t>סימון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הנת״בים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שטח</a:t>
            </a:r>
            <a:r>
              <a:rPr sz="2200" dirty="0"/>
              <a:t> </a:t>
            </a:r>
            <a:r>
              <a:rPr sz="2200" dirty="0" err="1"/>
              <a:t>אש</a:t>
            </a:r>
            <a:r>
              <a:rPr sz="2200" dirty="0"/>
              <a:t>, </a:t>
            </a:r>
            <a:r>
              <a:rPr sz="2200" dirty="0" err="1"/>
              <a:t>בורות</a:t>
            </a:r>
            <a:r>
              <a:rPr sz="2200" dirty="0"/>
              <a:t>, </a:t>
            </a:r>
            <a:r>
              <a:rPr sz="2200" dirty="0" err="1"/>
              <a:t>צוק</a:t>
            </a:r>
            <a:r>
              <a:rPr lang="he-IL" sz="2200" dirty="0"/>
              <a:t>...) </a:t>
            </a:r>
            <a:r>
              <a:rPr sz="2200" dirty="0" err="1"/>
              <a:t>וכל</a:t>
            </a:r>
            <a:r>
              <a:rPr sz="2200" dirty="0"/>
              <a:t> </a:t>
            </a:r>
            <a:r>
              <a:rPr sz="2200" dirty="0" err="1"/>
              <a:t>הג״ג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סימון</a:t>
            </a:r>
            <a:r>
              <a:rPr sz="2200" dirty="0"/>
              <a:t> </a:t>
            </a:r>
            <a:r>
              <a:rPr sz="2200" dirty="0" err="1"/>
              <a:t>הנ״צ</a:t>
            </a:r>
            <a:r>
              <a:rPr sz="2200" dirty="0"/>
              <a:t> </a:t>
            </a:r>
            <a:r>
              <a:rPr sz="2200" dirty="0" err="1"/>
              <a:t>החשובים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נ.ה</a:t>
            </a:r>
            <a:r>
              <a:rPr sz="2200" dirty="0"/>
              <a:t>, </a:t>
            </a:r>
            <a:r>
              <a:rPr sz="2200" dirty="0" err="1"/>
              <a:t>נ.ס</a:t>
            </a:r>
            <a:r>
              <a:rPr sz="2200" dirty="0"/>
              <a:t>, </a:t>
            </a:r>
            <a:r>
              <a:rPr sz="2200" dirty="0" err="1"/>
              <a:t>נ.ב</a:t>
            </a:r>
            <a:r>
              <a:rPr sz="2200" dirty="0"/>
              <a:t>, </a:t>
            </a:r>
            <a:r>
              <a:rPr sz="2200" dirty="0" err="1"/>
              <a:t>ונ״צ</a:t>
            </a:r>
            <a:r>
              <a:rPr sz="2200" dirty="0"/>
              <a:t> </a:t>
            </a:r>
            <a:r>
              <a:rPr sz="2200" dirty="0" err="1"/>
              <a:t>שצריך</a:t>
            </a:r>
            <a:r>
              <a:rPr sz="2200" dirty="0"/>
              <a:t> </a:t>
            </a:r>
            <a:r>
              <a:rPr sz="2200" dirty="0" err="1"/>
              <a:t>לעבור</a:t>
            </a:r>
            <a:r>
              <a:rPr sz="2200" dirty="0"/>
              <a:t> </a:t>
            </a:r>
            <a:r>
              <a:rPr sz="2200" dirty="0" err="1"/>
              <a:t>בהם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ולבסוף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סרטוט</a:t>
            </a:r>
            <a:r>
              <a:rPr sz="2200" dirty="0"/>
              <a:t> </a:t>
            </a:r>
            <a:r>
              <a:rPr sz="2200" dirty="0" err="1"/>
              <a:t>ציר</a:t>
            </a:r>
            <a:r>
              <a:rPr sz="2200" dirty="0"/>
              <a:t> </a:t>
            </a:r>
            <a:r>
              <a:rPr sz="2200" dirty="0" err="1"/>
              <a:t>הניווט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השקף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בנוסף</a:t>
            </a:r>
            <a:r>
              <a:rPr sz="2200" dirty="0"/>
              <a:t> </a:t>
            </a:r>
            <a:r>
              <a:rPr sz="2200" dirty="0" err="1"/>
              <a:t>נרשום</a:t>
            </a:r>
            <a:r>
              <a:rPr lang="he-IL" sz="2200" dirty="0"/>
              <a:t>: </a:t>
            </a:r>
            <a:r>
              <a:rPr sz="2200" dirty="0" err="1"/>
              <a:t>מספר</a:t>
            </a:r>
            <a:r>
              <a:rPr sz="2200" dirty="0"/>
              <a:t> </a:t>
            </a:r>
            <a:r>
              <a:rPr sz="2200" dirty="0" err="1"/>
              <a:t>ושמות</a:t>
            </a:r>
            <a:r>
              <a:rPr sz="2200" dirty="0"/>
              <a:t> </a:t>
            </a:r>
            <a:r>
              <a:rPr sz="2200" dirty="0" err="1"/>
              <a:t>חברי</a:t>
            </a:r>
            <a:r>
              <a:rPr sz="2200" dirty="0"/>
              <a:t> </a:t>
            </a:r>
            <a:r>
              <a:rPr sz="2200" dirty="0" err="1"/>
              <a:t>החוליה</a:t>
            </a:r>
            <a:r>
              <a:rPr sz="2200" dirty="0"/>
              <a:t>, </a:t>
            </a:r>
            <a:r>
              <a:rPr sz="2200" dirty="0" err="1"/>
              <a:t>תאריך</a:t>
            </a:r>
            <a:r>
              <a:rPr sz="2200" dirty="0"/>
              <a:t>, </a:t>
            </a:r>
            <a:r>
              <a:rPr sz="2200" dirty="0" err="1"/>
              <a:t>ואורך</a:t>
            </a:r>
            <a:r>
              <a:rPr sz="2200" dirty="0"/>
              <a:t> </a:t>
            </a:r>
            <a:r>
              <a:rPr sz="2200" dirty="0" err="1"/>
              <a:t>הציר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איך נראה בפועל השקף?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כך</a:t>
            </a:r>
            <a:r>
              <a:rPr sz="2200" dirty="0"/>
              <a:t> </a:t>
            </a:r>
            <a:r>
              <a:rPr sz="2200" dirty="0" err="1"/>
              <a:t>נראה</a:t>
            </a:r>
            <a:r>
              <a:rPr sz="2200" dirty="0"/>
              <a:t> </a:t>
            </a:r>
            <a:r>
              <a:rPr sz="2200" dirty="0" err="1"/>
              <a:t>שקף</a:t>
            </a:r>
            <a:r>
              <a:rPr sz="2200" dirty="0"/>
              <a:t> </a:t>
            </a:r>
            <a:r>
              <a:rPr sz="2200" dirty="0" err="1"/>
              <a:t>הבטיחות</a:t>
            </a:r>
            <a:r>
              <a:rPr sz="2200" dirty="0"/>
              <a:t> </a:t>
            </a:r>
            <a:r>
              <a:rPr sz="2200" dirty="0" err="1"/>
              <a:t>כשהוא</a:t>
            </a:r>
            <a:r>
              <a:rPr sz="2200" dirty="0"/>
              <a:t> </a:t>
            </a:r>
            <a:r>
              <a:rPr sz="2200" dirty="0" err="1"/>
              <a:t>מונח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המפה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עוגן</a:t>
            </a:r>
            <a:r>
              <a:rPr sz="2200" dirty="0"/>
              <a:t> ב</a:t>
            </a:r>
            <a:r>
              <a:rPr lang="he-IL" sz="2200" dirty="0"/>
              <a:t>-2</a:t>
            </a:r>
            <a:r>
              <a:rPr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עיגון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דקירה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הנת״בים</a:t>
            </a:r>
            <a:r>
              <a:rPr sz="2200" dirty="0"/>
              <a:t> </a:t>
            </a:r>
            <a:r>
              <a:rPr sz="2200" dirty="0" err="1"/>
              <a:t>והאזורים</a:t>
            </a:r>
            <a:r>
              <a:rPr sz="2200" dirty="0"/>
              <a:t> </a:t>
            </a:r>
            <a:r>
              <a:rPr sz="2200" dirty="0" err="1"/>
              <a:t>האסורים</a:t>
            </a:r>
            <a:r>
              <a:rPr sz="2200" dirty="0"/>
              <a:t> </a:t>
            </a:r>
            <a:r>
              <a:rPr sz="2200" dirty="0" err="1"/>
              <a:t>מסומנים</a:t>
            </a:r>
            <a:r>
              <a:rPr sz="2200" dirty="0"/>
              <a:t>, </a:t>
            </a:r>
            <a:r>
              <a:rPr sz="2200" dirty="0" err="1"/>
              <a:t>והציר</a:t>
            </a:r>
            <a:r>
              <a:rPr sz="2200" dirty="0"/>
              <a:t> </a:t>
            </a:r>
            <a:r>
              <a:rPr sz="2200" dirty="0" err="1"/>
              <a:t>משורטט</a:t>
            </a:r>
            <a:endParaRPr sz="2200" dirty="0"/>
          </a:p>
        </p:txBody>
      </p:sp>
      <p:pic>
        <p:nvPicPr>
          <p:cNvPr id="4" name="Picture 3" descr="l3_safe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1934703"/>
            <a:ext cx="4937760" cy="3734095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0D653BE-9A4F-F474-8D0C-5C31B3D9B2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CC01FDC0-6973-80FC-8FB8-85B4B3ABA4C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0255761" y="34290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1CBD2AE-67BF-4EF9-F0EE-73B9FDB6C8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2BD241B-E58B-B52C-D972-CC89D36698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255761" y="342900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לכל צבע יש משמעות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שחור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ג״ג</a:t>
            </a:r>
            <a:r>
              <a:rPr sz="2200" dirty="0"/>
              <a:t> </a:t>
            </a:r>
            <a:r>
              <a:rPr sz="2200" dirty="0" err="1"/>
              <a:t>ודקירת</a:t>
            </a:r>
            <a:r>
              <a:rPr sz="2200" dirty="0"/>
              <a:t> </a:t>
            </a:r>
            <a:r>
              <a:rPr sz="2200" dirty="0" err="1"/>
              <a:t>נ.צ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נ.ה</a:t>
            </a:r>
            <a:r>
              <a:rPr sz="2200" dirty="0"/>
              <a:t>, </a:t>
            </a:r>
            <a:r>
              <a:rPr sz="2200" dirty="0" err="1"/>
              <a:t>נ.ב</a:t>
            </a:r>
            <a:r>
              <a:rPr sz="2200" dirty="0"/>
              <a:t>, </a:t>
            </a:r>
            <a:r>
              <a:rPr sz="2200" dirty="0" err="1"/>
              <a:t>נ.ס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rgbClr val="FF0000"/>
                </a:solidFill>
              </a:rPr>
              <a:t>אדום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אזורים</a:t>
            </a:r>
            <a:r>
              <a:rPr sz="2200" dirty="0"/>
              <a:t> </a:t>
            </a:r>
            <a:r>
              <a:rPr sz="2200" dirty="0" err="1"/>
              <a:t>אסורים</a:t>
            </a:r>
            <a:r>
              <a:rPr sz="2200" dirty="0"/>
              <a:t>, </a:t>
            </a:r>
            <a:r>
              <a:rPr sz="2200" dirty="0" err="1"/>
              <a:t>נת״בים</a:t>
            </a:r>
            <a:r>
              <a:rPr lang="he-IL" sz="2200" dirty="0"/>
              <a:t>, </a:t>
            </a:r>
            <a:r>
              <a:rPr sz="2200" dirty="0"/>
              <a:t>ו</a:t>
            </a:r>
            <a:r>
              <a:rPr lang="he-IL" sz="2200" dirty="0"/>
              <a:t>-2</a:t>
            </a:r>
            <a:r>
              <a:rPr sz="2200" dirty="0"/>
              <a:t>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העיגון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עם</a:t>
            </a:r>
            <a:r>
              <a:rPr sz="2200" dirty="0"/>
              <a:t> </a:t>
            </a:r>
            <a:r>
              <a:rPr sz="2200" dirty="0" err="1"/>
              <a:t>הנ.צ</a:t>
            </a:r>
            <a:r>
              <a:rPr sz="2200" dirty="0"/>
              <a:t> </a:t>
            </a:r>
            <a:r>
              <a:rPr sz="2200" dirty="0" err="1"/>
              <a:t>שלהן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4">
                    <a:lumMod val="50000"/>
                  </a:schemeClr>
                </a:solidFill>
              </a:rPr>
              <a:t>כחול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נ.צ</a:t>
            </a:r>
            <a:r>
              <a:rPr sz="2200" dirty="0"/>
              <a:t> </a:t>
            </a:r>
            <a:r>
              <a:rPr sz="2200" dirty="0" err="1"/>
              <a:t>ומספר</a:t>
            </a:r>
            <a:r>
              <a:rPr sz="2200" dirty="0"/>
              <a:t> </a:t>
            </a:r>
            <a:r>
              <a:rPr sz="2200" dirty="0" err="1"/>
              <a:t>סידורי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כל</a:t>
            </a:r>
            <a:r>
              <a:rPr sz="2200" dirty="0"/>
              <a:t> </a:t>
            </a:r>
            <a:r>
              <a:rPr sz="2200" dirty="0" err="1"/>
              <a:t>נ.צ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>
                <a:solidFill>
                  <a:schemeClr val="accent6">
                    <a:lumMod val="75000"/>
                  </a:schemeClr>
                </a:solidFill>
              </a:rPr>
              <a:t>ירוק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שרטוט</a:t>
            </a:r>
            <a:r>
              <a:rPr sz="2200" dirty="0"/>
              <a:t> </a:t>
            </a:r>
            <a:r>
              <a:rPr sz="2200" dirty="0" err="1"/>
              <a:t>נתיב</a:t>
            </a:r>
            <a:r>
              <a:rPr sz="2200" dirty="0"/>
              <a:t> </a:t>
            </a:r>
            <a:r>
              <a:rPr sz="2200" dirty="0" err="1"/>
              <a:t>מדויק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53610295-7C6E-794D-73EA-9353729584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44F191B7-30AE-5536-5707-AABD37B99C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1056022" y="2512774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לסיכום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8960" y="182880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מהם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שלושת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השלבים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לבניית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ציר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3080" y="182880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כולל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סיפור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דרך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כמה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נקודות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אימות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יהיו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בכל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מקטע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8960" y="370332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איך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נחשב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מרחק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הליכה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3080" y="370332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מדוע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כיפה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סמויה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אינה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מסומנת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במפה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03320"/>
            <a:ext cx="3545840" cy="1554480"/>
          </a:xfrm>
          <a:prstGeom prst="roundRect">
            <a:avLst/>
          </a:prstGeom>
          <a:solidFill>
            <a:srgbClr val="EAF3E6"/>
          </a:solidFill>
          <a:ln w="15875">
            <a:solidFill>
              <a:srgbClr val="4E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rtl="1">
              <a:spcBef>
                <a:spcPts val="600"/>
              </a:spcBef>
            </a:pP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כולל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שקף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בטיחות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D6E4-DE64-DC0B-41E4-9D83E62A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8726-DF8F-B467-6765-1CA9D7870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817" y="2761791"/>
            <a:ext cx="7094995" cy="926347"/>
          </a:xfrm>
        </p:spPr>
        <p:txBody>
          <a:bodyPr>
            <a:normAutofit fontScale="90000"/>
          </a:bodyPr>
          <a:lstStyle/>
          <a:p>
            <a:pPr rtl="1">
              <a:spcBef>
                <a:spcPts val="600"/>
              </a:spcBef>
            </a:pPr>
            <a:r>
              <a:rPr lang="he-IL" dirty="0"/>
              <a:t>דרך צלחה!</a:t>
            </a:r>
            <a:endParaRPr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EC18266-C427-9DA4-8040-640446B4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3DBC8D8-6114-78EC-C2BB-27DDC9C69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022" y="2444375"/>
            <a:ext cx="1447800" cy="1447800"/>
          </a:xfrm>
          <a:prstGeom prst="rect">
            <a:avLst/>
          </a:prstGeom>
        </p:spPr>
      </p:pic>
      <p:sp>
        <p:nvSpPr>
          <p:cNvPr id="6" name="כותרת משנה 5">
            <a:extLst>
              <a:ext uri="{FF2B5EF4-FFF2-40B4-BE49-F238E27FC236}">
                <a16:creationId xmlns:a16="http://schemas.microsoft.com/office/drawing/2014/main" id="{539D708A-C6FF-3A8F-5FCE-97E623953F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6385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0.07304 -0.02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4440</TotalTime>
  <Words>1646</Words>
  <Application>Microsoft Office PowerPoint</Application>
  <PresentationFormat>מסך רחב</PresentationFormat>
  <Paragraphs>188</Paragraphs>
  <Slides>27</Slides>
  <Notes>27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32" baseType="lpstr">
      <vt:lpstr>Assistant</vt:lpstr>
      <vt:lpstr>Helvetica Neue</vt:lpstr>
      <vt:lpstr>Arial</vt:lpstr>
      <vt:lpstr>Heebo ExtraBold</vt:lpstr>
      <vt:lpstr>קקס יום</vt:lpstr>
      <vt:lpstr>ניווטים בפעם האחרונה (לבינתיים)</vt:lpstr>
      <vt:lpstr>מטרות השיעור</vt:lpstr>
      <vt:lpstr>מצגת של PowerPoint‏</vt:lpstr>
      <vt:lpstr>השלבים בבניית הציר</vt:lpstr>
      <vt:lpstr>מצגת של PowerPoint‏</vt:lpstr>
      <vt:lpstr>שלב א׳ - תכנון הציר</vt:lpstr>
      <vt:lpstr>תכנון הציר</vt:lpstr>
      <vt:lpstr>מהם השיקולים לבניית ציר ניווט?</vt:lpstr>
      <vt:lpstr>תכנון הציר - הטלת הנתונים על המפה</vt:lpstr>
      <vt:lpstr>תכנון הציר - סימון נקודות תורפה</vt:lpstr>
      <vt:lpstr>תכנון הציר - בניית המסלול האולטימטיבי</vt:lpstr>
      <vt:lpstr>שלב ב׳ - לימוד הציר</vt:lpstr>
      <vt:lpstr>לימוד הציר</vt:lpstr>
      <vt:lpstr>חלוקה למקטעים</vt:lpstr>
      <vt:lpstr>בניית סיפור דרך</vt:lpstr>
      <vt:lpstr>חישוב מרחק ההליכה</vt:lpstr>
      <vt:lpstr>מרכיבי סיפור הדרך</vt:lpstr>
      <vt:lpstr>בונים סיפור דרך - דוגמה</vt:lpstr>
      <vt:lpstr>בפועל יראה כך...</vt:lpstr>
      <vt:lpstr>תרגול - סיפור דרך למקטע 2</vt:lpstr>
      <vt:lpstr>שלב ג׳ - דגשים ובטיחות</vt:lpstr>
      <vt:lpstr>דגשים ובטיחות</vt:lpstr>
      <vt:lpstr>איך נראה שקף בטיחות?</vt:lpstr>
      <vt:lpstr>איך נראה בפועל השקף?</vt:lpstr>
      <vt:lpstr>לכל צבע יש משמעות</vt:lpstr>
      <vt:lpstr>לסיכום</vt:lpstr>
      <vt:lpstr>דרך צלחה!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</dc:creator>
  <cp:lastModifiedBy>ספיר מרזל</cp:lastModifiedBy>
  <cp:revision>36</cp:revision>
  <dcterms:created xsi:type="dcterms:W3CDTF">2025-03-02T22:49:34Z</dcterms:created>
  <dcterms:modified xsi:type="dcterms:W3CDTF">2026-07-25T10:11:27Z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1b9bfc-c426-492e-a46c-1a922d5fe54b_Enabled">
    <vt:lpwstr>true</vt:lpwstr>
  </property>
  <property fmtid="{D5CDD505-2E9C-101B-9397-08002B2CF9AE}" pid="3" name="MSIP_Label_701b9bfc-c426-492e-a46c-1a922d5fe54b_SetDate">
    <vt:lpwstr>2026-01-08T20:20:59Z</vt:lpwstr>
  </property>
  <property fmtid="{D5CDD505-2E9C-101B-9397-08002B2CF9AE}" pid="4" name="MSIP_Label_701b9bfc-c426-492e-a46c-1a922d5fe54b_Method">
    <vt:lpwstr>Privileged</vt:lpwstr>
  </property>
  <property fmtid="{D5CDD505-2E9C-101B-9397-08002B2CF9AE}" pid="5" name="MSIP_Label_701b9bfc-c426-492e-a46c-1a922d5fe54b_Name">
    <vt:lpwstr>בלמ"ס</vt:lpwstr>
  </property>
  <property fmtid="{D5CDD505-2E9C-101B-9397-08002B2CF9AE}" pid="6" name="MSIP_Label_701b9bfc-c426-492e-a46c-1a922d5fe54b_SiteId">
    <vt:lpwstr>78820852-55fa-450b-908d-45c0d911e76b</vt:lpwstr>
  </property>
  <property fmtid="{D5CDD505-2E9C-101B-9397-08002B2CF9AE}" pid="7" name="MSIP_Label_701b9bfc-c426-492e-a46c-1a922d5fe54b_ActionId">
    <vt:lpwstr>3cfb089e-2623-4a9c-9797-e286ad447be9</vt:lpwstr>
  </property>
  <property fmtid="{D5CDD505-2E9C-101B-9397-08002B2CF9AE}" pid="8" name="MSIP_Label_701b9bfc-c426-492e-a46c-1a922d5fe54b_ContentBits">
    <vt:lpwstr>1</vt:lpwstr>
  </property>
  <property fmtid="{D5CDD505-2E9C-101B-9397-08002B2CF9AE}" pid="9" name="MSIP_Label_701b9bfc-c426-492e-a46c-1a922d5fe54b_Tag">
    <vt:lpwstr>10, 0, 1, 1</vt:lpwstr>
  </property>
  <property fmtid="{D5CDD505-2E9C-101B-9397-08002B2CF9AE}" pid="10" name="ClassificationContentMarkingHeaderLocations">
    <vt:lpwstr>קקס יום:3</vt:lpwstr>
  </property>
  <property fmtid="{D5CDD505-2E9C-101B-9397-08002B2CF9AE}" pid="11" name="ClassificationContentMarkingHeaderText">
    <vt:lpwstr>- בלמ"ס -</vt:lpwstr>
  </property>
</Properties>
</file>