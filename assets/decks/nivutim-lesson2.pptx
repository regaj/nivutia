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trictFirstAndLastChars="0" embedTrueTypeFonts="1" saveSubsetFonts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256" r:id="rId2"/>
    <p:sldId id="292" r:id="rId3"/>
    <p:sldId id="331" r:id="rId4"/>
    <p:sldId id="305" r:id="rId5"/>
    <p:sldId id="332" r:id="rId6"/>
    <p:sldId id="333" r:id="rId7"/>
    <p:sldId id="290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91" r:id="rId25"/>
    <p:sldId id="276" r:id="rId26"/>
    <p:sldId id="277" r:id="rId27"/>
    <p:sldId id="278" r:id="rId28"/>
    <p:sldId id="279" r:id="rId29"/>
    <p:sldId id="280" r:id="rId30"/>
    <p:sldId id="293" r:id="rId31"/>
    <p:sldId id="281" r:id="rId32"/>
    <p:sldId id="282" r:id="rId33"/>
    <p:sldId id="283" r:id="rId34"/>
    <p:sldId id="284" r:id="rId35"/>
    <p:sldId id="285" r:id="rId36"/>
    <p:sldId id="294" r:id="rId37"/>
    <p:sldId id="286" r:id="rId38"/>
    <p:sldId id="287" r:id="rId39"/>
  </p:sldIdLst>
  <p:sldSz cx="12192000" cy="6858000"/>
  <p:notesSz cx="6858000" cy="9144000"/>
  <p:embeddedFontLst>
    <p:embeddedFont>
      <p:font typeface="Assistant" pitchFamily="2" charset="-79"/>
      <p:regular r:id="rId42"/>
      <p:bold r:id="rId43"/>
    </p:embeddedFont>
    <p:embeddedFont>
      <p:font typeface="Heebo ExtraBold" pitchFamily="2" charset="-79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hSzVdgqBjTH4pr3xzkFkcb1TNl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985A"/>
    <a:srgbClr val="8DAE76"/>
    <a:srgbClr val="C8D8BD"/>
    <a:srgbClr val="D9F2D0"/>
    <a:srgbClr val="A684E9"/>
    <a:srgbClr val="AAD3AF"/>
    <a:srgbClr val="BD9CD3"/>
    <a:srgbClr val="EBF4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088" autoAdjust="0"/>
    <p:restoredTop sz="90655" autoAdjust="0"/>
  </p:normalViewPr>
  <p:slideViewPr>
    <p:cSldViewPr snapToGrid="0">
      <p:cViewPr varScale="1">
        <p:scale>
          <a:sx n="100" d="100"/>
          <a:sy n="100" d="100"/>
        </p:scale>
        <p:origin x="88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12C703-9C66-4A48-B2A1-A84F871FA1C8}" type="doc">
      <dgm:prSet loTypeId="urn:microsoft.com/office/officeart/2005/8/layout/vList2" loCatId="" qsTypeId="urn:microsoft.com/office/officeart/2005/8/quickstyle/simple1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E5DBD961-EE8C-FB4E-BCDF-FBD7D802A5DC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יפיק נתוני ניווט מהמפה בעזרת </a:t>
          </a:r>
          <a:r>
            <a:rPr lang="he-IL" sz="2000" b="0" i="0" u="none" strike="noStrike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המד״קו</a:t>
          </a: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 וינהל קשר תקין ברשת</a:t>
          </a:r>
          <a:endParaRPr lang="en-US" sz="2000" b="0" i="0" u="none" strike="noStrike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gm:t>
    </dgm:pt>
    <dgm:pt modelId="{D3E6DEC9-1A8A-9E46-A1B5-F44DC90F94BB}" type="parTrans" cxnId="{9232AAC3-C326-D649-9A9C-DCB2B3451C10}">
      <dgm:prSet/>
      <dgm:spPr/>
      <dgm:t>
        <a:bodyPr/>
        <a:lstStyle/>
        <a:p>
          <a:endParaRPr lang="en-US"/>
        </a:p>
      </dgm:t>
    </dgm:pt>
    <dgm:pt modelId="{1CFE98DB-E4CF-0D46-AA4E-369F0D9BBE6B}" type="sibTrans" cxnId="{9232AAC3-C326-D649-9A9C-DCB2B3451C10}">
      <dgm:prSet/>
      <dgm:spPr/>
      <dgm:t>
        <a:bodyPr/>
        <a:lstStyle/>
        <a:p>
          <a:endParaRPr lang="en-US"/>
        </a:p>
      </dgm:t>
    </dgm:pt>
    <dgm:pt modelId="{847466A7-19AC-DF4E-BA4B-B8A4CBA0C488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8F175A14-A457-3145-B662-26E3B17152AC}" type="parTrans" cxnId="{1940EAB9-0415-3146-808C-F8D8C940B3FC}">
      <dgm:prSet/>
      <dgm:spPr/>
      <dgm:t>
        <a:bodyPr/>
        <a:lstStyle/>
        <a:p>
          <a:endParaRPr lang="en-US"/>
        </a:p>
      </dgm:t>
    </dgm:pt>
    <dgm:pt modelId="{6DF1B059-161A-134B-BEA1-B05F959033A0}" type="sibTrans" cxnId="{1940EAB9-0415-3146-808C-F8D8C940B3FC}">
      <dgm:prSet/>
      <dgm:spPr/>
      <dgm:t>
        <a:bodyPr/>
        <a:lstStyle/>
        <a:p>
          <a:endParaRPr lang="en-US"/>
        </a:p>
      </dgm:t>
    </dgm:pt>
    <dgm:pt modelId="{86525833-31E0-1E41-BAA8-F778156E4EB4}">
      <dgm:prSet phldrT="[Text]"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יחלץ נ.צ. מדויק בעזרת </a:t>
          </a:r>
          <a:r>
            <a:rPr lang="he-IL" sz="2000" b="0" i="0" u="none" strike="noStrike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המד״קו</a:t>
          </a:r>
          <a:endParaRPr lang="en-US" sz="2000" b="0" i="0" u="none" strike="noStrike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gm:t>
    </dgm:pt>
    <dgm:pt modelId="{014F92C8-C18B-2347-BE50-8320D2EB3C5E}" type="parTrans" cxnId="{5AEB5CE6-F381-4F42-8E1E-F792D0C1AF72}">
      <dgm:prSet/>
      <dgm:spPr/>
      <dgm:t>
        <a:bodyPr/>
        <a:lstStyle/>
        <a:p>
          <a:endParaRPr lang="en-US"/>
        </a:p>
      </dgm:t>
    </dgm:pt>
    <dgm:pt modelId="{F7297392-A61E-014A-9D54-38E8A2AB7973}" type="sibTrans" cxnId="{5AEB5CE6-F381-4F42-8E1E-F792D0C1AF72}">
      <dgm:prSet/>
      <dgm:spPr/>
      <dgm:t>
        <a:bodyPr/>
        <a:lstStyle/>
        <a:p>
          <a:endParaRPr lang="en-US"/>
        </a:p>
      </dgm:t>
    </dgm:pt>
    <dgm:pt modelId="{E50C7C7E-3FBD-FD45-A516-2C9935523F12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ימדוד אזימוט יוצא וחוזר ויפעיל את המצפן הצבאי</a:t>
          </a:r>
        </a:p>
      </dgm:t>
    </dgm:pt>
    <dgm:pt modelId="{D0BF9A07-8BAE-724E-A4A2-4E548B22C0EA}" type="parTrans" cxnId="{5CE8F483-969F-874C-B0E7-82103338ED33}">
      <dgm:prSet/>
      <dgm:spPr/>
      <dgm:t>
        <a:bodyPr/>
        <a:lstStyle/>
        <a:p>
          <a:endParaRPr lang="en-US"/>
        </a:p>
      </dgm:t>
    </dgm:pt>
    <dgm:pt modelId="{09B0BA75-E844-2B42-BB7F-877A6C80E6D1}" type="sibTrans" cxnId="{5CE8F483-969F-874C-B0E7-82103338ED33}">
      <dgm:prSet/>
      <dgm:spPr/>
      <dgm:t>
        <a:bodyPr/>
        <a:lstStyle/>
        <a:p>
          <a:endParaRPr lang="en-US"/>
        </a:p>
      </dgm:t>
    </dgm:pt>
    <dgm:pt modelId="{58C520C0-94AB-9D48-9F10-67FC703561A1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ילמד מפה וימדוד מרחק אווירי של נקודות ומסלול</a:t>
          </a:r>
        </a:p>
      </dgm:t>
    </dgm:pt>
    <dgm:pt modelId="{BDCB59E4-CE43-8346-AC4A-FB3DFFC6AB1B}" type="parTrans" cxnId="{F83239C5-572F-E743-9674-D92C47E6075B}">
      <dgm:prSet/>
      <dgm:spPr/>
      <dgm:t>
        <a:bodyPr/>
        <a:lstStyle/>
        <a:p>
          <a:endParaRPr lang="en-US"/>
        </a:p>
      </dgm:t>
    </dgm:pt>
    <dgm:pt modelId="{C48CD9F0-62B7-744F-AB0A-5415C5BA1947}" type="sibTrans" cxnId="{F83239C5-572F-E743-9674-D92C47E6075B}">
      <dgm:prSet/>
      <dgm:spPr/>
      <dgm:t>
        <a:bodyPr/>
        <a:lstStyle/>
        <a:p>
          <a:endParaRPr lang="en-US"/>
        </a:p>
      </dgm:t>
    </dgm:pt>
    <dgm:pt modelId="{3DCB7490-3A2E-A744-A4A0-34AAD74F67B8}">
      <dgm:prSet custT="1"/>
      <dgm:spPr/>
      <dgm:t>
        <a:bodyPr/>
        <a:lstStyle/>
        <a:p>
          <a:pPr marL="457200" marR="0" indent="-342900" algn="r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ידבר ברשת לפי כללי </a:t>
          </a:r>
          <a:r>
            <a:rPr lang="he-IL" sz="2000" b="0" i="0" u="none" strike="noStrike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הנדב״ר</a:t>
          </a:r>
          <a:endParaRPr lang="he-IL" sz="2000" b="0" i="0" u="none" strike="noStrike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gm:t>
    </dgm:pt>
    <dgm:pt modelId="{F0F2751C-5151-514F-9288-5554BD6F6673}" type="parTrans" cxnId="{4556C2CF-2489-934D-8FDA-5843D9CD7D8E}">
      <dgm:prSet/>
      <dgm:spPr/>
      <dgm:t>
        <a:bodyPr/>
        <a:lstStyle/>
        <a:p>
          <a:endParaRPr lang="en-US"/>
        </a:p>
      </dgm:t>
    </dgm:pt>
    <dgm:pt modelId="{3CB232DF-6ADE-7F42-9143-575EF944AEFB}" type="sibTrans" cxnId="{4556C2CF-2489-934D-8FDA-5843D9CD7D8E}">
      <dgm:prSet/>
      <dgm:spPr/>
      <dgm:t>
        <a:bodyPr/>
        <a:lstStyle/>
        <a:p>
          <a:endParaRPr lang="en-US"/>
        </a:p>
      </dgm:t>
    </dgm:pt>
    <dgm:pt modelId="{B4B8AA95-BB1E-D34F-8101-6134342D6392}">
      <dgm:prSet phldrT="[Text]" custT="1"/>
      <dgm:spPr>
        <a:ln>
          <a:noFill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gm:spPr>
      <dgm:t>
        <a:bodyPr/>
        <a:lstStyle/>
        <a:p>
          <a:pPr rtl="1"/>
          <a:r>
            <a:rPr lang="he-IL" sz="2800" b="1" i="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dirty="0">
            <a:latin typeface="Heebo ExtraBold" pitchFamily="2" charset="-79"/>
            <a:cs typeface="Heebo ExtraBold" pitchFamily="2" charset="-79"/>
          </a:endParaRPr>
        </a:p>
      </dgm:t>
    </dgm:pt>
    <dgm:pt modelId="{944EBA98-F470-6546-B238-1951AA917200}" type="sibTrans" cxnId="{1B777EE3-EB18-284C-BEB8-AA5C582288BE}">
      <dgm:prSet/>
      <dgm:spPr/>
      <dgm:t>
        <a:bodyPr/>
        <a:lstStyle/>
        <a:p>
          <a:endParaRPr lang="en-US"/>
        </a:p>
      </dgm:t>
    </dgm:pt>
    <dgm:pt modelId="{B9A67802-8271-484D-8136-43B4371498AC}" type="parTrans" cxnId="{1B777EE3-EB18-284C-BEB8-AA5C582288BE}">
      <dgm:prSet/>
      <dgm:spPr/>
      <dgm:t>
        <a:bodyPr/>
        <a:lstStyle/>
        <a:p>
          <a:endParaRPr lang="en-US"/>
        </a:p>
      </dgm:t>
    </dgm:pt>
    <dgm:pt modelId="{723187E3-41BD-314C-9577-8FC4EA0D8C6B}" type="pres">
      <dgm:prSet presAssocID="{6312C703-9C66-4A48-B2A1-A84F871FA1C8}" presName="linear" presStyleCnt="0">
        <dgm:presLayoutVars>
          <dgm:animLvl val="lvl"/>
          <dgm:resizeHandles val="exact"/>
        </dgm:presLayoutVars>
      </dgm:prSet>
      <dgm:spPr/>
    </dgm:pt>
    <dgm:pt modelId="{EBCD3628-7840-E743-8D1B-AFE434947CC6}" type="pres">
      <dgm:prSet presAssocID="{B4B8AA95-BB1E-D34F-8101-6134342D6392}" presName="parentText" presStyleLbl="node1" presStyleIdx="0" presStyleCnt="2" custLinFactNeighborY="3761">
        <dgm:presLayoutVars>
          <dgm:chMax val="0"/>
          <dgm:bulletEnabled val="1"/>
        </dgm:presLayoutVars>
      </dgm:prSet>
      <dgm:spPr/>
    </dgm:pt>
    <dgm:pt modelId="{6C6E52D5-BA13-9140-826B-77896EDB058F}" type="pres">
      <dgm:prSet presAssocID="{B4B8AA95-BB1E-D34F-8101-6134342D6392}" presName="childText" presStyleLbl="revTx" presStyleIdx="0" presStyleCnt="2">
        <dgm:presLayoutVars>
          <dgm:bulletEnabled val="1"/>
        </dgm:presLayoutVars>
      </dgm:prSet>
      <dgm:spPr/>
    </dgm:pt>
    <dgm:pt modelId="{9CC5E5AC-5707-ED42-95FE-CB9F93C4C22E}" type="pres">
      <dgm:prSet presAssocID="{847466A7-19AC-DF4E-BA4B-B8A4CBA0C488}" presName="parentText" presStyleLbl="node1" presStyleIdx="1" presStyleCnt="2" custLinFactNeighborX="0" custLinFactNeighborY="-7606">
        <dgm:presLayoutVars>
          <dgm:chMax val="0"/>
          <dgm:bulletEnabled val="1"/>
        </dgm:presLayoutVars>
      </dgm:prSet>
      <dgm:spPr/>
    </dgm:pt>
    <dgm:pt modelId="{BB0FE7D8-1D80-8247-827E-ADFEABCAF0A0}" type="pres">
      <dgm:prSet presAssocID="{847466A7-19AC-DF4E-BA4B-B8A4CBA0C488}" presName="childText" presStyleLbl="revTx" presStyleIdx="1" presStyleCnt="2" custLinFactNeighborX="0" custLinFactNeighborY="-12212">
        <dgm:presLayoutVars>
          <dgm:bulletEnabled val="1"/>
        </dgm:presLayoutVars>
      </dgm:prSet>
      <dgm:spPr/>
    </dgm:pt>
  </dgm:ptLst>
  <dgm:cxnLst>
    <dgm:cxn modelId="{92478601-01D4-FD4A-AFB3-D4B7668DDE60}" type="presOf" srcId="{E50C7C7E-3FBD-FD45-A516-2C9935523F12}" destId="{BB0FE7D8-1D80-8247-827E-ADFEABCAF0A0}" srcOrd="0" destOrd="1" presId="urn:microsoft.com/office/officeart/2005/8/layout/vList2"/>
    <dgm:cxn modelId="{C60F9602-443D-CB41-AFB1-6DB3711315AB}" type="presOf" srcId="{B4B8AA95-BB1E-D34F-8101-6134342D6392}" destId="{EBCD3628-7840-E743-8D1B-AFE434947CC6}" srcOrd="0" destOrd="0" presId="urn:microsoft.com/office/officeart/2005/8/layout/vList2"/>
    <dgm:cxn modelId="{4AE62517-D3E8-D74D-8229-1CBCA595AA65}" type="presOf" srcId="{58C520C0-94AB-9D48-9F10-67FC703561A1}" destId="{BB0FE7D8-1D80-8247-827E-ADFEABCAF0A0}" srcOrd="0" destOrd="2" presId="urn:microsoft.com/office/officeart/2005/8/layout/vList2"/>
    <dgm:cxn modelId="{7DDE7422-F072-E843-AE29-7F6BFC499064}" type="presOf" srcId="{847466A7-19AC-DF4E-BA4B-B8A4CBA0C488}" destId="{9CC5E5AC-5707-ED42-95FE-CB9F93C4C22E}" srcOrd="0" destOrd="0" presId="urn:microsoft.com/office/officeart/2005/8/layout/vList2"/>
    <dgm:cxn modelId="{22102D28-C9CE-0D48-9840-FAED28A90BCA}" type="presOf" srcId="{E5DBD961-EE8C-FB4E-BCDF-FBD7D802A5DC}" destId="{6C6E52D5-BA13-9140-826B-77896EDB058F}" srcOrd="0" destOrd="0" presId="urn:microsoft.com/office/officeart/2005/8/layout/vList2"/>
    <dgm:cxn modelId="{6C50546F-469B-D84D-A44D-94AA26A333B2}" type="presOf" srcId="{86525833-31E0-1E41-BAA8-F778156E4EB4}" destId="{BB0FE7D8-1D80-8247-827E-ADFEABCAF0A0}" srcOrd="0" destOrd="0" presId="urn:microsoft.com/office/officeart/2005/8/layout/vList2"/>
    <dgm:cxn modelId="{D7E11480-575F-E843-8F99-1A8EAE302C5D}" type="presOf" srcId="{3DCB7490-3A2E-A744-A4A0-34AAD74F67B8}" destId="{BB0FE7D8-1D80-8247-827E-ADFEABCAF0A0}" srcOrd="0" destOrd="3" presId="urn:microsoft.com/office/officeart/2005/8/layout/vList2"/>
    <dgm:cxn modelId="{5CE8F483-969F-874C-B0E7-82103338ED33}" srcId="{847466A7-19AC-DF4E-BA4B-B8A4CBA0C488}" destId="{E50C7C7E-3FBD-FD45-A516-2C9935523F12}" srcOrd="1" destOrd="0" parTransId="{D0BF9A07-8BAE-724E-A4A2-4E548B22C0EA}" sibTransId="{09B0BA75-E844-2B42-BB7F-877A6C80E6D1}"/>
    <dgm:cxn modelId="{1940EAB9-0415-3146-808C-F8D8C940B3FC}" srcId="{6312C703-9C66-4A48-B2A1-A84F871FA1C8}" destId="{847466A7-19AC-DF4E-BA4B-B8A4CBA0C488}" srcOrd="1" destOrd="0" parTransId="{8F175A14-A457-3145-B662-26E3B17152AC}" sibTransId="{6DF1B059-161A-134B-BEA1-B05F959033A0}"/>
    <dgm:cxn modelId="{9232AAC3-C326-D649-9A9C-DCB2B3451C10}" srcId="{B4B8AA95-BB1E-D34F-8101-6134342D6392}" destId="{E5DBD961-EE8C-FB4E-BCDF-FBD7D802A5DC}" srcOrd="0" destOrd="0" parTransId="{D3E6DEC9-1A8A-9E46-A1B5-F44DC90F94BB}" sibTransId="{1CFE98DB-E4CF-0D46-AA4E-369F0D9BBE6B}"/>
    <dgm:cxn modelId="{F83239C5-572F-E743-9674-D92C47E6075B}" srcId="{847466A7-19AC-DF4E-BA4B-B8A4CBA0C488}" destId="{58C520C0-94AB-9D48-9F10-67FC703561A1}" srcOrd="2" destOrd="0" parTransId="{BDCB59E4-CE43-8346-AC4A-FB3DFFC6AB1B}" sibTransId="{C48CD9F0-62B7-744F-AB0A-5415C5BA1947}"/>
    <dgm:cxn modelId="{4556C2CF-2489-934D-8FDA-5843D9CD7D8E}" srcId="{847466A7-19AC-DF4E-BA4B-B8A4CBA0C488}" destId="{3DCB7490-3A2E-A744-A4A0-34AAD74F67B8}" srcOrd="3" destOrd="0" parTransId="{F0F2751C-5151-514F-9288-5554BD6F6673}" sibTransId="{3CB232DF-6ADE-7F42-9143-575EF944AEFB}"/>
    <dgm:cxn modelId="{64D160D9-22A0-6144-80E0-DF8FA155703F}" type="presOf" srcId="{6312C703-9C66-4A48-B2A1-A84F871FA1C8}" destId="{723187E3-41BD-314C-9577-8FC4EA0D8C6B}" srcOrd="0" destOrd="0" presId="urn:microsoft.com/office/officeart/2005/8/layout/vList2"/>
    <dgm:cxn modelId="{1B777EE3-EB18-284C-BEB8-AA5C582288BE}" srcId="{6312C703-9C66-4A48-B2A1-A84F871FA1C8}" destId="{B4B8AA95-BB1E-D34F-8101-6134342D6392}" srcOrd="0" destOrd="0" parTransId="{B9A67802-8271-484D-8136-43B4371498AC}" sibTransId="{944EBA98-F470-6546-B238-1951AA917200}"/>
    <dgm:cxn modelId="{5AEB5CE6-F381-4F42-8E1E-F792D0C1AF72}" srcId="{847466A7-19AC-DF4E-BA4B-B8A4CBA0C488}" destId="{86525833-31E0-1E41-BAA8-F778156E4EB4}" srcOrd="0" destOrd="0" parTransId="{014F92C8-C18B-2347-BE50-8320D2EB3C5E}" sibTransId="{F7297392-A61E-014A-9D54-38E8A2AB7973}"/>
    <dgm:cxn modelId="{C2FDA7BF-E900-C449-A2F4-6039F1184D0D}" type="presParOf" srcId="{723187E3-41BD-314C-9577-8FC4EA0D8C6B}" destId="{EBCD3628-7840-E743-8D1B-AFE434947CC6}" srcOrd="0" destOrd="0" presId="urn:microsoft.com/office/officeart/2005/8/layout/vList2"/>
    <dgm:cxn modelId="{44A905F6-CCA0-4E42-9124-06F97F20615F}" type="presParOf" srcId="{723187E3-41BD-314C-9577-8FC4EA0D8C6B}" destId="{6C6E52D5-BA13-9140-826B-77896EDB058F}" srcOrd="1" destOrd="0" presId="urn:microsoft.com/office/officeart/2005/8/layout/vList2"/>
    <dgm:cxn modelId="{9B25851F-4E97-CC43-84AD-98E5630176CC}" type="presParOf" srcId="{723187E3-41BD-314C-9577-8FC4EA0D8C6B}" destId="{9CC5E5AC-5707-ED42-95FE-CB9F93C4C22E}" srcOrd="2" destOrd="0" presId="urn:microsoft.com/office/officeart/2005/8/layout/vList2"/>
    <dgm:cxn modelId="{5288E246-8249-E34D-BF9D-411DE70BD58A}" type="presParOf" srcId="{723187E3-41BD-314C-9577-8FC4EA0D8C6B}" destId="{BB0FE7D8-1D80-8247-827E-ADFEABCAF0A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CD3628-7840-E743-8D1B-AFE434947CC6}">
      <dsp:nvSpPr>
        <dsp:cNvPr id="0" name=""/>
        <dsp:cNvSpPr/>
      </dsp:nvSpPr>
      <dsp:spPr>
        <a:xfrm>
          <a:off x="0" y="50891"/>
          <a:ext cx="10108615" cy="804960"/>
        </a:xfrm>
        <a:prstGeom prst="round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מטרת העל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39295" y="90186"/>
        <a:ext cx="10030025" cy="726370"/>
      </dsp:txXfrm>
    </dsp:sp>
    <dsp:sp modelId="{6C6E52D5-BA13-9140-826B-77896EDB058F}">
      <dsp:nvSpPr>
        <dsp:cNvPr id="0" name=""/>
        <dsp:cNvSpPr/>
      </dsp:nvSpPr>
      <dsp:spPr>
        <a:xfrm>
          <a:off x="0" y="829069"/>
          <a:ext cx="10108615" cy="71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יפיק נתוני ניווט מהמפה בעזרת </a:t>
          </a:r>
          <a:r>
            <a:rPr lang="he-IL" sz="2000" b="0" i="0" u="none" strike="noStrike" kern="1200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המד״קו</a:t>
          </a: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 וינהל קשר תקין ברשת</a:t>
          </a:r>
          <a:endParaRPr lang="en-US" sz="2000" b="0" i="0" u="none" strike="noStrike" kern="1200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sp:txBody>
      <dsp:txXfrm>
        <a:off x="0" y="829069"/>
        <a:ext cx="10108615" cy="712080"/>
      </dsp:txXfrm>
    </dsp:sp>
    <dsp:sp modelId="{9CC5E5AC-5707-ED42-95FE-CB9F93C4C22E}">
      <dsp:nvSpPr>
        <dsp:cNvPr id="0" name=""/>
        <dsp:cNvSpPr/>
      </dsp:nvSpPr>
      <dsp:spPr>
        <a:xfrm>
          <a:off x="0" y="1371897"/>
          <a:ext cx="10108615" cy="804960"/>
        </a:xfrm>
        <a:prstGeom prst="roundRect">
          <a:avLst/>
        </a:prstGeom>
        <a:solidFill>
          <a:schemeClr val="accent3">
            <a:shade val="80000"/>
            <a:hueOff val="-257998"/>
            <a:satOff val="-52986"/>
            <a:lumOff val="39763"/>
            <a:alphaOff val="0"/>
          </a:schemeClr>
        </a:solidFill>
        <a:ln w="25400" cap="flat" cmpd="sng" algn="ctr">
          <a:noFill/>
          <a:prstDash val="solid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800" b="1" i="0" kern="1200" dirty="0">
              <a:latin typeface="Heebo ExtraBold" pitchFamily="2" charset="-79"/>
              <a:cs typeface="Heebo ExtraBold" pitchFamily="2" charset="-79"/>
            </a:rPr>
            <a:t>מטרות ביניים</a:t>
          </a:r>
          <a:endParaRPr lang="en-US" sz="2800" b="1" i="0" kern="1200" dirty="0">
            <a:latin typeface="Heebo ExtraBold" pitchFamily="2" charset="-79"/>
            <a:cs typeface="Heebo ExtraBold" pitchFamily="2" charset="-79"/>
          </a:endParaRPr>
        </a:p>
      </dsp:txBody>
      <dsp:txXfrm>
        <a:off x="39295" y="1411192"/>
        <a:ext cx="10030025" cy="726370"/>
      </dsp:txXfrm>
    </dsp:sp>
    <dsp:sp modelId="{BB0FE7D8-1D80-8247-827E-ADFEABCAF0A0}">
      <dsp:nvSpPr>
        <dsp:cNvPr id="0" name=""/>
        <dsp:cNvSpPr/>
      </dsp:nvSpPr>
      <dsp:spPr>
        <a:xfrm>
          <a:off x="0" y="2247808"/>
          <a:ext cx="10108615" cy="2225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0949" tIns="25400" rIns="142240" bIns="25400" numCol="1" spcCol="1270" anchor="t" anchorCtr="0">
          <a:noAutofit/>
        </a:bodyPr>
        <a:lstStyle/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יחלץ נ.צ. מדויק בעזרת </a:t>
          </a:r>
          <a:r>
            <a:rPr lang="he-IL" sz="2000" b="0" i="0" u="none" strike="noStrike" kern="1200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המד״קו</a:t>
          </a:r>
          <a:endParaRPr lang="en-US" sz="2000" b="0" i="0" u="none" strike="noStrike" kern="1200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ימדוד אזימוט יוצא וחוזר ויפעיל את המצפן הצבאי</a:t>
          </a: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ילמד מפה וימדוד מרחק אווירי של נקודות ומסלול</a:t>
          </a:r>
        </a:p>
        <a:p>
          <a:pPr marL="457200" marR="0" lvl="1" indent="-342900" algn="r" defTabSz="889000" rtl="1">
            <a:lnSpc>
              <a:spcPct val="150000"/>
            </a:lnSpc>
            <a:spcBef>
              <a:spcPts val="600"/>
            </a:spcBef>
            <a:spcAft>
              <a:spcPts val="0"/>
            </a:spcAft>
            <a:buClr>
              <a:srgbClr val="AAD3AF"/>
            </a:buClr>
            <a:buSzPts val="1800"/>
            <a:buFont typeface="Helvetica Neue"/>
            <a:buChar char="◊"/>
          </a:pPr>
          <a:r>
            <a:rPr lang="he-IL" sz="2000" b="0" i="0" u="none" strike="noStrike" kern="1200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הצוער ידבר ברשת לפי כללי </a:t>
          </a:r>
          <a:r>
            <a:rPr lang="he-IL" sz="2000" b="0" i="0" u="none" strike="noStrike" kern="1200" cap="none" dirty="0" err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rPr>
            <a:t>הנדב״ר</a:t>
          </a:r>
          <a:endParaRPr lang="he-IL" sz="2000" b="0" i="0" u="none" strike="noStrike" kern="1200" cap="none" dirty="0">
            <a:solidFill>
              <a:schemeClr val="dk1"/>
            </a:solidFill>
            <a:latin typeface="Assistant"/>
            <a:ea typeface="Assistant"/>
            <a:cs typeface="Assistant"/>
            <a:sym typeface="Assistant"/>
          </a:endParaRPr>
        </a:p>
      </dsp:txBody>
      <dsp:txXfrm>
        <a:off x="0" y="2247808"/>
        <a:ext cx="10108615" cy="2225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A56C19-2A1C-3111-2515-B4B36DC063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D137D-2EE3-8A88-5B49-84A4F5BAD3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46A22-0A7C-C443-BB5E-2D99C2CE66C3}" type="datetime1">
              <a:rPr lang="en-US" smtClean="0"/>
              <a:t>7/24/2026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6377B-22B4-8D6C-F8E3-1E74B7FFDF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B1F892-B6F4-16B7-47A9-0E6936B98E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69780-F380-1243-A867-6FB669A63ABF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0393805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פתיחה — ׳במקום שבו נגמרת המפה׳. היום עוברים מהמפה אל הכלים: מד״קו, מצפן ורשת.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לעבור</a:t>
            </a:r>
            <a:r>
              <a:rPr dirty="0"/>
              <a:t> </a:t>
            </a:r>
            <a:r>
              <a:rPr dirty="0" err="1"/>
              <a:t>מהר</a:t>
            </a:r>
            <a:r>
              <a:rPr dirty="0"/>
              <a:t>. </a:t>
            </a:r>
            <a:r>
              <a:rPr dirty="0" err="1"/>
              <a:t>להדגיש</a:t>
            </a:r>
            <a:r>
              <a:rPr dirty="0"/>
              <a:t>: </a:t>
            </a:r>
            <a:r>
              <a:rPr dirty="0" err="1"/>
              <a:t>היום</a:t>
            </a:r>
            <a:r>
              <a:rPr dirty="0"/>
              <a:t> </a:t>
            </a:r>
            <a:r>
              <a:rPr dirty="0" err="1"/>
              <a:t>שיעור</a:t>
            </a:r>
            <a:r>
              <a:rPr dirty="0"/>
              <a:t> </a:t>
            </a:r>
            <a:r>
              <a:rPr dirty="0" err="1"/>
              <a:t>מעשי</a:t>
            </a:r>
            <a:r>
              <a:rPr dirty="0"/>
              <a:t> — </a:t>
            </a:r>
            <a:r>
              <a:rPr dirty="0" err="1"/>
              <a:t>מד״קו</a:t>
            </a:r>
            <a:r>
              <a:rPr dirty="0"/>
              <a:t> </a:t>
            </a:r>
            <a:r>
              <a:rPr dirty="0" err="1"/>
              <a:t>ביד</a:t>
            </a:r>
            <a:r>
              <a:rPr dirty="0"/>
              <a:t> </a:t>
            </a:r>
            <a:r>
              <a:rPr dirty="0" err="1"/>
              <a:t>כל</a:t>
            </a:r>
            <a:r>
              <a:rPr dirty="0"/>
              <a:t> </a:t>
            </a:r>
            <a:r>
              <a:rPr dirty="0" err="1"/>
              <a:t>הזמן</a:t>
            </a:r>
            <a:r>
              <a:t>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מפת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דרכים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היום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פרקטיקה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—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הכלים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של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הנווט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נדב״ר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</a:t>
            </a:r>
            <a:endParaRPr lang="en-IL" sz="1100" dirty="0">
              <a:effectLst/>
            </a:endParaRPr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ריענון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מהשיעור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הקודם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לשאול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לפני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שמראים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מי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זוכר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מה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ההבדל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בין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שלוחה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לגיא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מהי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כיפה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L" sz="1100" b="0" i="0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סמויה</a:t>
            </a:r>
            <a:r>
              <a:rPr lang="en-IL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?</a:t>
            </a:r>
            <a:endParaRPr lang="en-IL" sz="1100" dirty="0">
              <a:effectLst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7D40D-2CAF-9ECC-F3AC-2C06334D6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3711-8D21-949B-BE36-5AEE26D5D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DAEDB-D6AA-042B-FC71-1D66497E7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וכמובן </a:t>
            </a:r>
            <a:r>
              <a:rPr lang="he-IL" dirty="0" err="1"/>
              <a:t>הניווטיה</a:t>
            </a:r>
            <a:r>
              <a:rPr lang="he-IL" dirty="0"/>
              <a:t> — מי שתרגל שירים יד.</a:t>
            </a:r>
          </a:p>
        </p:txBody>
      </p:sp>
    </p:spTree>
    <p:extLst>
      <p:ext uri="{BB962C8B-B14F-4D97-AF65-F5344CB8AC3E}">
        <p14:creationId xmlns:p14="http://schemas.microsoft.com/office/powerpoint/2010/main" val="3888696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פתיחת פרק קואורדינטות.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לחלק מד״קואים עכשיו! כל ההמשך מעשי.</a:t>
            </a:r>
          </a:p>
          <a:p>
            <a:r>
              <a:t>לתת דקה למשש: סרגל, מד זווית, חוט. מהיום זה הכלי הכי חשוב אחרי המפה.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חזרה על תיאור משבצת ואז השאלה: איך מדייקים בתוך המשבצת? זה הפער שהמד״קו סוגר.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לב השיעור. להדגים על הלוח שלב-שלב: מיישרים את המד״קו, קוראים ימינה ואז למעלה.</a:t>
            </a:r>
          </a:p>
          <a:p>
            <a:r>
              <a:t>כלל הזהב: קודם אורך (מזרחה) ואז רוחב (צפונה).</a:t>
            </a:r>
          </a:p>
          <a:p>
            <a:r>
              <a:t>טעות נפוצה: להפוך את הסדר — נ.צ. הפוך שולח לקילומטרים משם.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תרגול בזוגות עם מד״קו אמיתי. לעבור בין הזוגות.</a:t>
            </a:r>
          </a:p>
          <a:p>
            <a:r>
              <a:t>מי שסיים מהר — שיבדוק את החבר. לוודא שכולם מיישרים את המד״קו על המשבצת הנכונה.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מעבר — שושנת הרוחות. הציטוט לקריצה.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ארבעה ראשיים + ארבעה כיווני ביניים. לתרגל בעל־פה: אני אומר כיוון — אתם מצביעים.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אזימוט = הזווית מהצפון, עם כיוון השעון. תמיד מהצפון!</a:t>
            </a:r>
          </a:p>
          <a:p>
            <a:r>
              <a:t>להדגים עם היד: צפון, ואז לפתוח את הזווית.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להדגים על הלוח את המדידה עם החוט. המעגל הכחול = יוצא.</a:t>
            </a:r>
          </a:p>
          <a:p>
            <a:r>
              <a:t>לוודא שכולם רואים מאיפה מתחילים למדוד (מהנווט אל המטרה).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אזימוט חוזר = איך המטרה רואה אותי. המעגל הירוק, או +180/-180.</a:t>
            </a:r>
          </a:p>
          <a:p>
            <a:r>
              <a:t>תרגיל מהיר: יוצא 270 — מה החוזר? (90).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לחלק מצפנים. לתת רגע לשחק עם המחט.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שני הדגשים: מקביל לקרקע, וקו ראייה אחד — עין-מנסרה-נימה-מטרה.</a:t>
            </a:r>
          </a:p>
          <a:p>
            <a:r>
              <a:t>להדגים על עצם בכיתה: כל אחד מודד אזימוט לדלת/חלון ומשווים.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הצפנת מפה: צפון המפה אל צפון השטח. להדגים סיבוב מפה עם מצפן עליה.</a:t>
            </a:r>
          </a:p>
          <a:p>
            <a:r>
              <a:t>מפה מוצפנת = כל מה שרואים במפה יושב באותו כיוון בשטח.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מרחק אווירי = בקו ישר. תמיד קצר מהמרחק בפועל — בשטח יש עליות ופיתולים.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מדידה עם סרגל המד״קו בקנ״מ 1:50,000. להדגים על הלוח.</a:t>
            </a:r>
          </a:p>
          <a:p>
            <a:r>
              <a:t>תרגול קצר: כל זוג מודד מרחק בין שתי נקודות שנתתי.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מסלול שלם: החוט של המד״קו לאורך המסלול, ואז מודדים את החוט.</a:t>
            </a:r>
          </a:p>
          <a:p>
            <a:r>
              <a:t>להדגים פיזית — זה הטריק שהם יזכרו.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 ביניים לפני נדב״ר. לשאול: נ.צ., אזימוט יוצא/חוזר, הצפנה — מי מסביר?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מעבר: עד עכשיו דיברנו עם המפה. עכשיו — איך מדברים ברשת.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חושב, לוחץ, מדבר — שלוש מילים שמסדרות הכל.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למה נדב״ר: רשת אחת לכולם, קצר וברור. בלי זה — בלגן ואי הבנות מסוכנות.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מבנה ההודעה בטבלה. לתרגל מיד: כל חניך בונה הודעה לפי המבנה ומשדר בקול.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עבור/רות/היישר/סוף. לחדד: סוף — רק דרג בכיר.</a:t>
            </a:r>
          </a:p>
          <a:p>
            <a:r>
              <a:t>תרגול מהיר: אני משדר, אתם עונים בסיומת הנכונה.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החצי הראשון — אנשים. לעבור מונח-מונח ולתת לכיתה לנחש לפני החשיפה.</a:t>
            </a:r>
          </a:p>
          <a:p>
            <a:r>
              <a:t>לעצור על תאילנד/אנגליה: אלה סוף והתחלה של תרגיל — קל להתבלבל ביניהם.</a:t>
            </a:r>
          </a:p>
          <a:p>
            <a:r>
              <a:t>משחק: אני אומר מונח, אתם אומרים מה זה.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החצי השני — ציוד ומצבים. שוב סבב ניחושים.</a:t>
            </a:r>
          </a:p>
          <a:p>
            <a:r>
              <a:t>המבלבלים כאן: חצאית (חיילת) מול שמשות (פנסים) — לחזור עליהם.</a:t>
            </a:r>
          </a:p>
          <a:p>
            <a:r>
              <a:t>לסיום: סבב מהיר על שתי השקופיות יחד.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אמור שנית — הקולט לא הבין. לעולם לא ׳חזור׳! חזור = בצע שוב את הפקודה.</a:t>
            </a:r>
          </a:p>
          <a:p>
            <a:r>
              <a:t>להמחיז את הדוגמה בקול.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הקרא — המשדר מוודא שקלטו אותו. ההבדל מאמור שנית: מי מבקש ממי.</a:t>
            </a:r>
          </a:p>
          <a:p>
            <a:r>
              <a:t>לתרגל בזוגות: אחד משדר, השני מקריא חזרה.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קבל תיקון — לתקן הודעה שגויה בלי בלבול.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איות פונטי — כששתי מילים נשמעות דומה.</a:t>
            </a:r>
          </a:p>
          <a:p>
            <a:r>
              <a:t>להמחיז: שלהבת מול שלכת בקשר רועש.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חצי ראשון של הא״ב הצלילי. לא לשנן הכל עכשיו.</a:t>
            </a:r>
          </a:p>
          <a:p>
            <a:r>
              <a:t>תרגול: כל חניך מאיית את השם הפרטי שלו בקול, לפי הטבלה.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חצי שני. לשים לב לצמדים שנשמעים דומה בקשר רועש.</a:t>
            </a:r>
          </a:p>
          <a:p>
            <a:r>
              <a:t>תרגול: כל חניך מאיית את שם המשפחה שלו. מי שנתקע — הכיתה עוזרת.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חיובי/שלילי במקום כן/לא — מילים בנות הברה אחת הולכות לאיבוד ברעש.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סיכום. תרגול סגירה: סבב הודעות קצרות ברשת כיתתית לפי כל הכללים.</a:t>
            </a:r>
          </a:p>
          <a:p>
            <a:r>
              <a:t>שיעור הבא: בונים ציר ניווט אמיתי.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ראשית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ימין">
  <p:cSld name="תוכן מימין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1"/>
          </p:nvPr>
        </p:nvSpPr>
        <p:spPr>
          <a:xfrm>
            <a:off x="4324027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8" name="Google Shape;28;p43"/>
          <p:cNvPicPr preferRelativeResize="0"/>
          <p:nvPr userDrawn="1"/>
        </p:nvPicPr>
        <p:blipFill rotWithShape="1">
          <a:blip r:embed="rId2">
            <a:alphaModFix amt="78000"/>
          </a:blip>
          <a:srcRect/>
          <a:stretch/>
        </p:blipFill>
        <p:spPr>
          <a:xfrm>
            <a:off x="83326" y="1915629"/>
            <a:ext cx="3791250" cy="373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כותרת ותוכן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שמאל">
  <p:cSld name="כותרת פרק משמא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4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4"/>
          <p:cNvSpPr txBox="1">
            <a:spLocks noGrp="1"/>
          </p:cNvSpPr>
          <p:nvPr>
            <p:ph type="ctrTitle"/>
          </p:nvPr>
        </p:nvSpPr>
        <p:spPr>
          <a:xfrm>
            <a:off x="266699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4"/>
          <p:cNvSpPr txBox="1">
            <a:spLocks noGrp="1"/>
          </p:cNvSpPr>
          <p:nvPr>
            <p:ph type="subTitle" idx="1"/>
          </p:nvPr>
        </p:nvSpPr>
        <p:spPr>
          <a:xfrm>
            <a:off x="266699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40" name="Google Shape;40;p44"/>
          <p:cNvPicPr preferRelativeResize="0"/>
          <p:nvPr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פרק מימין">
  <p:cSld name="כותרת פרק מימין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5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5"/>
          <p:cNvSpPr txBox="1">
            <a:spLocks noGrp="1"/>
          </p:cNvSpPr>
          <p:nvPr>
            <p:ph type="ctrTitle"/>
          </p:nvPr>
        </p:nvSpPr>
        <p:spPr>
          <a:xfrm>
            <a:off x="4885188" y="1153360"/>
            <a:ext cx="709499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ssistant"/>
              <a:buNone/>
              <a:defRPr sz="6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5"/>
          <p:cNvSpPr txBox="1">
            <a:spLocks noGrp="1"/>
          </p:cNvSpPr>
          <p:nvPr>
            <p:ph type="subTitle" idx="1"/>
          </p:nvPr>
        </p:nvSpPr>
        <p:spPr>
          <a:xfrm>
            <a:off x="4885188" y="3633035"/>
            <a:ext cx="709499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3" name="Google Shape;40;p44">
            <a:extLst>
              <a:ext uri="{FF2B5EF4-FFF2-40B4-BE49-F238E27FC236}">
                <a16:creationId xmlns:a16="http://schemas.microsoft.com/office/drawing/2014/main" id="{AA035BCC-F4B2-27F5-3430-904D7C10E629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491588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תוכן משמאל">
  <p:cSld name="תוכן משמא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/>
          <p:nvPr/>
        </p:nvSpPr>
        <p:spPr>
          <a:xfrm>
            <a:off x="3874576" y="604434"/>
            <a:ext cx="4494509" cy="55948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6"/>
          <p:cNvSpPr txBox="1">
            <a:spLocks noGrp="1"/>
          </p:cNvSpPr>
          <p:nvPr>
            <p:ph type="body" idx="1"/>
          </p:nvPr>
        </p:nvSpPr>
        <p:spPr>
          <a:xfrm>
            <a:off x="853996" y="1816720"/>
            <a:ext cx="7029773" cy="43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◊"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marL="228600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" name="Google Shape;40;p44">
            <a:extLst>
              <a:ext uri="{FF2B5EF4-FFF2-40B4-BE49-F238E27FC236}">
                <a16:creationId xmlns:a16="http://schemas.microsoft.com/office/drawing/2014/main" id="{D83497E6-9C96-F74C-41D9-372E3A94C3EC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5000"/>
          </a:blip>
          <a:srcRect/>
          <a:stretch/>
        </p:blipFill>
        <p:spPr>
          <a:xfrm>
            <a:off x="8070014" y="1497980"/>
            <a:ext cx="3855287" cy="3790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39"/>
          <p:cNvPicPr preferRelativeResize="0"/>
          <p:nvPr userDrawn="1"/>
        </p:nvPicPr>
        <p:blipFill rotWithShape="1">
          <a:blip r:embed="rId8">
            <a:alphaModFix amt="25000"/>
          </a:blip>
          <a:srcRect/>
          <a:stretch/>
        </p:blipFill>
        <p:spPr>
          <a:xfrm>
            <a:off x="3519241" y="1108898"/>
            <a:ext cx="5167838" cy="46402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9"/>
          <p:cNvSpPr/>
          <p:nvPr/>
        </p:nvSpPr>
        <p:spPr>
          <a:xfrm>
            <a:off x="1" y="-43772"/>
            <a:ext cx="12206318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8" name="Google Shape;8;p39"/>
          <p:cNvSpPr/>
          <p:nvPr/>
        </p:nvSpPr>
        <p:spPr>
          <a:xfrm>
            <a:off x="1" y="6336640"/>
            <a:ext cx="12191999" cy="420252"/>
          </a:xfrm>
          <a:prstGeom prst="rect">
            <a:avLst/>
          </a:prstGeom>
          <a:solidFill>
            <a:srgbClr val="AAD3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he-IL" sz="1800" b="0" i="0" u="none" strike="noStrike" cap="none" dirty="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						</a:t>
            </a:r>
            <a:endParaRPr sz="1800" b="0" i="0" u="none" strike="noStrike" cap="none" dirty="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" name="Google Shape;9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  <a:defRPr sz="44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endParaRPr dirty="0"/>
          </a:p>
        </p:txBody>
      </p:sp>
      <p:sp>
        <p:nvSpPr>
          <p:cNvPr id="10" name="Google Shape;10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  <a:defRPr sz="28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55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429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marR="0" indent="-406400" algn="r" rt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AAD3AF"/>
              </a:buClr>
              <a:buSzPts val="2800"/>
              <a:buFont typeface="Helvetica Neue"/>
              <a:buChar char="◊"/>
            </a:pPr>
            <a:endParaRPr dirty="0"/>
          </a:p>
        </p:txBody>
      </p:sp>
      <p:sp>
        <p:nvSpPr>
          <p:cNvPr id="11" name="Google Shape;11;p39"/>
          <p:cNvSpPr txBox="1"/>
          <p:nvPr/>
        </p:nvSpPr>
        <p:spPr>
          <a:xfrm>
            <a:off x="5769962" y="76300"/>
            <a:ext cx="666396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iw-IL" sz="1000" b="0" i="0" u="none" strike="noStrike" cap="none" dirty="0">
                <a:solidFill>
                  <a:schemeClr val="dk1"/>
                </a:solidFill>
                <a:latin typeface="Assistant" pitchFamily="2" charset="-79"/>
                <a:ea typeface="Calibri"/>
                <a:cs typeface="Assistant" pitchFamily="2" charset="-79"/>
                <a:sym typeface="Calibri"/>
              </a:rPr>
              <a:t>- בלמ"ס -</a:t>
            </a:r>
            <a:endParaRPr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2" name="Google Shape;12;p39"/>
          <p:cNvSpPr txBox="1"/>
          <p:nvPr/>
        </p:nvSpPr>
        <p:spPr>
          <a:xfrm>
            <a:off x="8610600" y="-29094"/>
            <a:ext cx="334228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he-IL" sz="1200" b="0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"ממפה תראו וכך תנווטו" (לא משופטים ז', י"ז)</a:t>
            </a:r>
            <a:endParaRPr lang="he-IL" sz="1400" b="0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pic>
        <p:nvPicPr>
          <p:cNvPr id="13" name="Google Shape;13;p39"/>
          <p:cNvPicPr preferRelativeResize="0"/>
          <p:nvPr/>
        </p:nvPicPr>
        <p:blipFill rotWithShape="1">
          <a:blip r:embed="rId9">
            <a:alphaModFix amt="50000"/>
          </a:blip>
          <a:srcRect/>
          <a:stretch/>
        </p:blipFill>
        <p:spPr>
          <a:xfrm>
            <a:off x="11569946" y="35961"/>
            <a:ext cx="420225" cy="590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39120" y="166354"/>
            <a:ext cx="807777" cy="80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9" descr="תמונה שמכילה עיגול, צבעוני&#10;&#10;התיאור נוצר באופן אוטומטי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46897" y="148645"/>
            <a:ext cx="1143356" cy="843193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9"/>
          <p:cNvSpPr txBox="1"/>
          <p:nvPr/>
        </p:nvSpPr>
        <p:spPr>
          <a:xfrm>
            <a:off x="442486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קורס קציני סייבר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18" name="Google Shape;18;p39"/>
          <p:cNvSpPr txBox="1"/>
          <p:nvPr/>
        </p:nvSpPr>
        <p:spPr>
          <a:xfrm>
            <a:off x="8011520" y="6336640"/>
            <a:ext cx="3342280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iw-IL" sz="1200" b="1" i="0" u="none" strike="noStrike" cap="none" dirty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- בלמ״ס -</a:t>
            </a:r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  <p:sp>
        <p:nvSpPr>
          <p:cNvPr id="4" name="Google Shape;18;p39">
            <a:extLst>
              <a:ext uri="{FF2B5EF4-FFF2-40B4-BE49-F238E27FC236}">
                <a16:creationId xmlns:a16="http://schemas.microsoft.com/office/drawing/2014/main" id="{19AE7ACA-EB65-F124-DACE-6465109DC42D}"/>
              </a:ext>
            </a:extLst>
          </p:cNvPr>
          <p:cNvSpPr txBox="1"/>
          <p:nvPr userDrawn="1"/>
        </p:nvSpPr>
        <p:spPr>
          <a:xfrm>
            <a:off x="-228014" y="6336640"/>
            <a:ext cx="2132428" cy="42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72624C2C-4D87-6348-A13B-703904495666}" type="slidenum">
              <a:rPr lang="iw-IL" sz="1200" b="1" i="0" u="none" strike="noStrike" cap="none" smtClean="0">
                <a:solidFill>
                  <a:schemeClr val="dk1"/>
                </a:solidFill>
                <a:latin typeface="Assistant" pitchFamily="2" charset="-79"/>
                <a:ea typeface="Assistant SemiBold"/>
                <a:cs typeface="Assistant" pitchFamily="2" charset="-79"/>
                <a:sym typeface="Assistant SemiBold"/>
              </a:rPr>
              <a:t>‹#›</a:t>
            </a:fld>
            <a:endParaRPr sz="1400" b="1" i="0" u="none" strike="noStrike" cap="none" dirty="0">
              <a:solidFill>
                <a:schemeClr val="dk1"/>
              </a:solidFill>
              <a:latin typeface="Assistant" pitchFamily="2" charset="-79"/>
              <a:ea typeface="Arial"/>
              <a:cs typeface="Assistant" pitchFamily="2" charset="-79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Heebo ExtraBold" pitchFamily="2" charset="-79"/>
          <a:ea typeface="Heebo ExtraBold" pitchFamily="2" charset="-79"/>
          <a:cs typeface="Heebo ExtraBold" pitchFamily="2" charset="-79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50963"/>
            <a:ext cx="9144000" cy="2387600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ניווטים</a:t>
            </a:r>
            <a:r>
              <a:rPr dirty="0"/>
              <a:t> </a:t>
            </a:r>
            <a:r>
              <a:rPr dirty="0" err="1"/>
              <a:t>שוב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2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dirty="0" err="1"/>
              <a:t>במקום</a:t>
            </a:r>
            <a:r>
              <a:rPr dirty="0"/>
              <a:t> </a:t>
            </a:r>
            <a:r>
              <a:rPr dirty="0" err="1"/>
              <a:t>שבו</a:t>
            </a:r>
            <a:r>
              <a:rPr dirty="0"/>
              <a:t> </a:t>
            </a:r>
            <a:r>
              <a:rPr dirty="0" err="1"/>
              <a:t>נגמרת</a:t>
            </a:r>
            <a:r>
              <a:rPr dirty="0"/>
              <a:t> </a:t>
            </a:r>
            <a:r>
              <a:rPr dirty="0" err="1"/>
              <a:t>המפה</a:t>
            </a:r>
            <a:r>
              <a:rPr lang="he-IL" dirty="0"/>
              <a:t> - </a:t>
            </a:r>
            <a:r>
              <a:rPr dirty="0" err="1"/>
              <a:t>שם</a:t>
            </a:r>
            <a:r>
              <a:rPr dirty="0"/>
              <a:t> </a:t>
            </a:r>
            <a:r>
              <a:rPr dirty="0" err="1"/>
              <a:t>מתחיל</a:t>
            </a:r>
            <a:r>
              <a:rPr dirty="0"/>
              <a:t> </a:t>
            </a:r>
            <a:r>
              <a:rPr dirty="0" err="1"/>
              <a:t>הניווט</a:t>
            </a:r>
            <a:r>
              <a:rPr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מטרות</a:t>
            </a:r>
            <a:r>
              <a:rPr dirty="0"/>
              <a:t> </a:t>
            </a:r>
            <a:r>
              <a:rPr dirty="0" err="1"/>
              <a:t>השיעור</a:t>
            </a:r>
            <a:endParaRPr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D793391-2E99-D685-4431-90835685D2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3620207"/>
              </p:ext>
            </p:extLst>
          </p:nvPr>
        </p:nvGraphicFramePr>
        <p:xfrm>
          <a:off x="1245184" y="1485901"/>
          <a:ext cx="10108616" cy="45954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5;p3">
            <a:extLst>
              <a:ext uri="{FF2B5EF4-FFF2-40B4-BE49-F238E27FC236}">
                <a16:creationId xmlns:a16="http://schemas.microsoft.com/office/drawing/2014/main" id="{9DF56702-A1AC-6AC9-7C14-51F70DC5CCE5}"/>
              </a:ext>
            </a:extLst>
          </p:cNvPr>
          <p:cNvSpPr txBox="1"/>
          <p:nvPr/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מה מצפה לנו?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3" name="תמונה 2" descr="Story pin image">
            <a:extLst>
              <a:ext uri="{FF2B5EF4-FFF2-40B4-BE49-F238E27FC236}">
                <a16:creationId xmlns:a16="http://schemas.microsoft.com/office/drawing/2014/main" id="{880C5758-4828-9D6B-99EB-177C33955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1885" b="21148"/>
          <a:stretch>
            <a:fillRect/>
          </a:stretch>
        </p:blipFill>
        <p:spPr>
          <a:xfrm>
            <a:off x="303213" y="1854199"/>
            <a:ext cx="6119096" cy="3485893"/>
          </a:xfrm>
          <a:prstGeom prst="rect">
            <a:avLst/>
          </a:prstGeom>
        </p:spPr>
      </p:pic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B25FF4A0-AAB1-7DAA-4CFC-ED93F47DC933}"/>
              </a:ext>
            </a:extLst>
          </p:cNvPr>
          <p:cNvSpPr txBox="1"/>
          <p:nvPr/>
        </p:nvSpPr>
        <p:spPr>
          <a:xfrm>
            <a:off x="5861138" y="1690825"/>
            <a:ext cx="4603750" cy="322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מבוא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פרקטיקה</a:t>
            </a:r>
          </a:p>
          <a:p>
            <a:pPr algn="r" rtl="1">
              <a:lnSpc>
                <a:spcPct val="300000"/>
              </a:lnSpc>
            </a:pPr>
            <a:r>
              <a:rPr lang="he-IL" sz="2400" dirty="0">
                <a:latin typeface="Assistant" pitchFamily="2" charset="-79"/>
                <a:cs typeface="Assistant" pitchFamily="2" charset="-79"/>
              </a:rPr>
              <a:t>מדריך לבניית צירים וסיפור דרך</a:t>
            </a:r>
            <a:endParaRPr lang="en-IL" sz="240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8" name="תמונה 17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CCC9E8EC-23ED-430C-11D0-DB44794FBF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1854199"/>
            <a:ext cx="751605" cy="881883"/>
          </a:xfrm>
          <a:prstGeom prst="rect">
            <a:avLst/>
          </a:prstGeom>
        </p:spPr>
      </p:pic>
      <p:pic>
        <p:nvPicPr>
          <p:cNvPr id="30" name="תמונה 29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6D3D5D34-D4CA-8DA9-FD40-CF7FD57730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7" y="2988058"/>
            <a:ext cx="751605" cy="881883"/>
          </a:xfrm>
          <a:prstGeom prst="rect">
            <a:avLst/>
          </a:prstGeom>
        </p:spPr>
      </p:pic>
      <p:pic>
        <p:nvPicPr>
          <p:cNvPr id="32" name="תמונה 31" descr="Red Location, Map Pin Icon PNG Transparent Background, Free Download #4226  - FreeIconsPNG">
            <a:extLst>
              <a:ext uri="{FF2B5EF4-FFF2-40B4-BE49-F238E27FC236}">
                <a16:creationId xmlns:a16="http://schemas.microsoft.com/office/drawing/2014/main" id="{F1A9FC43-31F9-913D-B408-8271D6EFA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888" y="4121917"/>
            <a:ext cx="751605" cy="88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051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250" fill="hold"/>
                                        <p:tgtEl>
                                          <p:spTgt spid="30"/>
                                        </p:tgtEl>
                                      </p:cBhvr>
                                      <p:by x="130000" y="1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he-IL" dirty="0"/>
              <a:t>מה למדנו בשיעור הקודם?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מפה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מפה</a:t>
            </a:r>
            <a:r>
              <a:rPr sz="2200" dirty="0"/>
              <a:t> </a:t>
            </a:r>
            <a:r>
              <a:rPr sz="2200" dirty="0" err="1"/>
              <a:t>לבנה</a:t>
            </a:r>
            <a:r>
              <a:rPr sz="2200" dirty="0"/>
              <a:t>, </a:t>
            </a:r>
            <a:r>
              <a:rPr sz="2200" dirty="0" err="1"/>
              <a:t>רשת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r>
              <a:rPr sz="2200" dirty="0"/>
              <a:t>, </a:t>
            </a:r>
            <a:r>
              <a:rPr sz="2200" dirty="0" err="1"/>
              <a:t>קנה</a:t>
            </a:r>
            <a:r>
              <a:rPr sz="2200" dirty="0"/>
              <a:t> </a:t>
            </a:r>
            <a:r>
              <a:rPr sz="2200" dirty="0" err="1"/>
              <a:t>מידה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גבהים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מוחלט</a:t>
            </a:r>
            <a:r>
              <a:rPr sz="2200" dirty="0"/>
              <a:t> </a:t>
            </a:r>
            <a:r>
              <a:rPr sz="2200" dirty="0" err="1"/>
              <a:t>ויחסי</a:t>
            </a:r>
            <a:r>
              <a:rPr sz="2200" dirty="0"/>
              <a:t>,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,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תכסית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סימנים</a:t>
            </a:r>
            <a:r>
              <a:rPr sz="2200" dirty="0"/>
              <a:t>, </a:t>
            </a:r>
            <a:r>
              <a:rPr sz="2200" dirty="0" err="1"/>
              <a:t>מקרא</a:t>
            </a:r>
            <a:r>
              <a:rPr sz="2200" dirty="0"/>
              <a:t>, </a:t>
            </a:r>
            <a:r>
              <a:rPr sz="2200" dirty="0" err="1"/>
              <a:t>צבעים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צורות</a:t>
            </a:r>
            <a:r>
              <a:rPr sz="2200" dirty="0"/>
              <a:t> </a:t>
            </a:r>
            <a:r>
              <a:rPr sz="2200" b="1" dirty="0" err="1"/>
              <a:t>שטח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, </a:t>
            </a:r>
            <a:r>
              <a:rPr sz="2200" dirty="0" err="1"/>
              <a:t>שלוחה</a:t>
            </a:r>
            <a:r>
              <a:rPr sz="2200" dirty="0"/>
              <a:t>, </a:t>
            </a:r>
            <a:r>
              <a:rPr sz="2200" dirty="0" err="1"/>
              <a:t>גיא</a:t>
            </a:r>
            <a:r>
              <a:rPr sz="2200" dirty="0"/>
              <a:t>, </a:t>
            </a:r>
            <a:r>
              <a:rPr sz="2200" dirty="0" err="1"/>
              <a:t>אוכף</a:t>
            </a:r>
            <a:r>
              <a:rPr sz="2200" dirty="0"/>
              <a:t>,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סמויה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מדרונות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קצוב</a:t>
            </a:r>
            <a:r>
              <a:rPr sz="2200" dirty="0"/>
              <a:t>, </a:t>
            </a:r>
            <a:r>
              <a:rPr sz="2200" dirty="0" err="1"/>
              <a:t>משתנה</a:t>
            </a:r>
            <a:r>
              <a:rPr sz="2200" dirty="0"/>
              <a:t>, </a:t>
            </a:r>
            <a:r>
              <a:rPr sz="2200" dirty="0" err="1"/>
              <a:t>קעור</a:t>
            </a:r>
            <a:r>
              <a:rPr sz="2200" dirty="0"/>
              <a:t>, </a:t>
            </a:r>
            <a:r>
              <a:rPr sz="2200" dirty="0" err="1"/>
              <a:t>קמור</a:t>
            </a:r>
            <a:r>
              <a:rPr sz="2200" dirty="0"/>
              <a:t>, </a:t>
            </a:r>
            <a:r>
              <a:rPr sz="2200" dirty="0" err="1"/>
              <a:t>כתף</a:t>
            </a:r>
            <a:endParaRPr sz="2200" dirty="0"/>
          </a:p>
        </p:txBody>
      </p:sp>
      <p:pic>
        <p:nvPicPr>
          <p:cNvPr id="4" name="Picture 3" descr="כיצד להדפיס מפה טופוגרפית בקנ&quot;מ מדויק">
            <a:extLst>
              <a:ext uri="{FF2B5EF4-FFF2-40B4-BE49-F238E27FC236}">
                <a16:creationId xmlns:a16="http://schemas.microsoft.com/office/drawing/2014/main" id="{F6DE6064-2ED5-F032-97B6-E10FB48D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93" y="1136580"/>
            <a:ext cx="3246730" cy="45848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2F2E4-2E1C-F66B-9DEE-3B2E465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C439C-62F6-052B-BD6B-C659D766A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he-IL" dirty="0"/>
              <a:t>מה למדנו בשיעור הקודם?</a:t>
            </a:r>
            <a:endParaRPr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6F114-8F58-C73C-496E-063ED8CA9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מפה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מפה</a:t>
            </a:r>
            <a:r>
              <a:rPr sz="2200" dirty="0"/>
              <a:t> </a:t>
            </a:r>
            <a:r>
              <a:rPr sz="2200" dirty="0" err="1"/>
              <a:t>לבנה</a:t>
            </a:r>
            <a:r>
              <a:rPr sz="2200" dirty="0"/>
              <a:t>, </a:t>
            </a:r>
            <a:r>
              <a:rPr sz="2200" dirty="0" err="1"/>
              <a:t>רשת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r>
              <a:rPr sz="2200" dirty="0"/>
              <a:t>, </a:t>
            </a:r>
            <a:r>
              <a:rPr sz="2200" dirty="0" err="1"/>
              <a:t>קנה</a:t>
            </a:r>
            <a:r>
              <a:rPr sz="2200" dirty="0"/>
              <a:t> </a:t>
            </a:r>
            <a:r>
              <a:rPr sz="2200" dirty="0" err="1"/>
              <a:t>מידה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גבהים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מוחלט</a:t>
            </a:r>
            <a:r>
              <a:rPr sz="2200" dirty="0"/>
              <a:t> </a:t>
            </a:r>
            <a:r>
              <a:rPr sz="2200" dirty="0" err="1"/>
              <a:t>ויחסי</a:t>
            </a:r>
            <a:r>
              <a:rPr sz="2200" dirty="0"/>
              <a:t>, </a:t>
            </a:r>
            <a:r>
              <a:rPr sz="2200" dirty="0" err="1"/>
              <a:t>תבליט</a:t>
            </a:r>
            <a:r>
              <a:rPr sz="2200" dirty="0"/>
              <a:t>, </a:t>
            </a:r>
            <a:r>
              <a:rPr sz="2200" dirty="0" err="1"/>
              <a:t>קווי</a:t>
            </a:r>
            <a:r>
              <a:rPr sz="2200" dirty="0"/>
              <a:t> </a:t>
            </a:r>
            <a:r>
              <a:rPr sz="2200" dirty="0" err="1"/>
              <a:t>גובה</a:t>
            </a:r>
            <a:r>
              <a:rPr sz="2200" dirty="0"/>
              <a:t>,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גובה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תכסית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סימנים</a:t>
            </a:r>
            <a:r>
              <a:rPr sz="2200" dirty="0"/>
              <a:t>, </a:t>
            </a:r>
            <a:r>
              <a:rPr sz="2200" dirty="0" err="1"/>
              <a:t>מקרא</a:t>
            </a:r>
            <a:r>
              <a:rPr sz="2200" dirty="0"/>
              <a:t>, </a:t>
            </a:r>
            <a:r>
              <a:rPr sz="2200" dirty="0" err="1"/>
              <a:t>צבעים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צורות</a:t>
            </a:r>
            <a:r>
              <a:rPr sz="2200" dirty="0"/>
              <a:t> </a:t>
            </a:r>
            <a:r>
              <a:rPr sz="2200" b="1" dirty="0" err="1"/>
              <a:t>שטח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כיפה</a:t>
            </a:r>
            <a:r>
              <a:rPr sz="2200" dirty="0"/>
              <a:t>, </a:t>
            </a:r>
            <a:r>
              <a:rPr sz="2200" dirty="0" err="1"/>
              <a:t>שלוחה</a:t>
            </a:r>
            <a:r>
              <a:rPr sz="2200" dirty="0"/>
              <a:t>, </a:t>
            </a:r>
            <a:r>
              <a:rPr sz="2200" dirty="0" err="1"/>
              <a:t>גיא</a:t>
            </a:r>
            <a:r>
              <a:rPr sz="2200" dirty="0"/>
              <a:t>, </a:t>
            </a:r>
            <a:r>
              <a:rPr sz="2200" dirty="0" err="1"/>
              <a:t>אוכף</a:t>
            </a:r>
            <a:r>
              <a:rPr sz="2200" dirty="0"/>
              <a:t>, </a:t>
            </a:r>
            <a:r>
              <a:rPr sz="2200" dirty="0" err="1"/>
              <a:t>כיפה</a:t>
            </a:r>
            <a:r>
              <a:rPr sz="2200" dirty="0"/>
              <a:t> </a:t>
            </a:r>
            <a:r>
              <a:rPr sz="2200" dirty="0" err="1"/>
              <a:t>סמויה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מדרונות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קצוב</a:t>
            </a:r>
            <a:r>
              <a:rPr sz="2200" dirty="0"/>
              <a:t>, </a:t>
            </a:r>
            <a:r>
              <a:rPr sz="2200" dirty="0" err="1"/>
              <a:t>משתנה</a:t>
            </a:r>
            <a:r>
              <a:rPr sz="2200" dirty="0"/>
              <a:t>, </a:t>
            </a:r>
            <a:r>
              <a:rPr sz="2200" dirty="0" err="1"/>
              <a:t>קעור</a:t>
            </a:r>
            <a:r>
              <a:rPr sz="2200" dirty="0"/>
              <a:t>, </a:t>
            </a:r>
            <a:r>
              <a:rPr sz="2200" dirty="0" err="1"/>
              <a:t>קמור</a:t>
            </a:r>
            <a:r>
              <a:rPr sz="2200" dirty="0"/>
              <a:t>, </a:t>
            </a:r>
            <a:r>
              <a:rPr sz="2200" dirty="0" err="1"/>
              <a:t>כתף</a:t>
            </a:r>
            <a:endParaRPr sz="2200" dirty="0"/>
          </a:p>
        </p:txBody>
      </p:sp>
      <p:pic>
        <p:nvPicPr>
          <p:cNvPr id="4" name="Picture 3" descr="כיצד להדפיס מפה טופוגרפית בקנ&quot;מ מדויק">
            <a:extLst>
              <a:ext uri="{FF2B5EF4-FFF2-40B4-BE49-F238E27FC236}">
                <a16:creationId xmlns:a16="http://schemas.microsoft.com/office/drawing/2014/main" id="{1594D3CE-B1C5-645F-9F06-0D3A64D14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193" y="1136580"/>
            <a:ext cx="3246730" cy="458483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F5AFCC7-8D79-9137-AC66-507F49222210}"/>
              </a:ext>
            </a:extLst>
          </p:cNvPr>
          <p:cNvSpPr/>
          <p:nvPr/>
        </p:nvSpPr>
        <p:spPr>
          <a:xfrm>
            <a:off x="0" y="-130629"/>
            <a:ext cx="12192000" cy="6988629"/>
          </a:xfrm>
          <a:prstGeom prst="rect">
            <a:avLst/>
          </a:prstGeom>
          <a:solidFill>
            <a:schemeClr val="bg1">
              <a:lumMod val="95000"/>
              <a:alpha val="92717"/>
            </a:schemeClr>
          </a:solidFill>
          <a:ln>
            <a:solidFill>
              <a:schemeClr val="bg1">
                <a:lumMod val="9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</a:pPr>
            <a:endParaRPr lang="en-IL"/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B24D40FE-32B1-87E6-124A-438689F33357}"/>
              </a:ext>
            </a:extLst>
          </p:cNvPr>
          <p:cNvSpPr/>
          <p:nvPr/>
        </p:nvSpPr>
        <p:spPr>
          <a:xfrm>
            <a:off x="-609600" y="2710543"/>
            <a:ext cx="13411200" cy="1681843"/>
          </a:xfrm>
          <a:prstGeom prst="roundRect">
            <a:avLst/>
          </a:prstGeom>
          <a:solidFill>
            <a:srgbClr val="8DAE7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>
              <a:spcBef>
                <a:spcPts val="600"/>
              </a:spcBef>
            </a:pPr>
            <a:r>
              <a:rPr lang="he-IL" sz="4400" b="1" dirty="0">
                <a:latin typeface="Assistant" pitchFamily="2" charset="-79"/>
                <a:cs typeface="Assistant" pitchFamily="2" charset="-79"/>
              </a:rPr>
              <a:t>וכמובן – </a:t>
            </a:r>
            <a:r>
              <a:rPr lang="he-IL" sz="4400" b="1" dirty="0" err="1">
                <a:latin typeface="Assistant" pitchFamily="2" charset="-79"/>
                <a:cs typeface="Assistant" pitchFamily="2" charset="-79"/>
              </a:rPr>
              <a:t>הניווטיה</a:t>
            </a:r>
            <a:r>
              <a:rPr lang="he-IL" sz="4400" b="1" dirty="0">
                <a:latin typeface="Assistant" pitchFamily="2" charset="-79"/>
                <a:cs typeface="Assistant" pitchFamily="2" charset="-79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31632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5;p3">
            <a:extLst>
              <a:ext uri="{FF2B5EF4-FFF2-40B4-BE49-F238E27FC236}">
                <a16:creationId xmlns:a16="http://schemas.microsoft.com/office/drawing/2014/main" id="{36BCC605-3081-1286-88BA-EE53E7E9A85E}"/>
              </a:ext>
            </a:extLst>
          </p:cNvPr>
          <p:cNvSpPr txBox="1"/>
          <p:nvPr/>
        </p:nvSpPr>
        <p:spPr>
          <a:xfrm>
            <a:off x="-5257800" y="27661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ידידינו היקר!</a:t>
            </a:r>
          </a:p>
          <a:p>
            <a:pPr marL="0" marR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ssistant"/>
              <a:buNone/>
            </a:pPr>
            <a:r>
              <a:rPr lang="he-IL" sz="4400" b="1" dirty="0">
                <a:solidFill>
                  <a:schemeClr val="dk1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חזרת אלינו 🥰</a:t>
            </a:r>
            <a:endParaRPr sz="4400" b="1" i="0" u="none" strike="noStrike" cap="none" dirty="0">
              <a:solidFill>
                <a:schemeClr val="dk1"/>
              </a:solidFill>
              <a:latin typeface="Assistant" pitchFamily="2" charset="-79"/>
              <a:ea typeface="Assistant"/>
              <a:cs typeface="Assistant" pitchFamily="2" charset="-79"/>
              <a:sym typeface="Assistant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C53AF6B4-5F36-B48F-A9AA-632035F4D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48A3805-F69A-CF53-15FF-C7E5BA9B6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2509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97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500" fill="hold"/>
                                        <p:tgtEl>
                                          <p:spTgt spid="8"/>
                                        </p:tgtEl>
                                      </p:cBhvr>
                                      <p:by x="30000" y="3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3.7037E-7 L -0.01459 0.37963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9" y="189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93462-C831-1ED8-DDB8-9587C50A2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681D-FCBF-7885-47F4-205F5EBFF1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7881" y="2633187"/>
            <a:ext cx="4736235" cy="999847"/>
          </a:xfrm>
        </p:spPr>
        <p:txBody>
          <a:bodyPr>
            <a:normAutofit fontScale="90000"/>
          </a:bodyPr>
          <a:lstStyle/>
          <a:p>
            <a:pPr algn="r" rtl="1">
              <a:spcBef>
                <a:spcPts val="600"/>
              </a:spcBef>
            </a:pPr>
            <a:r>
              <a:rPr lang="he-IL" dirty="0"/>
              <a:t>קואורדינטות </a:t>
            </a:r>
            <a:r>
              <a:rPr lang="he-IL" dirty="0" err="1"/>
              <a:t>ונ.צ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E4039-B5F2-D0AF-A430-9A71FCA7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70680" y="3199177"/>
            <a:ext cx="5650635" cy="867713"/>
          </a:xfrm>
        </p:spPr>
        <p:txBody>
          <a:bodyPr/>
          <a:lstStyle/>
          <a:p>
            <a:pPr rtl="1">
              <a:spcBef>
                <a:spcPts val="600"/>
              </a:spcBef>
            </a:pPr>
            <a:r>
              <a:rPr lang="he-IL" dirty="0"/>
              <a:t>״דע מעין באת ולאן אתה והלך״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751A9EB-7ACD-926D-1B32-65CEB5C1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F2E6B71-A226-E143-71A6-221088F19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4970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מד קואורדינטות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הכלי</a:t>
            </a:r>
            <a:r>
              <a:rPr sz="2200" dirty="0"/>
              <a:t> </a:t>
            </a:r>
            <a:r>
              <a:rPr sz="2200" dirty="0" err="1"/>
              <a:t>המרכזי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הנווט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או</a:t>
            </a:r>
            <a:r>
              <a:rPr sz="2200" dirty="0"/>
              <a:t> </a:t>
            </a:r>
            <a:r>
              <a:rPr sz="2200" dirty="0" err="1"/>
              <a:t>בקיצור</a:t>
            </a:r>
            <a:r>
              <a:rPr lang="he-IL" sz="2200" dirty="0"/>
              <a:t>: </a:t>
            </a:r>
            <a:r>
              <a:rPr sz="2200" dirty="0" err="1"/>
              <a:t>מד״קו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סרג</a:t>
            </a:r>
            <a:r>
              <a:rPr lang="he-IL" sz="2200" dirty="0"/>
              <a:t>ל,</a:t>
            </a:r>
            <a:r>
              <a:rPr sz="2200" dirty="0"/>
              <a:t> </a:t>
            </a:r>
            <a:r>
              <a:rPr sz="2200" dirty="0" err="1"/>
              <a:t>מד</a:t>
            </a:r>
            <a:r>
              <a:rPr lang="he-IL" sz="2200" dirty="0"/>
              <a:t>-</a:t>
            </a:r>
            <a:r>
              <a:rPr sz="2200" dirty="0" err="1"/>
              <a:t>זווית</a:t>
            </a:r>
            <a:r>
              <a:rPr sz="2200" dirty="0"/>
              <a:t> </a:t>
            </a:r>
            <a:r>
              <a:rPr sz="2200" dirty="0" err="1"/>
              <a:t>ומחשבון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r>
              <a:rPr sz="2200" dirty="0"/>
              <a:t> </a:t>
            </a:r>
            <a:r>
              <a:rPr sz="2200" dirty="0" err="1"/>
              <a:t>בכלי</a:t>
            </a:r>
            <a:r>
              <a:rPr sz="2200" dirty="0"/>
              <a:t> </a:t>
            </a:r>
            <a:r>
              <a:rPr sz="2200" dirty="0" err="1"/>
              <a:t>אחד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סופר</a:t>
            </a:r>
            <a:r>
              <a:rPr sz="2200" dirty="0"/>
              <a:t> </a:t>
            </a:r>
            <a:r>
              <a:rPr sz="2200" dirty="0" err="1"/>
              <a:t>פונקציונאלי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נלמד</a:t>
            </a:r>
            <a:r>
              <a:rPr sz="2200" dirty="0"/>
              <a:t> </a:t>
            </a:r>
            <a:r>
              <a:rPr sz="2200" dirty="0" err="1"/>
              <a:t>לעשות</a:t>
            </a:r>
            <a:r>
              <a:rPr sz="2200" dirty="0"/>
              <a:t> </a:t>
            </a:r>
            <a:r>
              <a:rPr sz="2200" dirty="0" err="1"/>
              <a:t>איתו</a:t>
            </a:r>
            <a:r>
              <a:rPr sz="2200" dirty="0"/>
              <a:t> </a:t>
            </a:r>
            <a:r>
              <a:rPr sz="2200" dirty="0" err="1"/>
              <a:t>כמעט</a:t>
            </a:r>
            <a:r>
              <a:rPr sz="2200" dirty="0"/>
              <a:t> </a:t>
            </a:r>
            <a:r>
              <a:rPr sz="2200" dirty="0" err="1"/>
              <a:t>הכל</a:t>
            </a:r>
            <a:endParaRPr sz="2200" dirty="0"/>
          </a:p>
        </p:txBody>
      </p:sp>
      <p:pic>
        <p:nvPicPr>
          <p:cNvPr id="4" name="Picture 3" descr="מד קואורדינטות">
            <a:extLst>
              <a:ext uri="{FF2B5EF4-FFF2-40B4-BE49-F238E27FC236}">
                <a16:creationId xmlns:a16="http://schemas.microsoft.com/office/drawing/2014/main" id="{CDABEB56-BEB0-F761-1DA3-96FE346A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57" t="11348" r="18204" b="5912"/>
          <a:stretch>
            <a:fillRect/>
          </a:stretch>
        </p:blipFill>
        <p:spPr>
          <a:xfrm>
            <a:off x="449765" y="1027906"/>
            <a:ext cx="4029075" cy="5181318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B9528C0-F224-E17C-D86F-C56CE033F7F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332CB12-6D72-5B23-FAB5-738F4318F38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נ.צ</a:t>
            </a:r>
            <a:r>
              <a:rPr lang="he-IL" dirty="0"/>
              <a:t>.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נקודת</a:t>
            </a:r>
            <a:r>
              <a:rPr dirty="0"/>
              <a:t> </a:t>
            </a:r>
            <a:r>
              <a:rPr dirty="0" err="1"/>
              <a:t>ציון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נקודת</a:t>
            </a:r>
            <a:r>
              <a:rPr sz="2200" dirty="0"/>
              <a:t> </a:t>
            </a:r>
            <a:r>
              <a:rPr sz="2200" dirty="0" err="1"/>
              <a:t>ציון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נ.צ</a:t>
            </a:r>
            <a:r>
              <a:rPr lang="he-IL" sz="2200" dirty="0"/>
              <a:t>.)</a:t>
            </a:r>
            <a:r>
              <a:rPr sz="2200" dirty="0" err="1"/>
              <a:t>היא</a:t>
            </a:r>
            <a:r>
              <a:rPr sz="2200" dirty="0"/>
              <a:t> 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גבי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</a:t>
            </a:r>
            <a:r>
              <a:rPr sz="2200" dirty="0" err="1"/>
              <a:t>שמציינת</a:t>
            </a:r>
            <a:r>
              <a:rPr sz="2200" dirty="0"/>
              <a:t> </a:t>
            </a:r>
            <a:r>
              <a:rPr sz="2200" dirty="0" err="1"/>
              <a:t>מיקום</a:t>
            </a:r>
            <a:r>
              <a:rPr sz="2200" dirty="0"/>
              <a:t> </a:t>
            </a:r>
            <a:r>
              <a:rPr sz="2200" dirty="0" err="1"/>
              <a:t>בשטח</a:t>
            </a:r>
            <a:r>
              <a:rPr sz="2200" dirty="0"/>
              <a:t> </a:t>
            </a:r>
            <a:r>
              <a:rPr sz="2200" dirty="0" err="1"/>
              <a:t>בעזרת</a:t>
            </a:r>
            <a:r>
              <a:rPr sz="2200" dirty="0"/>
              <a:t> </a:t>
            </a:r>
            <a:r>
              <a:rPr sz="2200" dirty="0" err="1"/>
              <a:t>קואורדינטות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אם</a:t>
            </a:r>
            <a:r>
              <a:rPr sz="2200" dirty="0"/>
              <a:t> </a:t>
            </a:r>
            <a:r>
              <a:rPr sz="2200" dirty="0" err="1"/>
              <a:t>נרצה</a:t>
            </a:r>
            <a:r>
              <a:rPr sz="2200" dirty="0"/>
              <a:t> </a:t>
            </a:r>
            <a:r>
              <a:rPr sz="2200" dirty="0" err="1"/>
              <a:t>לתאר</a:t>
            </a:r>
            <a:r>
              <a:rPr lang="he-IL" sz="2200" dirty="0"/>
              <a:t> את</a:t>
            </a:r>
            <a:r>
              <a:rPr sz="2200" dirty="0"/>
              <a:t> </a:t>
            </a:r>
            <a:r>
              <a:rPr sz="2200" dirty="0" err="1"/>
              <a:t>מיקום</a:t>
            </a:r>
            <a:r>
              <a:rPr sz="2200" dirty="0"/>
              <a:t> </a:t>
            </a:r>
            <a:r>
              <a:rPr lang="he-IL" sz="2200" dirty="0"/>
              <a:t>ה</a:t>
            </a:r>
            <a:r>
              <a:rPr sz="2200" dirty="0" err="1"/>
              <a:t>נקודה</a:t>
            </a:r>
            <a:r>
              <a:rPr sz="2200" dirty="0"/>
              <a:t> </a:t>
            </a:r>
            <a:r>
              <a:rPr sz="2200" dirty="0" err="1"/>
              <a:t>בצורה</a:t>
            </a:r>
            <a:r>
              <a:rPr sz="2200" dirty="0"/>
              <a:t> </a:t>
            </a:r>
            <a:r>
              <a:rPr sz="2200" dirty="0" err="1"/>
              <a:t>מדויקת</a:t>
            </a:r>
            <a:r>
              <a:rPr sz="2200" dirty="0"/>
              <a:t> </a:t>
            </a:r>
            <a:r>
              <a:rPr sz="2200" dirty="0" err="1"/>
              <a:t>יותר</a:t>
            </a:r>
            <a:r>
              <a:rPr sz="2200" dirty="0"/>
              <a:t>?</a:t>
            </a:r>
          </a:p>
        </p:txBody>
      </p:sp>
      <p:pic>
        <p:nvPicPr>
          <p:cNvPr id="4" name="Picture 3" descr="map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855E00D-F888-0343-F8EA-AA0216F123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35B892D-51E3-8407-96EB-B67F78C2EB8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39DC4E2-64E7-C04E-C99F-C7EE2FCA335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E67C7112-3402-5A81-8EE2-D58C64760C4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נ.צ</a:t>
            </a:r>
            <a:r>
              <a:rPr lang="he-IL" dirty="0"/>
              <a:t>.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תיאור</a:t>
            </a:r>
            <a:r>
              <a:rPr dirty="0"/>
              <a:t> </a:t>
            </a:r>
            <a:r>
              <a:rPr dirty="0" err="1"/>
              <a:t>מדויק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נתאר</a:t>
            </a:r>
            <a:r>
              <a:rPr sz="2200" dirty="0"/>
              <a:t> </a:t>
            </a:r>
            <a:r>
              <a:rPr sz="2200" dirty="0" err="1"/>
              <a:t>במדויק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הנקודה</a:t>
            </a:r>
            <a:r>
              <a:rPr sz="2200" dirty="0"/>
              <a:t> </a:t>
            </a:r>
            <a:r>
              <a:rPr sz="2200" dirty="0" err="1"/>
              <a:t>הזאת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זוכרים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המד״קו</a:t>
            </a:r>
            <a:r>
              <a:rPr sz="2200" dirty="0"/>
              <a:t>?</a:t>
            </a:r>
            <a:endParaRPr lang="he-IL" sz="2200" dirty="0"/>
          </a:p>
          <a:p>
            <a:pPr lvl="1">
              <a:spcBef>
                <a:spcPts val="600"/>
              </a:spcBef>
            </a:pPr>
            <a:r>
              <a:rPr sz="1800" dirty="0" err="1"/>
              <a:t>בתחתיתו</a:t>
            </a:r>
            <a:r>
              <a:rPr sz="1800" dirty="0"/>
              <a:t> </a:t>
            </a:r>
            <a:r>
              <a:rPr sz="1800" dirty="0" err="1"/>
              <a:t>סרגל</a:t>
            </a:r>
            <a:r>
              <a:rPr sz="1800" dirty="0"/>
              <a:t> </a:t>
            </a:r>
            <a:r>
              <a:rPr sz="1800" dirty="0" err="1"/>
              <a:t>בגודל</a:t>
            </a:r>
            <a:r>
              <a:rPr sz="1800" dirty="0"/>
              <a:t> </a:t>
            </a:r>
            <a:r>
              <a:rPr sz="1800" dirty="0" err="1"/>
              <a:t>משבצת</a:t>
            </a:r>
            <a:r>
              <a:rPr lang="he-IL" sz="1800" dirty="0"/>
              <a:t>, </a:t>
            </a:r>
            <a:r>
              <a:rPr sz="1800" dirty="0" err="1"/>
              <a:t>מחולק</a:t>
            </a:r>
            <a:r>
              <a:rPr sz="1800" dirty="0"/>
              <a:t> ל</a:t>
            </a:r>
            <a:r>
              <a:rPr lang="he-IL" sz="1800" dirty="0"/>
              <a:t>-20, כאשר</a:t>
            </a:r>
            <a:r>
              <a:rPr sz="1800" dirty="0"/>
              <a:t> </a:t>
            </a:r>
            <a:r>
              <a:rPr sz="1800" dirty="0" err="1"/>
              <a:t>כל</a:t>
            </a:r>
            <a:r>
              <a:rPr sz="1800" dirty="0"/>
              <a:t> </a:t>
            </a:r>
            <a:r>
              <a:rPr lang="he-IL" sz="1800" dirty="0"/>
              <a:t>שנתה היא 50 מ'</a:t>
            </a:r>
            <a:r>
              <a:rPr sz="1800" dirty="0"/>
              <a:t> </a:t>
            </a:r>
            <a:r>
              <a:rPr sz="1800" dirty="0" err="1"/>
              <a:t>במקום</a:t>
            </a:r>
            <a:r>
              <a:rPr sz="1800" dirty="0"/>
              <a:t> </a:t>
            </a:r>
            <a:r>
              <a:rPr sz="1800" dirty="0" err="1"/>
              <a:t>ק״מ</a:t>
            </a:r>
            <a:r>
              <a:rPr sz="1800" dirty="0"/>
              <a:t> </a:t>
            </a:r>
            <a:r>
              <a:rPr sz="1800" dirty="0" err="1"/>
              <a:t>שלם</a:t>
            </a:r>
            <a:endParaRPr sz="18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נישר</a:t>
            </a:r>
            <a:r>
              <a:rPr sz="2200" b="1" dirty="0"/>
              <a:t> </a:t>
            </a:r>
            <a:r>
              <a:rPr sz="2200" b="1" dirty="0" err="1"/>
              <a:t>את</a:t>
            </a:r>
            <a:r>
              <a:rPr sz="2200" b="1" dirty="0"/>
              <a:t> </a:t>
            </a:r>
            <a:r>
              <a:rPr sz="2200" b="1" dirty="0" err="1"/>
              <a:t>המד״קו</a:t>
            </a:r>
            <a:r>
              <a:rPr sz="2200" b="1" dirty="0"/>
              <a:t> </a:t>
            </a:r>
            <a:r>
              <a:rPr sz="2200" b="1" dirty="0" err="1"/>
              <a:t>על</a:t>
            </a:r>
            <a:r>
              <a:rPr sz="2200" b="1" dirty="0"/>
              <a:t> </a:t>
            </a:r>
            <a:r>
              <a:rPr sz="2200" b="1" dirty="0" err="1"/>
              <a:t>המשבצת</a:t>
            </a:r>
            <a:r>
              <a:rPr sz="2200" b="1" dirty="0"/>
              <a:t> </a:t>
            </a:r>
            <a:r>
              <a:rPr sz="2200" b="1" dirty="0" err="1"/>
              <a:t>ונקרא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הנ.צ</a:t>
            </a:r>
            <a:r>
              <a:rPr lang="he-IL" sz="2200" dirty="0"/>
              <a:t>.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הנקודה</a:t>
            </a:r>
            <a:r>
              <a:rPr lang="he-IL" sz="2200" dirty="0"/>
              <a:t> </a:t>
            </a:r>
            <a:r>
              <a:rPr sz="2200" dirty="0"/>
              <a:t> 211800/617350</a:t>
            </a:r>
            <a:r>
              <a:rPr lang="he-IL" sz="2200" dirty="0"/>
              <a:t>: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תמיד</a:t>
            </a:r>
            <a:r>
              <a:rPr sz="2200" b="1" dirty="0"/>
              <a:t> </a:t>
            </a:r>
            <a:r>
              <a:rPr sz="2200" b="1" dirty="0" err="1"/>
              <a:t>רושמים</a:t>
            </a:r>
            <a:r>
              <a:rPr sz="2200" b="1" dirty="0"/>
              <a:t> </a:t>
            </a:r>
            <a:r>
              <a:rPr sz="2200" b="1" dirty="0" err="1"/>
              <a:t>קודם</a:t>
            </a:r>
            <a:r>
              <a:rPr sz="2200" b="1" dirty="0"/>
              <a:t> </a:t>
            </a:r>
            <a:r>
              <a:rPr sz="2200" b="1" dirty="0" err="1"/>
              <a:t>קו</a:t>
            </a:r>
            <a:r>
              <a:rPr sz="2200" b="1" dirty="0"/>
              <a:t> </a:t>
            </a:r>
            <a:r>
              <a:rPr sz="2200" b="1" dirty="0" err="1"/>
              <a:t>אורך</a:t>
            </a:r>
            <a:r>
              <a:rPr sz="2200" b="1" dirty="0"/>
              <a:t> </a:t>
            </a:r>
            <a:r>
              <a:rPr sz="2200" b="1" dirty="0" err="1"/>
              <a:t>ואז</a:t>
            </a:r>
            <a:r>
              <a:rPr sz="2200" b="1" dirty="0"/>
              <a:t> </a:t>
            </a:r>
            <a:r>
              <a:rPr sz="2200" b="1" dirty="0" err="1"/>
              <a:t>קו</a:t>
            </a:r>
            <a:r>
              <a:rPr sz="2200" b="1" dirty="0"/>
              <a:t> </a:t>
            </a:r>
            <a:r>
              <a:rPr sz="2200" b="1" dirty="0" err="1"/>
              <a:t>רוחב</a:t>
            </a:r>
            <a:endParaRPr sz="2200" b="1" dirty="0"/>
          </a:p>
        </p:txBody>
      </p:sp>
      <p:pic>
        <p:nvPicPr>
          <p:cNvPr id="4" name="Picture 3" descr="natz_r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057400"/>
            <a:ext cx="3794760" cy="379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843D4B67-7647-9EED-7BC2-28E07425C66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46072EC8-14D9-42ED-39F7-894F29DA81A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905750" y="551497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תרגול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הנ.צ</a:t>
            </a:r>
            <a:r>
              <a:rPr lang="he-IL" dirty="0"/>
              <a:t>. </a:t>
            </a:r>
            <a:r>
              <a:rPr dirty="0" err="1"/>
              <a:t>של</a:t>
            </a:r>
            <a:r>
              <a:rPr dirty="0"/>
              <a:t> </a:t>
            </a:r>
            <a:r>
              <a:rPr dirty="0" err="1"/>
              <a:t>הנקודה</a:t>
            </a:r>
            <a:r>
              <a:rPr dirty="0"/>
              <a:t>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זהו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הנ.צ</a:t>
            </a:r>
            <a:r>
              <a:rPr lang="he-IL" sz="2200" dirty="0"/>
              <a:t>.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הנקודה</a:t>
            </a:r>
            <a:r>
              <a:rPr sz="2200" dirty="0"/>
              <a:t> </a:t>
            </a:r>
            <a:r>
              <a:rPr sz="2200" dirty="0" err="1"/>
              <a:t>האדומה</a:t>
            </a:r>
            <a:r>
              <a:rPr sz="2200" dirty="0"/>
              <a:t> </a:t>
            </a:r>
            <a:r>
              <a:rPr sz="2200" dirty="0" err="1"/>
              <a:t>במפה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זכרו</a:t>
            </a:r>
            <a:r>
              <a:rPr lang="he-IL" sz="2200" dirty="0"/>
              <a:t>: </a:t>
            </a:r>
            <a:r>
              <a:rPr sz="2200" dirty="0" err="1"/>
              <a:t>קודם</a:t>
            </a:r>
            <a:r>
              <a:rPr sz="2200" dirty="0"/>
              <a:t> </a:t>
            </a:r>
            <a:r>
              <a:rPr sz="2200" dirty="0" err="1"/>
              <a:t>אורך</a:t>
            </a:r>
            <a:r>
              <a:rPr sz="2200" dirty="0"/>
              <a:t>, </a:t>
            </a:r>
            <a:r>
              <a:rPr sz="2200" dirty="0" err="1"/>
              <a:t>אחר</a:t>
            </a:r>
            <a:r>
              <a:rPr sz="2200" dirty="0"/>
              <a:t> </a:t>
            </a:r>
            <a:r>
              <a:rPr sz="2200" dirty="0" err="1"/>
              <a:t>כך</a:t>
            </a:r>
            <a:r>
              <a:rPr sz="2200" dirty="0"/>
              <a:t> </a:t>
            </a:r>
            <a:r>
              <a:rPr sz="2200" dirty="0" err="1"/>
              <a:t>רוחב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/>
              <a:t>212250/616800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212850/617150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212550/618300</a:t>
            </a:r>
          </a:p>
          <a:p>
            <a:pPr lvl="1">
              <a:spcBef>
                <a:spcPts val="600"/>
              </a:spcBef>
            </a:pPr>
            <a:r>
              <a:rPr lang="he-IL" sz="2200" dirty="0"/>
              <a:t>213200/</a:t>
            </a:r>
            <a:r>
              <a:rPr lang="en-IL" sz="2200" dirty="0"/>
              <a:t>617400</a:t>
            </a:r>
            <a:endParaRPr sz="2200" dirty="0"/>
          </a:p>
        </p:txBody>
      </p:sp>
      <p:pic>
        <p:nvPicPr>
          <p:cNvPr id="4" name="Picture 3" descr="natz_tirg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7882" y="2633188"/>
            <a:ext cx="4736235" cy="999847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שושנת</a:t>
            </a:r>
            <a:r>
              <a:rPr dirty="0"/>
              <a:t> </a:t>
            </a:r>
            <a:r>
              <a:rPr dirty="0" err="1"/>
              <a:t>הרוחות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70682" y="3199178"/>
            <a:ext cx="5650635" cy="867713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dirty="0"/>
              <a:t>״</a:t>
            </a:r>
            <a:r>
              <a:rPr dirty="0" err="1"/>
              <a:t>קוראים</a:t>
            </a:r>
            <a:r>
              <a:rPr dirty="0"/>
              <a:t> </a:t>
            </a:r>
            <a:r>
              <a:rPr dirty="0" err="1"/>
              <a:t>לי</a:t>
            </a:r>
            <a:r>
              <a:rPr dirty="0"/>
              <a:t> </a:t>
            </a:r>
            <a:r>
              <a:rPr dirty="0" err="1"/>
              <a:t>בשכונה</a:t>
            </a:r>
            <a:r>
              <a:rPr dirty="0"/>
              <a:t> </a:t>
            </a:r>
            <a:r>
              <a:rPr dirty="0" err="1"/>
              <a:t>מלכת</a:t>
            </a:r>
            <a:r>
              <a:rPr dirty="0"/>
              <a:t> </a:t>
            </a:r>
            <a:r>
              <a:rPr dirty="0" err="1"/>
              <a:t>השושנים</a:t>
            </a:r>
            <a:r>
              <a:rPr dirty="0"/>
              <a:t>״ </a:t>
            </a:r>
            <a:r>
              <a:rPr lang="he-IL" dirty="0"/>
              <a:t> - רון אבן</a:t>
            </a:r>
            <a:endParaRPr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96B2D96F-B720-6B02-C542-D9EB909D1D8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C7BF930-8EDE-3D4C-8126-5F8EC36339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53525" y="48196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שושנת הרוחות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מראה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המצפן</a:t>
            </a:r>
            <a:r>
              <a:rPr sz="2200" dirty="0"/>
              <a:t> </a:t>
            </a:r>
            <a:r>
              <a:rPr sz="2200" dirty="0" err="1"/>
              <a:t>ואת</a:t>
            </a:r>
            <a:r>
              <a:rPr sz="2200" dirty="0"/>
              <a:t> </a:t>
            </a:r>
            <a:r>
              <a:rPr sz="2200" dirty="0" err="1"/>
              <a:t>הכיוונים</a:t>
            </a:r>
            <a:r>
              <a:rPr sz="2200" dirty="0"/>
              <a:t> </a:t>
            </a:r>
            <a:r>
              <a:rPr sz="2200" dirty="0" err="1"/>
              <a:t>שביניהם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כיווני</a:t>
            </a:r>
            <a:r>
              <a:rPr sz="2200" dirty="0"/>
              <a:t> </a:t>
            </a:r>
            <a:r>
              <a:rPr sz="2200" dirty="0" err="1"/>
              <a:t>ביניים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ארבעה</a:t>
            </a:r>
            <a:r>
              <a:rPr sz="2200" dirty="0"/>
              <a:t> </a:t>
            </a:r>
            <a:r>
              <a:rPr sz="2200" dirty="0" err="1"/>
              <a:t>כיוונים</a:t>
            </a:r>
            <a:r>
              <a:rPr sz="2200" dirty="0"/>
              <a:t> </a:t>
            </a:r>
            <a:r>
              <a:rPr sz="2200" dirty="0" err="1"/>
              <a:t>ראשיים</a:t>
            </a:r>
            <a:r>
              <a:rPr lang="he-IL" sz="2200" dirty="0"/>
              <a:t>: </a:t>
            </a:r>
            <a:r>
              <a:rPr sz="2200" dirty="0" err="1"/>
              <a:t>צפון</a:t>
            </a:r>
            <a:r>
              <a:rPr sz="2200" dirty="0"/>
              <a:t>, </a:t>
            </a:r>
            <a:r>
              <a:rPr sz="2200" dirty="0" err="1"/>
              <a:t>מזרח</a:t>
            </a:r>
            <a:r>
              <a:rPr sz="2200" dirty="0"/>
              <a:t>, </a:t>
            </a:r>
            <a:r>
              <a:rPr sz="2200" dirty="0" err="1"/>
              <a:t>דרום</a:t>
            </a:r>
            <a:r>
              <a:rPr sz="2200" dirty="0"/>
              <a:t>, </a:t>
            </a:r>
            <a:r>
              <a:rPr sz="2200" dirty="0" err="1"/>
              <a:t>מערב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וכיווני</a:t>
            </a:r>
            <a:r>
              <a:rPr sz="2200" dirty="0"/>
              <a:t> </a:t>
            </a:r>
            <a:r>
              <a:rPr sz="2200" dirty="0" err="1"/>
              <a:t>ביניים</a:t>
            </a:r>
            <a:r>
              <a:rPr sz="2200" dirty="0"/>
              <a:t>: </a:t>
            </a:r>
            <a:r>
              <a:rPr sz="2200" dirty="0" err="1"/>
              <a:t>צ״מז</a:t>
            </a:r>
            <a:r>
              <a:rPr sz="2200" dirty="0"/>
              <a:t>, ד</a:t>
            </a:r>
            <a:r>
              <a:rPr lang="he-IL" sz="2200" dirty="0"/>
              <a:t>"</a:t>
            </a:r>
            <a:r>
              <a:rPr lang="he-IL" sz="2200" dirty="0" err="1"/>
              <a:t>מז</a:t>
            </a:r>
            <a:r>
              <a:rPr sz="2200" dirty="0"/>
              <a:t>, </a:t>
            </a:r>
            <a:r>
              <a:rPr sz="2200" dirty="0" err="1"/>
              <a:t>ד״מע</a:t>
            </a:r>
            <a:r>
              <a:rPr sz="2200" dirty="0"/>
              <a:t>, </a:t>
            </a:r>
            <a:r>
              <a:rPr sz="2200" dirty="0" err="1"/>
              <a:t>צ״מע</a:t>
            </a:r>
            <a:endParaRPr sz="2200" dirty="0"/>
          </a:p>
        </p:txBody>
      </p:sp>
      <p:pic>
        <p:nvPicPr>
          <p:cNvPr id="4" name="Picture 3" descr="compass_r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57400"/>
            <a:ext cx="3794760" cy="379476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C5416294-31C4-AA2F-6460-6DFEA317639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103DAB9F-862C-4C48-5733-63A948D1D17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153525" y="48196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FAF3C18B-52C5-3A0F-6D85-C957A723E7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3895334-33E9-8046-C9D6-75531D9BDD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153525" y="48196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אזימוט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הזווית</a:t>
            </a:r>
            <a:r>
              <a:rPr sz="2200" dirty="0"/>
              <a:t> </a:t>
            </a:r>
            <a:r>
              <a:rPr sz="2200" dirty="0" err="1"/>
              <a:t>שמודדים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הצפון</a:t>
            </a:r>
            <a:r>
              <a:rPr sz="2200" dirty="0"/>
              <a:t> </a:t>
            </a:r>
            <a:r>
              <a:rPr sz="2200" dirty="0" err="1"/>
              <a:t>לכיוון</a:t>
            </a:r>
            <a:r>
              <a:rPr sz="2200" dirty="0"/>
              <a:t> </a:t>
            </a:r>
            <a:r>
              <a:rPr sz="2200" dirty="0" err="1"/>
              <a:t>המבוקש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נמדוד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מד״קו</a:t>
            </a:r>
            <a:r>
              <a:rPr sz="2200" dirty="0"/>
              <a:t>, </a:t>
            </a:r>
            <a:r>
              <a:rPr sz="2200" dirty="0" err="1"/>
              <a:t>כמובן</a:t>
            </a:r>
            <a:r>
              <a:rPr sz="2200" dirty="0"/>
              <a:t>!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נמדוד</a:t>
            </a:r>
            <a:r>
              <a:rPr sz="2200" dirty="0"/>
              <a:t> </a:t>
            </a:r>
            <a:r>
              <a:rPr sz="2200" dirty="0" err="1"/>
              <a:t>בעזרת</a:t>
            </a:r>
            <a:r>
              <a:rPr sz="2200" dirty="0"/>
              <a:t> </a:t>
            </a:r>
            <a:r>
              <a:rPr sz="2200" dirty="0" err="1"/>
              <a:t>החוט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המד״קו</a:t>
            </a:r>
            <a:r>
              <a:rPr sz="2200" dirty="0"/>
              <a:t>, </a:t>
            </a:r>
            <a:r>
              <a:rPr sz="2200" dirty="0" err="1"/>
              <a:t>עם</a:t>
            </a:r>
            <a:r>
              <a:rPr sz="2200" dirty="0"/>
              <a:t>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השעון</a:t>
            </a:r>
            <a:endParaRPr sz="2200" dirty="0"/>
          </a:p>
        </p:txBody>
      </p:sp>
      <p:pic>
        <p:nvPicPr>
          <p:cNvPr id="4" name="Picture 3" descr="azimuth_to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934600"/>
            <a:ext cx="3794760" cy="40403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1FEEDD7F-BB67-BA2E-C234-A4C488D569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91F9DCB5-9E16-3D79-8598-29B760DA978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153525" y="48196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מציאת אזימוט יוצא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יוצא</a:t>
            </a:r>
            <a:r>
              <a:rPr sz="2200" dirty="0"/>
              <a:t> </a:t>
            </a:r>
            <a:r>
              <a:rPr sz="2200" dirty="0" err="1"/>
              <a:t>נמדד</a:t>
            </a:r>
            <a:r>
              <a:rPr sz="2200" dirty="0"/>
              <a:t> </a:t>
            </a:r>
            <a:r>
              <a:rPr sz="2200" dirty="0" err="1"/>
              <a:t>מהנווט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המטרה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האזימוט</a:t>
            </a:r>
            <a:r>
              <a:rPr sz="2200" dirty="0"/>
              <a:t> </a:t>
            </a:r>
            <a:r>
              <a:rPr sz="2200" dirty="0" err="1"/>
              <a:t>ממני</a:t>
            </a:r>
            <a:r>
              <a:rPr sz="2200" dirty="0"/>
              <a:t> </a:t>
            </a:r>
            <a:r>
              <a:rPr sz="2200" dirty="0" err="1"/>
              <a:t>לנקודה</a:t>
            </a:r>
            <a:r>
              <a:rPr sz="2200" dirty="0"/>
              <a:t> </a:t>
            </a:r>
            <a:r>
              <a:rPr sz="2200" dirty="0" err="1"/>
              <a:t>האדומה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מד״קו</a:t>
            </a:r>
            <a:r>
              <a:rPr sz="2200" dirty="0"/>
              <a:t>!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האזימוט</a:t>
            </a:r>
            <a:r>
              <a:rPr sz="2200" dirty="0"/>
              <a:t> </a:t>
            </a:r>
            <a:r>
              <a:rPr sz="2200" dirty="0" err="1"/>
              <a:t>היוצא</a:t>
            </a:r>
            <a:r>
              <a:rPr sz="2200" dirty="0"/>
              <a:t> </a:t>
            </a:r>
            <a:r>
              <a:rPr sz="2200" dirty="0" err="1"/>
              <a:t>רואים</a:t>
            </a:r>
            <a:r>
              <a:rPr sz="2200" dirty="0"/>
              <a:t> </a:t>
            </a:r>
            <a:r>
              <a:rPr sz="2200" dirty="0" err="1"/>
              <a:t>במעגל</a:t>
            </a:r>
            <a:r>
              <a:rPr sz="2200" dirty="0"/>
              <a:t> </a:t>
            </a:r>
            <a:r>
              <a:rPr sz="2200" dirty="0" err="1"/>
              <a:t>האמצעי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הכחול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יוצא</a:t>
            </a:r>
            <a:r>
              <a:rPr lang="he-IL" sz="2200" dirty="0"/>
              <a:t>: 270</a:t>
            </a:r>
            <a:endParaRPr sz="2200" dirty="0"/>
          </a:p>
        </p:txBody>
      </p:sp>
      <p:pic>
        <p:nvPicPr>
          <p:cNvPr id="4" name="Picture 3" descr="az_yotz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D51D3ACE-2605-E7F3-9E83-BBC2E3C61C4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404E3E5-2715-DE85-DFFC-5DB1114D809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153525" y="48196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מציאת אזימוט חוזר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חוזר</a:t>
            </a:r>
            <a:r>
              <a:rPr sz="2200" dirty="0"/>
              <a:t> </a:t>
            </a:r>
            <a:r>
              <a:rPr sz="2200" dirty="0" err="1"/>
              <a:t>נמדד</a:t>
            </a:r>
            <a:r>
              <a:rPr sz="2200" dirty="0"/>
              <a:t> </a:t>
            </a:r>
            <a:r>
              <a:rPr sz="2200" dirty="0" err="1"/>
              <a:t>מהמטרה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הנווט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המטרה</a:t>
            </a:r>
            <a:r>
              <a:rPr sz="2200" dirty="0"/>
              <a:t> ״</a:t>
            </a:r>
            <a:r>
              <a:rPr sz="2200" dirty="0" err="1"/>
              <a:t>רואה</a:t>
            </a:r>
            <a:r>
              <a:rPr sz="2200" dirty="0"/>
              <a:t>״ </a:t>
            </a:r>
            <a:r>
              <a:rPr sz="2200" dirty="0" err="1"/>
              <a:t>אותי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האזימוט</a:t>
            </a:r>
            <a:r>
              <a:rPr sz="2200" dirty="0"/>
              <a:t> </a:t>
            </a:r>
            <a:r>
              <a:rPr sz="2200" dirty="0" err="1"/>
              <a:t>החוזר</a:t>
            </a:r>
            <a:r>
              <a:rPr sz="2200" dirty="0"/>
              <a:t> </a:t>
            </a:r>
            <a:r>
              <a:rPr sz="2200" dirty="0" err="1"/>
              <a:t>רואים</a:t>
            </a:r>
            <a:r>
              <a:rPr sz="2200" dirty="0"/>
              <a:t> </a:t>
            </a:r>
            <a:r>
              <a:rPr sz="2200" dirty="0" err="1"/>
              <a:t>במעגל</a:t>
            </a:r>
            <a:r>
              <a:rPr sz="2200" dirty="0"/>
              <a:t> </a:t>
            </a:r>
            <a:r>
              <a:rPr sz="2200" dirty="0" err="1"/>
              <a:t>הפנימי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הירוק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חוזר</a:t>
            </a:r>
            <a:r>
              <a:rPr lang="he-IL" sz="2200" dirty="0"/>
              <a:t>: 90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דרך</a:t>
            </a:r>
            <a:r>
              <a:rPr sz="2200" dirty="0"/>
              <a:t> </a:t>
            </a:r>
            <a:r>
              <a:rPr sz="2200" dirty="0" err="1"/>
              <a:t>שנייה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למקם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המד״קו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המטרה</a:t>
            </a:r>
            <a:r>
              <a:rPr sz="2200" dirty="0"/>
              <a:t> </a:t>
            </a:r>
            <a:r>
              <a:rPr sz="2200" dirty="0" err="1"/>
              <a:t>ולחשב</a:t>
            </a:r>
            <a:r>
              <a:rPr sz="2200" dirty="0"/>
              <a:t> </a:t>
            </a: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יוצא</a:t>
            </a:r>
            <a:r>
              <a:rPr sz="2200" dirty="0"/>
              <a:t> </a:t>
            </a:r>
            <a:r>
              <a:rPr sz="2200" dirty="0" err="1"/>
              <a:t>לנווט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שוב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אזימוט</a:t>
            </a:r>
            <a:r>
              <a:rPr sz="2200" dirty="0"/>
              <a:t> </a:t>
            </a:r>
            <a:r>
              <a:rPr sz="2200" dirty="0" err="1"/>
              <a:t>חוזר</a:t>
            </a:r>
            <a:r>
              <a:rPr lang="he-IL" sz="2200" dirty="0"/>
              <a:t>: 90</a:t>
            </a:r>
            <a:endParaRPr sz="2200" dirty="0"/>
          </a:p>
        </p:txBody>
      </p:sp>
      <p:pic>
        <p:nvPicPr>
          <p:cNvPr id="4" name="Picture 3" descr="az_hoz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המצפן</a:t>
            </a:r>
            <a:r>
              <a:rPr dirty="0"/>
              <a:t> </a:t>
            </a:r>
            <a:r>
              <a:rPr dirty="0" err="1"/>
              <a:t>הצבאי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מצפן</a:t>
            </a:r>
            <a:r>
              <a:rPr sz="2200" dirty="0"/>
              <a:t> </a:t>
            </a:r>
            <a:r>
              <a:rPr sz="2200" dirty="0" err="1"/>
              <a:t>בשימוש</a:t>
            </a:r>
            <a:r>
              <a:rPr sz="2200" dirty="0"/>
              <a:t> </a:t>
            </a:r>
            <a:r>
              <a:rPr sz="2200" dirty="0" err="1"/>
              <a:t>רווח</a:t>
            </a:r>
            <a:r>
              <a:rPr sz="2200" dirty="0"/>
              <a:t> </a:t>
            </a:r>
            <a:r>
              <a:rPr sz="2200" dirty="0" err="1"/>
              <a:t>בצבא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ממש</a:t>
            </a:r>
            <a:r>
              <a:rPr sz="2200" dirty="0"/>
              <a:t> </a:t>
            </a:r>
            <a:r>
              <a:rPr sz="2200" dirty="0" err="1"/>
              <a:t>קל</a:t>
            </a:r>
            <a:r>
              <a:rPr sz="2200" dirty="0"/>
              <a:t> </a:t>
            </a:r>
            <a:r>
              <a:rPr sz="2200" dirty="0" err="1"/>
              <a:t>לשימוש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מחט</a:t>
            </a:r>
            <a:r>
              <a:rPr sz="2200" dirty="0"/>
              <a:t> </a:t>
            </a:r>
            <a:r>
              <a:rPr sz="2200" dirty="0" err="1"/>
              <a:t>מגנטית</a:t>
            </a:r>
            <a:r>
              <a:rPr sz="2200" dirty="0"/>
              <a:t> </a:t>
            </a:r>
            <a:r>
              <a:rPr sz="2200" dirty="0" err="1"/>
              <a:t>שמצביעה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לצפון</a:t>
            </a:r>
            <a:endParaRPr sz="2200" dirty="0"/>
          </a:p>
        </p:txBody>
      </p:sp>
      <p:pic>
        <p:nvPicPr>
          <p:cNvPr id="4" name="Picture 3" descr="compass_m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57400"/>
            <a:ext cx="3794760" cy="379476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D6D12534-0938-E3AB-AF8C-30E92CD3CF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D379B573-1AF1-6EF7-8A0A-66181D6289C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77225" y="416242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113B27CC-695A-5695-E929-B65E9F3F0B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1134EDB-4792-7B1A-9476-ED2C445999C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8277225" y="4162425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מציאת אזימוט באמצעות מצפן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שני</a:t>
            </a:r>
            <a:r>
              <a:rPr sz="2200" dirty="0"/>
              <a:t> </a:t>
            </a:r>
            <a:r>
              <a:rPr sz="2200" dirty="0" err="1"/>
              <a:t>דגשים</a:t>
            </a:r>
            <a:r>
              <a:rPr sz="2200" dirty="0"/>
              <a:t> </a:t>
            </a:r>
            <a:r>
              <a:rPr sz="2200" dirty="0" err="1"/>
              <a:t>חשובים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 err="1"/>
              <a:t>מצפן</a:t>
            </a:r>
            <a:r>
              <a:rPr sz="2200" dirty="0"/>
              <a:t> </a:t>
            </a:r>
            <a:r>
              <a:rPr sz="2200" dirty="0" err="1"/>
              <a:t>מקביל</a:t>
            </a:r>
            <a:r>
              <a:rPr sz="2200" dirty="0"/>
              <a:t> </a:t>
            </a:r>
            <a:r>
              <a:rPr sz="2200" dirty="0" err="1"/>
              <a:t>לקרקע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קו</a:t>
            </a:r>
            <a:r>
              <a:rPr sz="2200" dirty="0"/>
              <a:t> </a:t>
            </a:r>
            <a:r>
              <a:rPr sz="2200" dirty="0" err="1"/>
              <a:t>ראייה</a:t>
            </a:r>
            <a:r>
              <a:rPr sz="2200" dirty="0"/>
              <a:t> </a:t>
            </a:r>
            <a:r>
              <a:rPr sz="2200" dirty="0" err="1"/>
              <a:t>אחד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עין</a:t>
            </a:r>
            <a:r>
              <a:rPr sz="2200" dirty="0"/>
              <a:t>, </a:t>
            </a:r>
            <a:r>
              <a:rPr sz="2200" dirty="0" err="1"/>
              <a:t>מנסרה</a:t>
            </a:r>
            <a:r>
              <a:rPr sz="2200" dirty="0"/>
              <a:t>, </a:t>
            </a:r>
            <a:r>
              <a:rPr sz="2200" dirty="0" err="1"/>
              <a:t>נימה</a:t>
            </a:r>
            <a:r>
              <a:rPr sz="2200" dirty="0"/>
              <a:t> </a:t>
            </a:r>
            <a:r>
              <a:rPr sz="2200" dirty="0" err="1"/>
              <a:t>אדומה</a:t>
            </a:r>
            <a:r>
              <a:rPr sz="2200" dirty="0"/>
              <a:t>, </a:t>
            </a:r>
            <a:r>
              <a:rPr sz="2200" dirty="0" err="1"/>
              <a:t>מטרה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המטרה</a:t>
            </a:r>
            <a:r>
              <a:rPr sz="2200" dirty="0"/>
              <a:t> </a:t>
            </a:r>
            <a:r>
              <a:rPr sz="2200" dirty="0" err="1"/>
              <a:t>תהיה</a:t>
            </a:r>
            <a:r>
              <a:rPr sz="2200" dirty="0"/>
              <a:t> </a:t>
            </a:r>
            <a:r>
              <a:rPr sz="2200" dirty="0" err="1"/>
              <a:t>באמצע</a:t>
            </a:r>
            <a:r>
              <a:rPr sz="2200" dirty="0"/>
              <a:t> </a:t>
            </a:r>
            <a:r>
              <a:rPr sz="2200" dirty="0" err="1"/>
              <a:t>הלהב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המצפן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קוראים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האזימוט</a:t>
            </a:r>
            <a:r>
              <a:rPr sz="2200" dirty="0"/>
              <a:t> </a:t>
            </a:r>
            <a:r>
              <a:rPr sz="2200" dirty="0" err="1"/>
              <a:t>דרך</a:t>
            </a:r>
            <a:r>
              <a:rPr sz="2200" dirty="0"/>
              <a:t> </a:t>
            </a:r>
            <a:r>
              <a:rPr sz="2200" dirty="0" err="1"/>
              <a:t>המנסרה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המספר</a:t>
            </a:r>
            <a:r>
              <a:rPr sz="2200" dirty="0"/>
              <a:t> </a:t>
            </a:r>
            <a:r>
              <a:rPr sz="2200" dirty="0" err="1"/>
              <a:t>צריך</a:t>
            </a:r>
            <a:r>
              <a:rPr sz="2200" dirty="0"/>
              <a:t> </a:t>
            </a:r>
            <a:r>
              <a:rPr sz="2200" dirty="0" err="1"/>
              <a:t>להיראות</a:t>
            </a:r>
            <a:r>
              <a:rPr sz="2200" dirty="0"/>
              <a:t> </a:t>
            </a:r>
            <a:r>
              <a:rPr sz="2200" dirty="0" err="1"/>
              <a:t>ברור</a:t>
            </a:r>
            <a:endParaRPr sz="2200" dirty="0"/>
          </a:p>
        </p:txBody>
      </p:sp>
      <p:pic>
        <p:nvPicPr>
          <p:cNvPr id="4" name="Picture 3" descr="compass_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663580"/>
            <a:ext cx="3794760" cy="2582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הצפנת מפה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לכוון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</a:t>
            </a:r>
            <a:r>
              <a:rPr sz="2200" dirty="0" err="1"/>
              <a:t>לכיוון</a:t>
            </a:r>
            <a:r>
              <a:rPr sz="2200" dirty="0"/>
              <a:t> </a:t>
            </a:r>
            <a:r>
              <a:rPr sz="2200" dirty="0" err="1"/>
              <a:t>הצפון</a:t>
            </a:r>
            <a:r>
              <a:rPr sz="2200" dirty="0"/>
              <a:t> </a:t>
            </a:r>
            <a:r>
              <a:rPr sz="2200" dirty="0" err="1"/>
              <a:t>לפי</a:t>
            </a:r>
            <a:r>
              <a:rPr sz="2200" dirty="0"/>
              <a:t> </a:t>
            </a:r>
            <a:r>
              <a:rPr sz="2200" dirty="0" err="1"/>
              <a:t>המצפן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צפון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המפה</a:t>
            </a:r>
            <a:r>
              <a:rPr lang="he-IL" sz="2200" dirty="0"/>
              <a:t>)</a:t>
            </a:r>
            <a:r>
              <a:rPr sz="2200" dirty="0"/>
              <a:t> </a:t>
            </a:r>
            <a:r>
              <a:rPr sz="2200" dirty="0" err="1"/>
              <a:t>אל</a:t>
            </a:r>
            <a:r>
              <a:rPr sz="2200" dirty="0"/>
              <a:t> </a:t>
            </a:r>
            <a:r>
              <a:rPr sz="2200" dirty="0" err="1"/>
              <a:t>צפון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השטח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כך</a:t>
            </a:r>
            <a:r>
              <a:rPr sz="2200" dirty="0"/>
              <a:t> </a:t>
            </a:r>
            <a:r>
              <a:rPr sz="2200" dirty="0" err="1"/>
              <a:t>שכל</a:t>
            </a:r>
            <a:r>
              <a:rPr sz="2200" dirty="0"/>
              <a:t> </a:t>
            </a:r>
            <a:r>
              <a:rPr sz="2200" dirty="0" err="1"/>
              <a:t>מה</a:t>
            </a:r>
            <a:r>
              <a:rPr sz="2200" dirty="0"/>
              <a:t> </a:t>
            </a:r>
            <a:r>
              <a:rPr sz="2200" dirty="0" err="1"/>
              <a:t>שרואים</a:t>
            </a:r>
            <a:r>
              <a:rPr sz="2200" dirty="0"/>
              <a:t> </a:t>
            </a:r>
            <a:r>
              <a:rPr sz="2200" dirty="0" err="1"/>
              <a:t>במפה</a:t>
            </a:r>
            <a:r>
              <a:rPr sz="2200" dirty="0"/>
              <a:t> </a:t>
            </a:r>
            <a:r>
              <a:rPr sz="2200" dirty="0" err="1"/>
              <a:t>יושב</a:t>
            </a:r>
            <a:r>
              <a:rPr sz="2200" dirty="0"/>
              <a:t> </a:t>
            </a:r>
            <a:r>
              <a:rPr sz="2200" dirty="0" err="1"/>
              <a:t>באותו</a:t>
            </a:r>
            <a:r>
              <a:rPr sz="2200" dirty="0"/>
              <a:t> </a:t>
            </a:r>
            <a:r>
              <a:rPr sz="2200" dirty="0" err="1"/>
              <a:t>כיוון</a:t>
            </a:r>
            <a:r>
              <a:rPr sz="2200" dirty="0"/>
              <a:t> </a:t>
            </a:r>
            <a:r>
              <a:rPr sz="2200" dirty="0" err="1"/>
              <a:t>כמו</a:t>
            </a:r>
            <a:r>
              <a:rPr sz="2200" dirty="0"/>
              <a:t> </a:t>
            </a:r>
            <a:r>
              <a:rPr sz="2200" dirty="0" err="1"/>
              <a:t>בשטח</a:t>
            </a:r>
            <a:endParaRPr sz="2200" dirty="0"/>
          </a:p>
        </p:txBody>
      </p:sp>
      <p:pic>
        <p:nvPicPr>
          <p:cNvPr id="4" name="Picture 3" descr="orient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77681"/>
            <a:ext cx="3794760" cy="2754198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A5C495FD-89D0-454E-CE7C-EA973DE04DA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8E7F655-275B-E620-5135-2A96A5FEA5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8277225" y="4162425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מרחק אווירי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המרחק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lang="he-IL" sz="2200" dirty="0"/>
              <a:t>2 </a:t>
            </a:r>
            <a:r>
              <a:rPr sz="2200" dirty="0" err="1"/>
              <a:t>נקודות</a:t>
            </a:r>
            <a:r>
              <a:rPr sz="2200" dirty="0"/>
              <a:t> </a:t>
            </a:r>
            <a:r>
              <a:rPr sz="2200" dirty="0" err="1"/>
              <a:t>במבט</a:t>
            </a:r>
            <a:r>
              <a:rPr lang="he-IL" sz="2200" dirty="0"/>
              <a:t>-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המפה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בקו</a:t>
            </a:r>
            <a:r>
              <a:rPr sz="2200" dirty="0"/>
              <a:t> </a:t>
            </a:r>
            <a:r>
              <a:rPr sz="2200" dirty="0" err="1"/>
              <a:t>ישר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המרחק</a:t>
            </a:r>
            <a:r>
              <a:rPr sz="2200" dirty="0"/>
              <a:t> </a:t>
            </a:r>
            <a:r>
              <a:rPr sz="2200" dirty="0" err="1"/>
              <a:t>האווירי</a:t>
            </a:r>
            <a:r>
              <a:rPr sz="2200" dirty="0"/>
              <a:t> </a:t>
            </a:r>
            <a:r>
              <a:rPr sz="2200" dirty="0" err="1"/>
              <a:t>יהיה</a:t>
            </a:r>
            <a:r>
              <a:rPr sz="2200" dirty="0"/>
              <a:t> </a:t>
            </a:r>
            <a:r>
              <a:rPr sz="2200" dirty="0" err="1"/>
              <a:t>תמיד</a:t>
            </a:r>
            <a:r>
              <a:rPr sz="2200" dirty="0"/>
              <a:t> </a:t>
            </a:r>
            <a:r>
              <a:rPr sz="2200" dirty="0" err="1"/>
              <a:t>קטן</a:t>
            </a:r>
            <a:r>
              <a:rPr sz="2200" dirty="0"/>
              <a:t> </a:t>
            </a:r>
            <a:r>
              <a:rPr sz="2200" dirty="0" err="1"/>
              <a:t>יותר</a:t>
            </a:r>
            <a:r>
              <a:rPr sz="2200" dirty="0"/>
              <a:t> </a:t>
            </a:r>
            <a:r>
              <a:rPr sz="2200" dirty="0" err="1"/>
              <a:t>מהמרחק</a:t>
            </a:r>
            <a:r>
              <a:rPr sz="2200" dirty="0"/>
              <a:t> </a:t>
            </a:r>
            <a:r>
              <a:rPr sz="2200" dirty="0" err="1"/>
              <a:t>שנעבור</a:t>
            </a:r>
            <a:r>
              <a:rPr sz="2200" dirty="0"/>
              <a:t> </a:t>
            </a:r>
            <a:r>
              <a:rPr sz="2200" dirty="0" err="1"/>
              <a:t>בפועל</a:t>
            </a:r>
            <a:r>
              <a:rPr sz="2200" dirty="0"/>
              <a:t> </a:t>
            </a:r>
            <a:r>
              <a:rPr sz="2200" dirty="0" err="1"/>
              <a:t>באותה</a:t>
            </a:r>
            <a:r>
              <a:rPr sz="2200" dirty="0"/>
              <a:t> </a:t>
            </a:r>
            <a:r>
              <a:rPr sz="2200" dirty="0" err="1"/>
              <a:t>דרך</a:t>
            </a:r>
            <a:endParaRPr sz="2200" dirty="0"/>
          </a:p>
        </p:txBody>
      </p:sp>
      <p:pic>
        <p:nvPicPr>
          <p:cNvPr id="4" name="Picture 3" descr="merhak_avi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816692"/>
            <a:ext cx="3794760" cy="2276176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BB22F3FE-B58B-8DE4-3A8B-99B0A512B54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82F03CF2-3E2B-7804-519F-7E9DB6ADE7B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9258300" y="3714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9D28B917-6E7A-5926-58C5-6CD10405E5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6150785C-634B-0F01-B95A-38879EEEC1D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58300" y="37147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מדידת מרחק אווירי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נמדוד</a:t>
            </a:r>
            <a:r>
              <a:rPr sz="2200" dirty="0"/>
              <a:t>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אווירי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מד״קו</a:t>
            </a:r>
            <a:r>
              <a:rPr sz="2200" dirty="0"/>
              <a:t>!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בצד</a:t>
            </a:r>
            <a:r>
              <a:rPr sz="2200" dirty="0"/>
              <a:t> </a:t>
            </a:r>
            <a:r>
              <a:rPr sz="2200" dirty="0" err="1"/>
              <a:t>המד״קו</a:t>
            </a:r>
            <a:r>
              <a:rPr sz="2200" dirty="0"/>
              <a:t> </a:t>
            </a:r>
            <a:r>
              <a:rPr sz="2200" dirty="0" err="1"/>
              <a:t>יש</a:t>
            </a:r>
            <a:r>
              <a:rPr sz="2200" dirty="0"/>
              <a:t> </a:t>
            </a:r>
            <a:r>
              <a:rPr sz="2200" dirty="0" err="1"/>
              <a:t>סרגל</a:t>
            </a:r>
            <a:r>
              <a:rPr sz="2200" dirty="0"/>
              <a:t> </a:t>
            </a:r>
            <a:r>
              <a:rPr sz="2200" dirty="0" err="1"/>
              <a:t>למפות</a:t>
            </a:r>
            <a:r>
              <a:rPr sz="2200" dirty="0"/>
              <a:t> </a:t>
            </a:r>
            <a:r>
              <a:rPr sz="2200" dirty="0" err="1"/>
              <a:t>בקנה</a:t>
            </a:r>
            <a:r>
              <a:rPr sz="2200" dirty="0"/>
              <a:t> </a:t>
            </a:r>
            <a:r>
              <a:rPr sz="2200" dirty="0" err="1"/>
              <a:t>מידה</a:t>
            </a:r>
            <a:r>
              <a:rPr sz="2200" dirty="0"/>
              <a:t> 1:50,000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נמקם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הסרגל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הנקודות</a:t>
            </a:r>
            <a:r>
              <a:rPr sz="2200" dirty="0"/>
              <a:t> </a:t>
            </a:r>
            <a:r>
              <a:rPr sz="2200" dirty="0" err="1"/>
              <a:t>ונקרא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יצא</a:t>
            </a:r>
            <a:r>
              <a:rPr sz="2200" dirty="0"/>
              <a:t> </a:t>
            </a:r>
            <a:r>
              <a:rPr sz="2200" dirty="0" err="1"/>
              <a:t>שהמרחק</a:t>
            </a:r>
            <a:r>
              <a:rPr sz="2200" dirty="0"/>
              <a:t> </a:t>
            </a:r>
            <a:r>
              <a:rPr sz="2200" dirty="0" err="1"/>
              <a:t>האווירי</a:t>
            </a:r>
            <a:r>
              <a:rPr sz="2200" dirty="0"/>
              <a:t> </a:t>
            </a:r>
            <a:r>
              <a:rPr sz="2200" dirty="0" err="1"/>
              <a:t>הוא</a:t>
            </a:r>
            <a:r>
              <a:rPr lang="he-IL" sz="2200" dirty="0"/>
              <a:t> 1.9</a:t>
            </a:r>
            <a:r>
              <a:rPr sz="2200" dirty="0"/>
              <a:t> </a:t>
            </a:r>
            <a:r>
              <a:rPr sz="2200" dirty="0" err="1"/>
              <a:t>ק״מ</a:t>
            </a:r>
            <a:endParaRPr sz="2200" dirty="0"/>
          </a:p>
        </p:txBody>
      </p:sp>
      <p:pic>
        <p:nvPicPr>
          <p:cNvPr id="4" name="Picture 3" descr="merhak_mad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5A7FA802-3179-F062-37E8-F11D6189D5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EDAD244-2D91-1D89-F966-41C8E0100E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58300" y="37147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מדידת מרחק אווירי של מסלול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איך</a:t>
            </a:r>
            <a:r>
              <a:rPr sz="2200" dirty="0"/>
              <a:t> </a:t>
            </a:r>
            <a:r>
              <a:rPr sz="2200" dirty="0" err="1"/>
              <a:t>נמדוד</a:t>
            </a:r>
            <a:r>
              <a:rPr sz="2200" dirty="0"/>
              <a:t> </a:t>
            </a:r>
            <a:r>
              <a:rPr sz="2200" dirty="0" err="1"/>
              <a:t>מרחק</a:t>
            </a:r>
            <a:r>
              <a:rPr sz="2200" dirty="0"/>
              <a:t> </a:t>
            </a:r>
            <a:r>
              <a:rPr sz="2200" dirty="0" err="1"/>
              <a:t>אווירי</a:t>
            </a:r>
            <a:r>
              <a:rPr sz="2200" dirty="0"/>
              <a:t> </a:t>
            </a:r>
            <a:r>
              <a:rPr sz="2200" dirty="0" err="1"/>
              <a:t>של</a:t>
            </a:r>
            <a:r>
              <a:rPr sz="2200" dirty="0"/>
              <a:t> </a:t>
            </a:r>
            <a:r>
              <a:rPr sz="2200" dirty="0" err="1"/>
              <a:t>מסלול</a:t>
            </a:r>
            <a:r>
              <a:rPr sz="2200" dirty="0"/>
              <a:t> </a:t>
            </a:r>
            <a:r>
              <a:rPr sz="2200" dirty="0" err="1"/>
              <a:t>שלם</a:t>
            </a:r>
            <a:r>
              <a:rPr sz="2200" dirty="0"/>
              <a:t>?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כרגיל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מד״קו</a:t>
            </a:r>
            <a:r>
              <a:rPr sz="2200" dirty="0"/>
              <a:t> </a:t>
            </a:r>
            <a:r>
              <a:rPr lang="he-IL" sz="2200" dirty="0"/>
              <a:t>(</a:t>
            </a:r>
            <a:r>
              <a:rPr sz="2200" dirty="0" err="1"/>
              <a:t>בערך</a:t>
            </a:r>
            <a:r>
              <a:rPr lang="he-IL" sz="2200" dirty="0"/>
              <a:t>)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אפשר</a:t>
            </a:r>
            <a:r>
              <a:rPr sz="2200" dirty="0"/>
              <a:t> </a:t>
            </a:r>
            <a:r>
              <a:rPr sz="2200" dirty="0" err="1"/>
              <a:t>לעשות</a:t>
            </a:r>
            <a:r>
              <a:rPr sz="2200" dirty="0"/>
              <a:t> </a:t>
            </a:r>
            <a:r>
              <a:rPr sz="2200" dirty="0" err="1"/>
              <a:t>כמה</a:t>
            </a:r>
            <a:r>
              <a:rPr sz="2200" dirty="0"/>
              <a:t> </a:t>
            </a:r>
            <a:r>
              <a:rPr sz="2200" dirty="0" err="1"/>
              <a:t>מדידות</a:t>
            </a:r>
            <a:r>
              <a:rPr sz="2200" dirty="0"/>
              <a:t> </a:t>
            </a:r>
            <a:r>
              <a:rPr sz="2200" dirty="0" err="1"/>
              <a:t>עם</a:t>
            </a:r>
            <a:r>
              <a:rPr sz="2200" dirty="0"/>
              <a:t> </a:t>
            </a:r>
            <a:r>
              <a:rPr sz="2200" dirty="0" err="1"/>
              <a:t>הסרג</a:t>
            </a:r>
            <a:r>
              <a:rPr lang="he-IL" sz="2200" dirty="0"/>
              <a:t>ל, </a:t>
            </a:r>
            <a:r>
              <a:rPr sz="2200" dirty="0" err="1"/>
              <a:t>אבל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נוח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dirty="0" err="1"/>
              <a:t>ניקח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החוט</a:t>
            </a:r>
            <a:r>
              <a:rPr sz="2200" dirty="0"/>
              <a:t> </a:t>
            </a:r>
            <a:r>
              <a:rPr sz="2200" dirty="0" err="1"/>
              <a:t>שמחובר</a:t>
            </a:r>
            <a:r>
              <a:rPr sz="2200" dirty="0"/>
              <a:t> </a:t>
            </a:r>
            <a:r>
              <a:rPr sz="2200" dirty="0" err="1"/>
              <a:t>למד״קו</a:t>
            </a:r>
            <a:r>
              <a:rPr sz="2200" dirty="0"/>
              <a:t>, </a:t>
            </a:r>
            <a:r>
              <a:rPr sz="2200" dirty="0" err="1"/>
              <a:t>נעביר</a:t>
            </a:r>
            <a:r>
              <a:rPr sz="2200" dirty="0"/>
              <a:t> </a:t>
            </a:r>
            <a:r>
              <a:rPr sz="2200" dirty="0" err="1"/>
              <a:t>אותו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המסלול</a:t>
            </a:r>
            <a:r>
              <a:rPr sz="2200" dirty="0"/>
              <a:t>, </a:t>
            </a:r>
            <a:r>
              <a:rPr sz="2200" dirty="0" err="1"/>
              <a:t>ונמדוד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אורכו</a:t>
            </a:r>
            <a:r>
              <a:rPr sz="2200" dirty="0"/>
              <a:t> </a:t>
            </a:r>
            <a:r>
              <a:rPr sz="2200" dirty="0" err="1"/>
              <a:t>בעזרת</a:t>
            </a:r>
            <a:r>
              <a:rPr sz="2200" dirty="0"/>
              <a:t> </a:t>
            </a:r>
            <a:r>
              <a:rPr sz="2200" dirty="0" err="1"/>
              <a:t>המד״קו</a:t>
            </a:r>
            <a:r>
              <a:rPr sz="2200" dirty="0"/>
              <a:t> </a:t>
            </a:r>
            <a:r>
              <a:rPr sz="2200" dirty="0" err="1"/>
              <a:t>או</a:t>
            </a:r>
            <a:r>
              <a:rPr sz="2200" dirty="0"/>
              <a:t> </a:t>
            </a:r>
            <a:r>
              <a:rPr sz="2200" dirty="0" err="1"/>
              <a:t>רשת</a:t>
            </a:r>
            <a:r>
              <a:rPr sz="2200" dirty="0"/>
              <a:t> </a:t>
            </a:r>
            <a:r>
              <a:rPr sz="2200" dirty="0" err="1"/>
              <a:t>הקואורדינטות</a:t>
            </a:r>
            <a:endParaRPr sz="2200" dirty="0"/>
          </a:p>
        </p:txBody>
      </p:sp>
      <p:pic>
        <p:nvPicPr>
          <p:cNvPr id="4" name="Picture 3" descr="merhak_maslu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102140"/>
            <a:ext cx="3794760" cy="370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מה למדנו עד עכשיו?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24849" y="3198167"/>
            <a:ext cx="5501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מפה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ומדידות</a:t>
            </a:r>
            <a:endParaRPr lang="he-IL"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5513" y="3136612"/>
            <a:ext cx="5501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3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מצפן</a:t>
            </a:r>
            <a:r>
              <a:rPr sz="32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32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ומרחקים</a:t>
            </a:r>
            <a:endParaRPr sz="32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7B8D1C73-A3A8-2652-F39B-83F1A90BB7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0BE7C59-6E28-2A8F-CD94-3CA63805AC9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9258300" y="3714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E8309-8881-187A-0B0D-8D190A1D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EC584-0F08-72BA-013C-BCF8F30FF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3905" y="2633188"/>
            <a:ext cx="7064190" cy="999847"/>
          </a:xfrm>
        </p:spPr>
        <p:txBody>
          <a:bodyPr>
            <a:normAutofit/>
          </a:bodyPr>
          <a:lstStyle/>
          <a:p>
            <a:pPr rtl="1">
              <a:spcBef>
                <a:spcPts val="600"/>
              </a:spcBef>
            </a:pPr>
            <a:r>
              <a:rPr lang="he-IL" b="0" dirty="0"/>
              <a:t>אז על מה </a:t>
            </a:r>
            <a:r>
              <a:rPr lang="he-IL" dirty="0"/>
              <a:t>נדבר</a:t>
            </a:r>
            <a:r>
              <a:rPr lang="he-IL" b="0" dirty="0"/>
              <a:t> עכשיו?</a:t>
            </a:r>
            <a:endParaRPr b="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5956658-F0ED-A838-52B6-1CD7EF08C2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6C6AC323-A478-F778-CB20-7F5D741035D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58300" y="3714750"/>
            <a:ext cx="1447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179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7959" y="2303561"/>
            <a:ext cx="8256081" cy="1146895"/>
          </a:xfrm>
        </p:spPr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נדב״ר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נוהל</a:t>
            </a:r>
            <a:r>
              <a:rPr dirty="0"/>
              <a:t> </a:t>
            </a:r>
            <a:r>
              <a:rPr dirty="0" err="1"/>
              <a:t>דיבור</a:t>
            </a:r>
            <a:r>
              <a:rPr dirty="0"/>
              <a:t> </a:t>
            </a:r>
            <a:r>
              <a:rPr dirty="0" err="1"/>
              <a:t>ברשת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37331" y="3126077"/>
            <a:ext cx="2517335" cy="648758"/>
          </a:xfrm>
        </p:spPr>
        <p:txBody>
          <a:bodyPr anchor="ctr">
            <a:normAutofit fontScale="92500" lnSpcReduction="10000"/>
          </a:bodyPr>
          <a:lstStyle/>
          <a:p>
            <a:pPr rtl="1">
              <a:spcBef>
                <a:spcPts val="600"/>
              </a:spcBef>
            </a:pPr>
            <a:r>
              <a:rPr dirty="0"/>
              <a:t>״</a:t>
            </a:r>
            <a:r>
              <a:rPr dirty="0" err="1"/>
              <a:t>חושב</a:t>
            </a:r>
            <a:r>
              <a:rPr dirty="0"/>
              <a:t>, </a:t>
            </a:r>
            <a:r>
              <a:rPr dirty="0" err="1"/>
              <a:t>לוחץ</a:t>
            </a:r>
            <a:r>
              <a:rPr dirty="0"/>
              <a:t>, </a:t>
            </a:r>
            <a:r>
              <a:rPr dirty="0" err="1"/>
              <a:t>מדבר</a:t>
            </a:r>
            <a:r>
              <a:rPr dirty="0"/>
              <a:t>.״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74BF4473-B7DB-A1F1-8573-266E5EA73D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4E1FD29-0FE7-3902-9D66-44E61CE97B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למה צריך נדב״ר?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sz="2200" dirty="0" err="1"/>
              <a:t>דיבור</a:t>
            </a:r>
            <a:r>
              <a:rPr sz="2200" dirty="0"/>
              <a:t> </a:t>
            </a:r>
            <a:r>
              <a:rPr sz="2200" dirty="0" err="1"/>
              <a:t>קצר</a:t>
            </a:r>
            <a:r>
              <a:rPr sz="2200" dirty="0"/>
              <a:t> </a:t>
            </a:r>
            <a:r>
              <a:rPr sz="2200" dirty="0" err="1"/>
              <a:t>וענייני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כדי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לתפוס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הרשת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שפה</a:t>
            </a:r>
            <a:r>
              <a:rPr sz="2200" dirty="0"/>
              <a:t> </a:t>
            </a:r>
            <a:r>
              <a:rPr sz="2200" dirty="0" err="1"/>
              <a:t>משותפת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מניעת</a:t>
            </a:r>
            <a:r>
              <a:rPr sz="2200" dirty="0"/>
              <a:t> </a:t>
            </a:r>
            <a:r>
              <a:rPr sz="2200" dirty="0" err="1"/>
              <a:t>דו</a:t>
            </a:r>
            <a:r>
              <a:rPr lang="he-IL" sz="2200" dirty="0"/>
              <a:t>-</a:t>
            </a:r>
            <a:r>
              <a:rPr sz="2200" dirty="0" err="1"/>
              <a:t>משמעות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זיהוי</a:t>
            </a:r>
            <a:r>
              <a:rPr sz="2200" dirty="0"/>
              <a:t> </a:t>
            </a:r>
            <a:r>
              <a:rPr sz="2200" dirty="0" err="1"/>
              <a:t>הגורמים</a:t>
            </a:r>
            <a:r>
              <a:rPr sz="2200" dirty="0"/>
              <a:t> </a:t>
            </a:r>
            <a:r>
              <a:rPr sz="2200" dirty="0" err="1"/>
              <a:t>בקשר</a:t>
            </a:r>
            <a:endParaRPr sz="2200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D12A29C1-D3FD-1928-68A5-70B0E4095A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4011CB1-0660-B278-F6CC-1B6385870E9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מבנה ההודעה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118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כדי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לתפוס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כמה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שפחות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זמן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ברשת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אך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להעביר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מסרים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בצורה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הברורה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ביותר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,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נקבע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מבנה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אחיד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200" dirty="0" err="1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להודעה</a:t>
            </a:r>
            <a:r>
              <a:rPr sz="2200" dirty="0">
                <a:solidFill>
                  <a:srgbClr val="2E3B2A"/>
                </a:solidFill>
                <a:latin typeface="Assistant" pitchFamily="2" charset="-79"/>
                <a:cs typeface="Assistant" pitchFamily="2" charset="-79"/>
              </a:rPr>
              <a:t>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4828127"/>
              </p:ext>
            </p:extLst>
          </p:nvPr>
        </p:nvGraphicFramePr>
        <p:xfrm>
          <a:off x="2164080" y="2651760"/>
          <a:ext cx="7863840" cy="1859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 dirty="0" err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דוגמה</a:t>
                      </a:r>
                      <a:endParaRPr sz="2200" b="1" dirty="0">
                        <a:solidFill>
                          <a:srgbClr val="FFFFFF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 dirty="0" err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חלק</a:t>
                      </a:r>
                      <a:r>
                        <a:rPr sz="2200" b="1" dirty="0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1" dirty="0" err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בהודעה</a:t>
                      </a:r>
                      <a:endParaRPr sz="2200" b="1" dirty="0">
                        <a:solidFill>
                          <a:srgbClr val="FFFFFF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תפוז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פנייה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/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קריאה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כאן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פטל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הזדהות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״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לבדיקה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,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איך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נשמע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?״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תוכן</a:t>
                      </a:r>
                      <a:r>
                        <a:rPr sz="2200" b="0" dirty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 </a:t>
                      </a: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ההודעה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עבור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סיום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תמונה 5">
            <a:extLst>
              <a:ext uri="{FF2B5EF4-FFF2-40B4-BE49-F238E27FC236}">
                <a16:creationId xmlns:a16="http://schemas.microsoft.com/office/drawing/2014/main" id="{E1088A8D-3955-1B85-81C9-C153FC9DED1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4D75C614-30FB-E5A3-0F2E-76A3668BFC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C264D332-33CA-4899-BE0D-0A120040F3B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22941807-BB69-5171-DC2F-D4FBFDCB3B4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t>סוגי סיומות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b="1" dirty="0" err="1"/>
              <a:t>עבור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סיימתי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שידורי</a:t>
            </a:r>
            <a:r>
              <a:rPr sz="2200" dirty="0"/>
              <a:t> </a:t>
            </a:r>
            <a:r>
              <a:rPr sz="2200" dirty="0" err="1"/>
              <a:t>וממתין</a:t>
            </a:r>
            <a:r>
              <a:rPr sz="2200" dirty="0"/>
              <a:t> </a:t>
            </a:r>
            <a:r>
              <a:rPr sz="2200" dirty="0" err="1"/>
              <a:t>לתשובה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רות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סיימתי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שידורי</a:t>
            </a:r>
            <a:r>
              <a:rPr sz="2200" dirty="0"/>
              <a:t> </a:t>
            </a:r>
            <a:r>
              <a:rPr sz="2200" dirty="0" err="1"/>
              <a:t>ואין</a:t>
            </a:r>
            <a:r>
              <a:rPr sz="2200" dirty="0"/>
              <a:t> </a:t>
            </a:r>
            <a:r>
              <a:rPr sz="2200" dirty="0" err="1"/>
              <a:t>צורך</a:t>
            </a:r>
            <a:r>
              <a:rPr sz="2200" dirty="0"/>
              <a:t> </a:t>
            </a:r>
            <a:r>
              <a:rPr sz="2200" dirty="0" err="1"/>
              <a:t>בתשובה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היישר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קלטתי</a:t>
            </a:r>
            <a:r>
              <a:rPr sz="2200" dirty="0"/>
              <a:t>, </a:t>
            </a:r>
            <a:r>
              <a:rPr sz="2200" dirty="0" err="1"/>
              <a:t>הבנתי</a:t>
            </a:r>
            <a:r>
              <a:rPr sz="2200" dirty="0"/>
              <a:t>, </a:t>
            </a:r>
            <a:r>
              <a:rPr sz="2200" dirty="0" err="1"/>
              <a:t>ומבצע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הפקודה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b="1" dirty="0" err="1"/>
              <a:t>סוף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סיימתי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שידורי</a:t>
            </a:r>
            <a:r>
              <a:rPr sz="2200" dirty="0"/>
              <a:t> </a:t>
            </a:r>
            <a:r>
              <a:rPr sz="2200" dirty="0" err="1"/>
              <a:t>ואיני</a:t>
            </a:r>
            <a:r>
              <a:rPr sz="2200" dirty="0"/>
              <a:t> </a:t>
            </a:r>
            <a:r>
              <a:rPr sz="2200" dirty="0" err="1"/>
              <a:t>ממתין</a:t>
            </a:r>
            <a:r>
              <a:rPr sz="2200" dirty="0"/>
              <a:t> </a:t>
            </a:r>
            <a:r>
              <a:rPr sz="2200" dirty="0" err="1"/>
              <a:t>לתשובה</a:t>
            </a:r>
            <a:endParaRPr sz="2200" dirty="0"/>
          </a:p>
          <a:p>
            <a:pPr lvl="1" algn="r" rtl="1">
              <a:spcBef>
                <a:spcPts val="600"/>
              </a:spcBef>
            </a:pPr>
            <a:r>
              <a:rPr sz="2200" b="1" dirty="0" err="1"/>
              <a:t>רק</a:t>
            </a:r>
            <a:r>
              <a:rPr sz="2200" b="1" dirty="0"/>
              <a:t> </a:t>
            </a:r>
            <a:r>
              <a:rPr sz="2200" b="1" dirty="0" err="1"/>
              <a:t>הדרג</a:t>
            </a:r>
            <a:r>
              <a:rPr sz="2200" b="1" dirty="0"/>
              <a:t> </a:t>
            </a:r>
            <a:r>
              <a:rPr sz="2200" b="1" dirty="0" err="1"/>
              <a:t>הבכיר</a:t>
            </a:r>
            <a:r>
              <a:rPr sz="2200" b="1" dirty="0"/>
              <a:t> </a:t>
            </a:r>
            <a:r>
              <a:rPr sz="2200" b="1" dirty="0" err="1"/>
              <a:t>רשאי</a:t>
            </a:r>
            <a:r>
              <a:rPr sz="2200" b="1" dirty="0"/>
              <a:t> </a:t>
            </a:r>
            <a:r>
              <a:rPr sz="2200" b="1" dirty="0" err="1"/>
              <a:t>להגיד</a:t>
            </a:r>
            <a:r>
              <a:rPr sz="2200" b="1" dirty="0"/>
              <a:t> ״</a:t>
            </a:r>
            <a:r>
              <a:rPr sz="2200" b="1" dirty="0" err="1"/>
              <a:t>סוף</a:t>
            </a:r>
            <a:r>
              <a:rPr sz="2200" b="1" dirty="0"/>
              <a:t>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בעלי תפקידים בקשר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737360"/>
            <a:ext cx="5501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קודקוד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מפקד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משנה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סגן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גפרור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חייל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חצאית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חיילת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תורן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רופא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50164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הרדוף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הרוג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פרח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פצוע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68ACDBB-92CF-2767-1CDE-A098A2670BA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5D1F9A2-592D-5E05-E46B-07DB3E0E19F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lang="he-IL" dirty="0"/>
              <a:t>מילון לקשר</a:t>
            </a:r>
            <a:endParaRPr dirty="0" err="1"/>
          </a:p>
        </p:txBody>
      </p:sp>
      <p:sp>
        <p:nvSpPr>
          <p:cNvPr id="4" name="TextBox 3"/>
          <p:cNvSpPr txBox="1"/>
          <p:nvPr/>
        </p:nvSpPr>
        <p:spPr>
          <a:xfrm>
            <a:off x="6233160" y="1737360"/>
            <a:ext cx="5501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חיובי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כן</a:t>
            </a:r>
            <a:endParaRPr lang="he-IL"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שלילי - לא</a:t>
            </a: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שמשות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פנסים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/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אורות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צעצוע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מכשיר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נוכחי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קשר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5501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משני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טלפון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חמים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וטעים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אוכל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צל״ש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ציר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ללא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שם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אנגליה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-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התחלת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תרגיל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/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מבצע</a:t>
            </a:r>
            <a:endParaRPr lang="he-IL"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  <a:p>
            <a:pPr algn="ctr" rtl="1">
              <a:spcBef>
                <a:spcPts val="600"/>
              </a:spcBef>
            </a:pPr>
            <a:r>
              <a:rPr lang="he-IL"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תאילנד - סוף תרגיל/מבצע</a:t>
            </a: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E8640246-CCFF-FA0D-6BDF-B17D253D540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20A2B2A6-4B28-AC5B-B906-C8B0490B821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BADB6B72-02E7-9E1C-CDB5-6E3190EB1F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890307FA-2F31-DA1E-622A-FACFCB2159E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–</a:t>
            </a:r>
            <a:r>
              <a:rPr dirty="0"/>
              <a:t> </a:t>
            </a:r>
            <a:r>
              <a:rPr dirty="0" err="1"/>
              <a:t>אמור</a:t>
            </a:r>
            <a:r>
              <a:rPr lang="he-IL" dirty="0"/>
              <a:t> \</a:t>
            </a:r>
            <a:r>
              <a:rPr dirty="0"/>
              <a:t> א</a:t>
            </a:r>
            <a:r>
              <a:rPr lang="he-IL" dirty="0"/>
              <a:t>מו</a:t>
            </a:r>
            <a:r>
              <a:rPr dirty="0"/>
              <a:t>ר </a:t>
            </a:r>
            <a:r>
              <a:rPr dirty="0" err="1"/>
              <a:t>שנית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כאשר</a:t>
            </a:r>
            <a:r>
              <a:rPr sz="2200" dirty="0"/>
              <a:t> </a:t>
            </a:r>
            <a:r>
              <a:rPr sz="2200" dirty="0" err="1"/>
              <a:t>תחנה</a:t>
            </a:r>
            <a:r>
              <a:rPr sz="2200" dirty="0"/>
              <a:t> </a:t>
            </a:r>
            <a:r>
              <a:rPr sz="2200" dirty="0" err="1"/>
              <a:t>קולטת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הבינה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התחנה</a:t>
            </a:r>
            <a:r>
              <a:rPr sz="2200" dirty="0"/>
              <a:t> </a:t>
            </a:r>
            <a:r>
              <a:rPr sz="2200" dirty="0" err="1"/>
              <a:t>המשדרת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דוגמה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b="1" dirty="0"/>
              <a:t>״</a:t>
            </a:r>
            <a:r>
              <a:rPr sz="2200" b="1" dirty="0" err="1"/>
              <a:t>זרזיר</a:t>
            </a:r>
            <a:r>
              <a:rPr lang="he-IL" sz="2200" b="1" dirty="0"/>
              <a:t>,</a:t>
            </a:r>
            <a:r>
              <a:rPr sz="2200" b="1" dirty="0"/>
              <a:t> </a:t>
            </a:r>
            <a:r>
              <a:rPr sz="2200" b="1" dirty="0" err="1"/>
              <a:t>כאן</a:t>
            </a:r>
            <a:r>
              <a:rPr lang="he-IL" sz="2200" b="1" dirty="0"/>
              <a:t> 2,</a:t>
            </a:r>
            <a:r>
              <a:rPr sz="2200" b="1" dirty="0"/>
              <a:t> </a:t>
            </a:r>
            <a:r>
              <a:rPr sz="2200" b="1" dirty="0" err="1"/>
              <a:t>קורא</a:t>
            </a:r>
            <a:r>
              <a:rPr sz="2200" b="1" dirty="0"/>
              <a:t> </a:t>
            </a:r>
            <a:r>
              <a:rPr sz="2200" b="1" dirty="0" err="1"/>
              <a:t>בדאלי</a:t>
            </a:r>
            <a:r>
              <a:rPr lang="he-IL" sz="2200" b="1" dirty="0"/>
              <a:t> - </a:t>
            </a:r>
            <a:r>
              <a:rPr sz="2200" b="1" dirty="0" err="1"/>
              <a:t>באיזו</a:t>
            </a:r>
            <a:r>
              <a:rPr sz="2200" b="1" dirty="0"/>
              <a:t> </a:t>
            </a:r>
            <a:r>
              <a:rPr sz="2200" b="1" dirty="0" err="1"/>
              <a:t>שעה</a:t>
            </a:r>
            <a:r>
              <a:rPr sz="2200" b="1" dirty="0"/>
              <a:t> </a:t>
            </a:r>
            <a:r>
              <a:rPr sz="2200" b="1" dirty="0" err="1"/>
              <a:t>יגיע</a:t>
            </a:r>
            <a:r>
              <a:rPr sz="2200" b="1" dirty="0"/>
              <a:t> </a:t>
            </a:r>
            <a:r>
              <a:rPr sz="2200" b="1" dirty="0" err="1"/>
              <a:t>החמים</a:t>
            </a:r>
            <a:r>
              <a:rPr sz="2200" b="1" dirty="0"/>
              <a:t> </a:t>
            </a:r>
            <a:r>
              <a:rPr sz="2200" b="1" dirty="0" err="1"/>
              <a:t>והטעים</a:t>
            </a:r>
            <a:r>
              <a:rPr lang="he-IL" sz="2200" b="1" dirty="0"/>
              <a:t>? </a:t>
            </a:r>
            <a:r>
              <a:rPr sz="2200" b="1" dirty="0" err="1"/>
              <a:t>עבור</a:t>
            </a:r>
            <a:r>
              <a:rPr sz="2200" b="1" dirty="0"/>
              <a:t>״</a:t>
            </a:r>
          </a:p>
          <a:p>
            <a:pPr lvl="1" algn="r" rtl="1">
              <a:spcBef>
                <a:spcPts val="600"/>
              </a:spcBef>
            </a:pPr>
            <a:r>
              <a:rPr sz="2200" b="1" dirty="0"/>
              <a:t>״</a:t>
            </a:r>
            <a:r>
              <a:rPr lang="he-IL" sz="2200" b="1" dirty="0"/>
              <a:t>2,</a:t>
            </a:r>
            <a:r>
              <a:rPr sz="2200" b="1" dirty="0"/>
              <a:t> </a:t>
            </a:r>
            <a:r>
              <a:rPr sz="2200" b="1" dirty="0" err="1"/>
              <a:t>כאן</a:t>
            </a:r>
            <a:r>
              <a:rPr sz="2200" b="1" dirty="0"/>
              <a:t> </a:t>
            </a:r>
            <a:r>
              <a:rPr sz="2200" b="1" dirty="0" err="1"/>
              <a:t>זרזיר</a:t>
            </a:r>
            <a:r>
              <a:rPr lang="he-IL" sz="2200" b="1" dirty="0"/>
              <a:t>,</a:t>
            </a:r>
            <a:r>
              <a:rPr sz="2200" b="1" dirty="0"/>
              <a:t> </a:t>
            </a:r>
            <a:r>
              <a:rPr sz="2200" b="1" dirty="0" err="1"/>
              <a:t>אמור</a:t>
            </a:r>
            <a:r>
              <a:rPr sz="2200" b="1" dirty="0"/>
              <a:t> </a:t>
            </a:r>
            <a:r>
              <a:rPr sz="2200" b="1" dirty="0" err="1"/>
              <a:t>שנית</a:t>
            </a:r>
            <a:r>
              <a:rPr lang="he-IL" sz="2200" b="1" dirty="0"/>
              <a:t>,</a:t>
            </a:r>
            <a:r>
              <a:rPr sz="2200" b="1" dirty="0"/>
              <a:t> </a:t>
            </a:r>
            <a:r>
              <a:rPr sz="2200" b="1" dirty="0" err="1"/>
              <a:t>עבור</a:t>
            </a:r>
            <a:r>
              <a:rPr sz="2200" b="1" dirty="0"/>
              <a:t>״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לעולם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נגיד</a:t>
            </a:r>
            <a:r>
              <a:rPr sz="2200" dirty="0"/>
              <a:t> ״</a:t>
            </a:r>
            <a:r>
              <a:rPr sz="2200" dirty="0" err="1"/>
              <a:t>חזור</a:t>
            </a:r>
            <a:r>
              <a:rPr sz="2200" dirty="0"/>
              <a:t> </a:t>
            </a:r>
            <a:r>
              <a:rPr sz="2200" dirty="0" err="1"/>
              <a:t>שנית</a:t>
            </a:r>
            <a:r>
              <a:rPr sz="2200" dirty="0"/>
              <a:t>/ </a:t>
            </a:r>
            <a:r>
              <a:rPr sz="2200" dirty="0" err="1"/>
              <a:t>חזור</a:t>
            </a:r>
            <a:r>
              <a:rPr sz="2200" dirty="0"/>
              <a:t>״ </a:t>
            </a:r>
            <a:r>
              <a:rPr lang="he-IL" sz="2200" dirty="0"/>
              <a:t>- </a:t>
            </a:r>
            <a:r>
              <a:rPr sz="2200" dirty="0" err="1"/>
              <a:t>המילים</a:t>
            </a:r>
            <a:r>
              <a:rPr sz="2200" dirty="0"/>
              <a:t> </a:t>
            </a:r>
            <a:r>
              <a:rPr sz="2200" dirty="0" err="1"/>
              <a:t>האלה</a:t>
            </a:r>
            <a:r>
              <a:rPr sz="2200" dirty="0"/>
              <a:t> </a:t>
            </a:r>
            <a:r>
              <a:rPr sz="2200" dirty="0" err="1"/>
              <a:t>עלולות</a:t>
            </a:r>
            <a:r>
              <a:rPr sz="2200" dirty="0"/>
              <a:t> </a:t>
            </a:r>
            <a:r>
              <a:rPr sz="2200" dirty="0" err="1"/>
              <a:t>להתפרש</a:t>
            </a:r>
            <a:r>
              <a:rPr sz="2200" dirty="0"/>
              <a:t> </a:t>
            </a:r>
            <a:r>
              <a:rPr sz="2200" dirty="0" err="1"/>
              <a:t>כחזרה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הפקודה</a:t>
            </a:r>
            <a:r>
              <a:rPr sz="2200" dirty="0"/>
              <a:t> </a:t>
            </a:r>
            <a:r>
              <a:rPr sz="2200" dirty="0" err="1"/>
              <a:t>ולא</a:t>
            </a:r>
            <a:r>
              <a:rPr sz="2200" dirty="0"/>
              <a:t> </a:t>
            </a:r>
            <a:r>
              <a:rPr sz="2200" dirty="0" err="1"/>
              <a:t>על</a:t>
            </a:r>
            <a:r>
              <a:rPr sz="2200" dirty="0"/>
              <a:t> </a:t>
            </a:r>
            <a:r>
              <a:rPr sz="2200" dirty="0" err="1"/>
              <a:t>ההודעה</a:t>
            </a:r>
            <a:endParaRPr sz="2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תמונה 4">
            <a:extLst>
              <a:ext uri="{FF2B5EF4-FFF2-40B4-BE49-F238E27FC236}">
                <a16:creationId xmlns:a16="http://schemas.microsoft.com/office/drawing/2014/main" id="{EA808041-2CAB-D2BD-C692-B3EE9569BB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5E384B55-6285-42C4-B7CF-2F0287D5D9D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הקרא</a:t>
            </a:r>
            <a:r>
              <a:rPr dirty="0"/>
              <a:t> / </a:t>
            </a:r>
            <a:r>
              <a:rPr dirty="0" err="1"/>
              <a:t>מקריא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וידוא</a:t>
            </a:r>
            <a:r>
              <a:rPr sz="2200" dirty="0"/>
              <a:t> </a:t>
            </a:r>
            <a:r>
              <a:rPr sz="2200" dirty="0" err="1"/>
              <a:t>שהתחנה</a:t>
            </a:r>
            <a:r>
              <a:rPr sz="2200" dirty="0"/>
              <a:t> </a:t>
            </a:r>
            <a:r>
              <a:rPr sz="2200" dirty="0" err="1"/>
              <a:t>קלטה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מלוא</a:t>
            </a:r>
            <a:r>
              <a:rPr sz="2200" dirty="0"/>
              <a:t> </a:t>
            </a:r>
            <a:r>
              <a:rPr sz="2200" dirty="0" err="1"/>
              <a:t>ההודעה</a:t>
            </a:r>
            <a:r>
              <a:rPr sz="2200" dirty="0"/>
              <a:t> </a:t>
            </a:r>
            <a:r>
              <a:rPr sz="2200" dirty="0" err="1"/>
              <a:t>שהעברנו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ההבדל</a:t>
            </a:r>
            <a:r>
              <a:rPr sz="2200" dirty="0"/>
              <a:t> </a:t>
            </a:r>
            <a:r>
              <a:rPr sz="2200" dirty="0" err="1"/>
              <a:t>בין</a:t>
            </a:r>
            <a:r>
              <a:rPr sz="2200" dirty="0"/>
              <a:t> ״</a:t>
            </a:r>
            <a:r>
              <a:rPr sz="2200" dirty="0" err="1"/>
              <a:t>הקרא</a:t>
            </a:r>
            <a:r>
              <a:rPr sz="2200" dirty="0"/>
              <a:t>״ </a:t>
            </a:r>
            <a:r>
              <a:rPr sz="2200" dirty="0" err="1"/>
              <a:t>לבין</a:t>
            </a:r>
            <a:r>
              <a:rPr sz="2200" dirty="0"/>
              <a:t> ״</a:t>
            </a:r>
            <a:r>
              <a:rPr sz="2200" dirty="0" err="1"/>
              <a:t>אמור</a:t>
            </a:r>
            <a:r>
              <a:rPr sz="2200" dirty="0"/>
              <a:t> </a:t>
            </a:r>
            <a:r>
              <a:rPr sz="2200" dirty="0" err="1"/>
              <a:t>שנית</a:t>
            </a:r>
            <a:r>
              <a:rPr sz="2200" dirty="0"/>
              <a:t>״:</a:t>
            </a:r>
          </a:p>
          <a:p>
            <a:pPr lvl="1" algn="r" rtl="1">
              <a:spcBef>
                <a:spcPts val="600"/>
              </a:spcBef>
            </a:pPr>
            <a:r>
              <a:rPr sz="2200" b="1" dirty="0"/>
              <a:t>״</a:t>
            </a:r>
            <a:r>
              <a:rPr sz="2200" b="1" dirty="0" err="1"/>
              <a:t>הקרא</a:t>
            </a:r>
            <a:r>
              <a:rPr sz="2200" b="1" dirty="0"/>
              <a:t>״ </a:t>
            </a:r>
            <a:r>
              <a:rPr lang="he-IL" sz="2200" b="1" dirty="0"/>
              <a:t>-</a:t>
            </a:r>
            <a:r>
              <a:rPr sz="2200" b="1" dirty="0"/>
              <a:t> </a:t>
            </a:r>
            <a:r>
              <a:rPr sz="2200" b="1" dirty="0" err="1"/>
              <a:t>התחנה</a:t>
            </a:r>
            <a:r>
              <a:rPr sz="2200" b="1" dirty="0"/>
              <a:t> </a:t>
            </a:r>
            <a:r>
              <a:rPr sz="2200" b="1" dirty="0" err="1"/>
              <a:t>המשדרת</a:t>
            </a:r>
            <a:r>
              <a:rPr sz="2200" b="1" dirty="0"/>
              <a:t> </a:t>
            </a:r>
            <a:r>
              <a:rPr sz="2200" b="1" dirty="0" err="1"/>
              <a:t>מבקשת</a:t>
            </a:r>
            <a:r>
              <a:rPr sz="2200" b="1" dirty="0"/>
              <a:t> </a:t>
            </a:r>
            <a:r>
              <a:rPr sz="2200" b="1" dirty="0" err="1"/>
              <a:t>מהקולטת</a:t>
            </a:r>
            <a:r>
              <a:rPr sz="2200" b="1" dirty="0"/>
              <a:t> </a:t>
            </a:r>
            <a:r>
              <a:rPr sz="2200" b="1" dirty="0" err="1"/>
              <a:t>לחזור</a:t>
            </a:r>
            <a:r>
              <a:rPr sz="2200" b="1" dirty="0"/>
              <a:t> </a:t>
            </a:r>
            <a:r>
              <a:rPr sz="2200" b="1" dirty="0" err="1"/>
              <a:t>על</a:t>
            </a:r>
            <a:r>
              <a:rPr sz="2200" b="1" dirty="0"/>
              <a:t> </a:t>
            </a:r>
            <a:r>
              <a:rPr sz="2200" b="1" dirty="0" err="1"/>
              <a:t>ההודעה</a:t>
            </a:r>
            <a:endParaRPr sz="2200" b="1" dirty="0"/>
          </a:p>
          <a:p>
            <a:pPr lvl="1" algn="r" rtl="1">
              <a:spcBef>
                <a:spcPts val="600"/>
              </a:spcBef>
            </a:pPr>
            <a:r>
              <a:rPr sz="2200" b="1" dirty="0"/>
              <a:t>״</a:t>
            </a:r>
            <a:r>
              <a:rPr sz="2200" b="1" dirty="0" err="1"/>
              <a:t>אמור</a:t>
            </a:r>
            <a:r>
              <a:rPr sz="2200" b="1" dirty="0"/>
              <a:t> </a:t>
            </a:r>
            <a:r>
              <a:rPr sz="2200" b="1" dirty="0" err="1"/>
              <a:t>שנית</a:t>
            </a:r>
            <a:r>
              <a:rPr lang="he-IL" sz="2200" b="1" dirty="0"/>
              <a:t>״ -</a:t>
            </a:r>
            <a:r>
              <a:rPr sz="2200" b="1" dirty="0"/>
              <a:t> </a:t>
            </a:r>
            <a:r>
              <a:rPr sz="2200" b="1" dirty="0" err="1"/>
              <a:t>התחנה</a:t>
            </a:r>
            <a:r>
              <a:rPr sz="2200" b="1" dirty="0"/>
              <a:t> </a:t>
            </a:r>
            <a:r>
              <a:rPr sz="2200" b="1" dirty="0" err="1"/>
              <a:t>הקולטת</a:t>
            </a:r>
            <a:r>
              <a:rPr sz="2200" b="1" dirty="0"/>
              <a:t> </a:t>
            </a:r>
            <a:r>
              <a:rPr sz="2200" b="1" dirty="0" err="1"/>
              <a:t>מבקשת</a:t>
            </a:r>
            <a:r>
              <a:rPr sz="2200" b="1" dirty="0"/>
              <a:t> </a:t>
            </a:r>
            <a:r>
              <a:rPr sz="2200" b="1" dirty="0" err="1"/>
              <a:t>מהמשדרת</a:t>
            </a:r>
            <a:r>
              <a:rPr sz="2200" b="1" dirty="0"/>
              <a:t> </a:t>
            </a:r>
            <a:r>
              <a:rPr sz="2200" b="1" dirty="0" err="1"/>
              <a:t>לחזור</a:t>
            </a:r>
            <a:endParaRPr sz="2200" b="1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דוגמה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lang="he-IL" sz="2200" dirty="0"/>
              <a:t>1, </a:t>
            </a:r>
            <a:r>
              <a:rPr sz="2200" dirty="0" err="1"/>
              <a:t>כאן</a:t>
            </a:r>
            <a:r>
              <a:rPr sz="2200" dirty="0"/>
              <a:t> </a:t>
            </a:r>
            <a:r>
              <a:rPr sz="2200" dirty="0" err="1"/>
              <a:t>קודקוד</a:t>
            </a:r>
            <a:r>
              <a:rPr sz="2200" dirty="0"/>
              <a:t>, </a:t>
            </a:r>
            <a:r>
              <a:rPr sz="2200" dirty="0" err="1"/>
              <a:t>קורא</a:t>
            </a:r>
            <a:r>
              <a:rPr sz="2200" dirty="0"/>
              <a:t> </a:t>
            </a:r>
            <a:r>
              <a:rPr sz="2200" dirty="0" err="1"/>
              <a:t>בדאלי</a:t>
            </a:r>
            <a:r>
              <a:rPr sz="2200" dirty="0"/>
              <a:t>, </a:t>
            </a:r>
            <a:r>
              <a:rPr sz="2200" dirty="0" err="1"/>
              <a:t>נוע</a:t>
            </a:r>
            <a:r>
              <a:rPr sz="2200" dirty="0"/>
              <a:t> </a:t>
            </a:r>
            <a:r>
              <a:rPr sz="2200" dirty="0" err="1"/>
              <a:t>למשימתך</a:t>
            </a:r>
            <a:r>
              <a:rPr sz="2200" dirty="0"/>
              <a:t>״ / ״</a:t>
            </a:r>
            <a:r>
              <a:rPr lang="he-IL" sz="2200" dirty="0"/>
              <a:t>1,</a:t>
            </a:r>
            <a:r>
              <a:rPr sz="2200" dirty="0"/>
              <a:t> </a:t>
            </a:r>
            <a:r>
              <a:rPr sz="2200" dirty="0" err="1"/>
              <a:t>כאן</a:t>
            </a:r>
            <a:r>
              <a:rPr sz="2200" dirty="0"/>
              <a:t> </a:t>
            </a:r>
            <a:r>
              <a:rPr sz="2200" dirty="0" err="1"/>
              <a:t>קודקוד</a:t>
            </a:r>
            <a:r>
              <a:rPr sz="2200" dirty="0"/>
              <a:t>, </a:t>
            </a:r>
            <a:r>
              <a:rPr sz="2200" dirty="0" err="1"/>
              <a:t>הקרא</a:t>
            </a:r>
            <a:r>
              <a:rPr sz="2200" dirty="0"/>
              <a:t>, </a:t>
            </a:r>
            <a:r>
              <a:rPr sz="2200" dirty="0" err="1"/>
              <a:t>עבור</a:t>
            </a:r>
            <a:r>
              <a:rPr sz="2200" dirty="0"/>
              <a:t>״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קבל</a:t>
            </a:r>
            <a:r>
              <a:rPr dirty="0"/>
              <a:t> </a:t>
            </a:r>
            <a:r>
              <a:rPr dirty="0" err="1"/>
              <a:t>תיקון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כאשר</a:t>
            </a:r>
            <a:r>
              <a:rPr sz="2200" dirty="0"/>
              <a:t> </a:t>
            </a:r>
            <a:r>
              <a:rPr sz="2200" dirty="0" err="1"/>
              <a:t>נעביר</a:t>
            </a:r>
            <a:r>
              <a:rPr sz="2200" dirty="0"/>
              <a:t> </a:t>
            </a:r>
            <a:r>
              <a:rPr sz="2200" dirty="0" err="1"/>
              <a:t>הודעה</a:t>
            </a:r>
            <a:r>
              <a:rPr sz="2200" dirty="0"/>
              <a:t> </a:t>
            </a:r>
            <a:r>
              <a:rPr sz="2200" dirty="0" err="1"/>
              <a:t>שגויה</a:t>
            </a:r>
            <a:r>
              <a:rPr sz="2200" dirty="0"/>
              <a:t> </a:t>
            </a:r>
            <a:r>
              <a:rPr sz="2200" dirty="0" err="1"/>
              <a:t>ונרצה</a:t>
            </a:r>
            <a:r>
              <a:rPr sz="2200" dirty="0"/>
              <a:t> </a:t>
            </a:r>
            <a:r>
              <a:rPr sz="2200" dirty="0" err="1"/>
              <a:t>לתקן</a:t>
            </a:r>
            <a:r>
              <a:rPr sz="2200" dirty="0"/>
              <a:t> </a:t>
            </a:r>
            <a:r>
              <a:rPr sz="2200" dirty="0" err="1"/>
              <a:t>אותה</a:t>
            </a:r>
            <a:r>
              <a:rPr sz="2200" dirty="0"/>
              <a:t>, </a:t>
            </a:r>
            <a:r>
              <a:rPr sz="2200" dirty="0" err="1"/>
              <a:t>נגיד</a:t>
            </a:r>
            <a:r>
              <a:rPr sz="2200" dirty="0"/>
              <a:t> ״</a:t>
            </a:r>
            <a:r>
              <a:rPr sz="2200" dirty="0" err="1"/>
              <a:t>קבל</a:t>
            </a:r>
            <a:r>
              <a:rPr sz="2200" dirty="0"/>
              <a:t> </a:t>
            </a:r>
            <a:r>
              <a:rPr sz="2200" dirty="0" err="1"/>
              <a:t>תיקון</a:t>
            </a:r>
            <a:r>
              <a:rPr sz="2200" dirty="0"/>
              <a:t>״ </a:t>
            </a:r>
            <a:r>
              <a:rPr sz="2200" dirty="0" err="1"/>
              <a:t>ואז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ההודעה</a:t>
            </a:r>
            <a:r>
              <a:rPr sz="2200" dirty="0"/>
              <a:t> </a:t>
            </a:r>
            <a:r>
              <a:rPr sz="2200" dirty="0" err="1"/>
              <a:t>הנכונה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דוגמה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lang="he-IL" sz="2200" dirty="0"/>
              <a:t>2,</a:t>
            </a:r>
            <a:r>
              <a:rPr sz="2200" dirty="0"/>
              <a:t> </a:t>
            </a:r>
            <a:r>
              <a:rPr sz="2200" dirty="0" err="1"/>
              <a:t>כאן</a:t>
            </a:r>
            <a:r>
              <a:rPr sz="2200" dirty="0"/>
              <a:t> </a:t>
            </a:r>
            <a:r>
              <a:rPr sz="2200" dirty="0" err="1"/>
              <a:t>משנה</a:t>
            </a:r>
            <a:r>
              <a:rPr sz="2200" dirty="0"/>
              <a:t>, </a:t>
            </a:r>
            <a:r>
              <a:rPr sz="2200" dirty="0" err="1"/>
              <a:t>קורא</a:t>
            </a:r>
            <a:r>
              <a:rPr sz="2200" dirty="0"/>
              <a:t> </a:t>
            </a:r>
            <a:r>
              <a:rPr sz="2200" dirty="0" err="1"/>
              <a:t>בדאלי</a:t>
            </a:r>
            <a:r>
              <a:rPr sz="2200" dirty="0"/>
              <a:t> </a:t>
            </a:r>
            <a:r>
              <a:rPr lang="he-IL" sz="2200" dirty="0"/>
              <a:t>- </a:t>
            </a:r>
            <a:r>
              <a:rPr sz="2200" dirty="0" err="1"/>
              <a:t>זרזיר</a:t>
            </a:r>
            <a:r>
              <a:rPr sz="2200" dirty="0"/>
              <a:t> </a:t>
            </a:r>
            <a:r>
              <a:rPr sz="2200" dirty="0" err="1"/>
              <a:t>בדרך</a:t>
            </a:r>
            <a:r>
              <a:rPr sz="2200" dirty="0"/>
              <a:t> </a:t>
            </a:r>
            <a:r>
              <a:rPr sz="2200" dirty="0" err="1"/>
              <a:t>אליך</a:t>
            </a:r>
            <a:r>
              <a:rPr sz="2200" dirty="0"/>
              <a:t>, </a:t>
            </a:r>
            <a:r>
              <a:rPr sz="2200" dirty="0" err="1"/>
              <a:t>קבל</a:t>
            </a:r>
            <a:r>
              <a:rPr sz="2200" dirty="0"/>
              <a:t> </a:t>
            </a:r>
            <a:r>
              <a:rPr sz="2200" dirty="0" err="1"/>
              <a:t>תיקון</a:t>
            </a:r>
            <a:r>
              <a:rPr sz="2200" dirty="0"/>
              <a:t>, </a:t>
            </a:r>
            <a:r>
              <a:rPr sz="2200" dirty="0" err="1"/>
              <a:t>הוא</a:t>
            </a:r>
            <a:r>
              <a:rPr sz="2200" dirty="0"/>
              <a:t> </a:t>
            </a:r>
            <a:r>
              <a:rPr sz="2200" dirty="0" err="1"/>
              <a:t>בדרכו</a:t>
            </a:r>
            <a:r>
              <a:rPr sz="2200" dirty="0"/>
              <a:t> ל</a:t>
            </a:r>
            <a:r>
              <a:rPr lang="he-IL" sz="2200" dirty="0"/>
              <a:t>-1</a:t>
            </a:r>
            <a:r>
              <a:rPr sz="2200" dirty="0"/>
              <a:t> </a:t>
            </a:r>
            <a:r>
              <a:rPr sz="2200" dirty="0" err="1"/>
              <a:t>ואז</a:t>
            </a:r>
            <a:r>
              <a:rPr sz="2200" dirty="0"/>
              <a:t> </a:t>
            </a:r>
            <a:r>
              <a:rPr sz="2200" dirty="0" err="1"/>
              <a:t>אליך</a:t>
            </a:r>
            <a:r>
              <a:rPr lang="he-IL" sz="2200" dirty="0"/>
              <a:t>, </a:t>
            </a:r>
            <a:r>
              <a:rPr sz="2200" dirty="0" err="1"/>
              <a:t>עבור</a:t>
            </a:r>
            <a:r>
              <a:rPr sz="2200" dirty="0"/>
              <a:t>״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sz="2200" dirty="0" err="1"/>
              <a:t>משנה</a:t>
            </a:r>
            <a:r>
              <a:rPr lang="he-IL" sz="2200" dirty="0"/>
              <a:t>,</a:t>
            </a:r>
            <a:r>
              <a:rPr sz="2200" dirty="0"/>
              <a:t> </a:t>
            </a:r>
            <a:r>
              <a:rPr sz="2200" dirty="0" err="1"/>
              <a:t>כאן</a:t>
            </a:r>
            <a:r>
              <a:rPr lang="he-IL" sz="2200" dirty="0"/>
              <a:t> 2,</a:t>
            </a:r>
            <a:r>
              <a:rPr sz="2200" dirty="0"/>
              <a:t> </a:t>
            </a:r>
            <a:r>
              <a:rPr sz="2200" dirty="0" err="1"/>
              <a:t>רות</a:t>
            </a:r>
            <a:r>
              <a:rPr sz="2200" dirty="0"/>
              <a:t>״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DAA124C7-C112-D3F3-4C47-C82FDDE79D1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F53701C3-E45C-F1F7-D435-0E2B9C83E28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325100" y="333375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- </a:t>
            </a:r>
            <a:r>
              <a:rPr dirty="0" err="1"/>
              <a:t>איות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כאשר</a:t>
            </a:r>
            <a:r>
              <a:rPr sz="2200" dirty="0"/>
              <a:t> </a:t>
            </a:r>
            <a:r>
              <a:rPr sz="2200" dirty="0" err="1"/>
              <a:t>שתי</a:t>
            </a:r>
            <a:r>
              <a:rPr sz="2200" dirty="0"/>
              <a:t> </a:t>
            </a:r>
            <a:r>
              <a:rPr sz="2200" dirty="0" err="1"/>
              <a:t>מילים</a:t>
            </a:r>
            <a:r>
              <a:rPr sz="2200" dirty="0"/>
              <a:t> </a:t>
            </a:r>
            <a:r>
              <a:rPr sz="2200" dirty="0" err="1"/>
              <a:t>נשמעות</a:t>
            </a:r>
            <a:r>
              <a:rPr sz="2200" dirty="0"/>
              <a:t> </a:t>
            </a:r>
            <a:r>
              <a:rPr sz="2200" dirty="0" err="1"/>
              <a:t>אותו</a:t>
            </a:r>
            <a:r>
              <a:rPr sz="2200" dirty="0"/>
              <a:t> </a:t>
            </a:r>
            <a:r>
              <a:rPr sz="2200" dirty="0" err="1"/>
              <a:t>דבר</a:t>
            </a:r>
            <a:r>
              <a:rPr sz="2200" dirty="0"/>
              <a:t> </a:t>
            </a:r>
            <a:r>
              <a:rPr sz="2200" dirty="0" err="1"/>
              <a:t>וההודעה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ברורה</a:t>
            </a:r>
            <a:r>
              <a:rPr sz="2200" dirty="0"/>
              <a:t>, </a:t>
            </a:r>
            <a:r>
              <a:rPr sz="2200" dirty="0" err="1"/>
              <a:t>נאיית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המילה</a:t>
            </a:r>
            <a:r>
              <a:rPr sz="2200" dirty="0"/>
              <a:t> </a:t>
            </a:r>
            <a:r>
              <a:rPr sz="2200" dirty="0" err="1"/>
              <a:t>בא״ב</a:t>
            </a:r>
            <a:r>
              <a:rPr sz="2200" dirty="0"/>
              <a:t> </a:t>
            </a:r>
            <a:r>
              <a:rPr sz="2200" dirty="0" err="1"/>
              <a:t>פונטי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וכך</a:t>
            </a:r>
            <a:r>
              <a:rPr sz="2200" dirty="0"/>
              <a:t> </a:t>
            </a:r>
            <a:r>
              <a:rPr sz="2200" dirty="0" err="1"/>
              <a:t>נמנע</a:t>
            </a:r>
            <a:r>
              <a:rPr sz="2200" dirty="0"/>
              <a:t> </a:t>
            </a:r>
            <a:r>
              <a:rPr sz="2200" dirty="0" err="1"/>
              <a:t>בלבול</a:t>
            </a:r>
            <a:endParaRPr sz="2200" dirty="0"/>
          </a:p>
          <a:p>
            <a:pPr algn="r" rtl="1">
              <a:spcBef>
                <a:spcPts val="600"/>
              </a:spcBef>
            </a:pPr>
            <a:r>
              <a:rPr sz="2200" dirty="0" err="1"/>
              <a:t>דוגמה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sz="2200" dirty="0" err="1"/>
              <a:t>שלהבת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אני</a:t>
            </a:r>
            <a:r>
              <a:rPr sz="2200" dirty="0"/>
              <a:t> </a:t>
            </a:r>
            <a:r>
              <a:rPr sz="2200" dirty="0" err="1"/>
              <a:t>מאיית</a:t>
            </a:r>
            <a:r>
              <a:rPr sz="2200" dirty="0"/>
              <a:t>: </a:t>
            </a:r>
            <a:r>
              <a:rPr sz="2200" dirty="0" err="1"/>
              <a:t>שמיר</a:t>
            </a:r>
            <a:r>
              <a:rPr sz="2200" dirty="0"/>
              <a:t>, </a:t>
            </a:r>
            <a:r>
              <a:rPr sz="2200" dirty="0" err="1"/>
              <a:t>לאה</a:t>
            </a:r>
            <a:r>
              <a:rPr sz="2200" dirty="0"/>
              <a:t>, </a:t>
            </a:r>
            <a:r>
              <a:rPr sz="2200" dirty="0" err="1"/>
              <a:t>הגר</a:t>
            </a:r>
            <a:r>
              <a:rPr sz="2200" dirty="0"/>
              <a:t>, </a:t>
            </a:r>
            <a:r>
              <a:rPr sz="2200" dirty="0" err="1"/>
              <a:t>בועז</a:t>
            </a:r>
            <a:r>
              <a:rPr sz="2200" dirty="0"/>
              <a:t>, </a:t>
            </a:r>
            <a:r>
              <a:rPr sz="2200" dirty="0" err="1"/>
              <a:t>תלם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שלהבת</a:t>
            </a:r>
            <a:r>
              <a:rPr sz="2200" dirty="0"/>
              <a:t>״</a:t>
            </a:r>
          </a:p>
          <a:p>
            <a:pPr algn="r" rtl="1">
              <a:spcBef>
                <a:spcPts val="600"/>
              </a:spcBef>
            </a:pPr>
            <a:r>
              <a:rPr lang="he-IL" sz="2200" dirty="0"/>
              <a:t>       </a:t>
            </a:r>
            <a:r>
              <a:rPr sz="2200" dirty="0" err="1"/>
              <a:t>כך</a:t>
            </a:r>
            <a:r>
              <a:rPr sz="2200" dirty="0"/>
              <a:t> </a:t>
            </a:r>
            <a:r>
              <a:rPr sz="2200" dirty="0" err="1"/>
              <a:t>לא</a:t>
            </a:r>
            <a:r>
              <a:rPr sz="2200" dirty="0"/>
              <a:t> </a:t>
            </a:r>
            <a:r>
              <a:rPr sz="2200" dirty="0" err="1"/>
              <a:t>נשמע</a:t>
            </a:r>
            <a:r>
              <a:rPr sz="2200" dirty="0"/>
              <a:t> </a:t>
            </a:r>
            <a:r>
              <a:rPr sz="2200" dirty="0" err="1"/>
              <a:t>בטעות</a:t>
            </a:r>
            <a:r>
              <a:rPr sz="2200" dirty="0"/>
              <a:t> </a:t>
            </a:r>
            <a:r>
              <a:rPr sz="2200" dirty="0" err="1"/>
              <a:t>את</a:t>
            </a:r>
            <a:r>
              <a:rPr sz="2200" dirty="0"/>
              <a:t> </a:t>
            </a:r>
            <a:r>
              <a:rPr sz="2200" dirty="0" err="1"/>
              <a:t>המילה</a:t>
            </a:r>
            <a:r>
              <a:rPr sz="2200" dirty="0"/>
              <a:t> ״</a:t>
            </a:r>
            <a:r>
              <a:rPr sz="2200" dirty="0" err="1"/>
              <a:t>שלכת</a:t>
            </a:r>
            <a:r>
              <a:rPr sz="2200" dirty="0"/>
              <a:t>״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CFC22B76-4701-613C-9123-45068192C38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0F741D0C-FF9C-BE02-8C89-8E501FA7470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629900" y="26289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- </a:t>
            </a:r>
            <a:r>
              <a:rPr dirty="0" err="1"/>
              <a:t>איות</a:t>
            </a:r>
            <a:r>
              <a:rPr dirty="0"/>
              <a:t> </a:t>
            </a:r>
            <a:r>
              <a:rPr lang="he-IL" dirty="0"/>
              <a:t>(</a:t>
            </a:r>
            <a:r>
              <a:rPr dirty="0"/>
              <a:t>א–כ</a:t>
            </a:r>
            <a:r>
              <a:rPr lang="he-IL" dirty="0"/>
              <a:t>)</a:t>
            </a:r>
            <a:endParaRPr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149141"/>
              </p:ext>
            </p:extLst>
          </p:nvPr>
        </p:nvGraphicFramePr>
        <p:xfrm>
          <a:off x="4404360" y="1645920"/>
          <a:ext cx="3383280" cy="446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אלפבית צלילי</a:t>
                      </a: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אות</a:t>
                      </a: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אלף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בועז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גימל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ג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דוד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הגר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ה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וו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זאב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ז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חוה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טיה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ט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יונה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י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כרמל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כ</a:t>
                      </a:r>
                      <a:endParaRPr sz="2200" b="1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9" name="תמונה 8">
            <a:extLst>
              <a:ext uri="{FF2B5EF4-FFF2-40B4-BE49-F238E27FC236}">
                <a16:creationId xmlns:a16="http://schemas.microsoft.com/office/drawing/2014/main" id="{060AE858-5B14-AE40-9CE8-80DD8AC4529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D294C02C-E62D-8408-0938-69C7EE6825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629900" y="26289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-</a:t>
            </a:r>
            <a:r>
              <a:rPr dirty="0"/>
              <a:t> </a:t>
            </a:r>
            <a:r>
              <a:rPr dirty="0" err="1"/>
              <a:t>איות</a:t>
            </a:r>
            <a:r>
              <a:rPr dirty="0"/>
              <a:t> </a:t>
            </a:r>
            <a:r>
              <a:rPr lang="he-IL" dirty="0"/>
              <a:t>(</a:t>
            </a:r>
            <a:r>
              <a:rPr dirty="0"/>
              <a:t>ל–ת</a:t>
            </a:r>
            <a:r>
              <a:rPr lang="he-IL" dirty="0"/>
              <a:t>)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78503"/>
              </p:ext>
            </p:extLst>
          </p:nvPr>
        </p:nvGraphicFramePr>
        <p:xfrm>
          <a:off x="4404360" y="1645920"/>
          <a:ext cx="3383280" cy="446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אלפבית צלילי</a:t>
                      </a: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FFFFFF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אות</a:t>
                      </a:r>
                    </a:p>
                  </a:txBody>
                  <a:tcPr marL="54864" marR="54864" marT="18288" marB="18288" anchor="ctr">
                    <a:solidFill>
                      <a:srgbClr val="4E7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לאה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ל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משה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מ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נשר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נ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סמך</a:t>
                      </a:r>
                      <a:endParaRPr sz="2200" b="0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ס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עין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ע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פסל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ציפור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צ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קורח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רות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ר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שמיר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r" rtl="1">
                        <a:spcBef>
                          <a:spcPts val="600"/>
                        </a:spcBef>
                      </a:pPr>
                      <a:r>
                        <a:rPr sz="2200" b="0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תלם</a:t>
                      </a: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spcBef>
                          <a:spcPts val="600"/>
                        </a:spcBef>
                      </a:pPr>
                      <a:r>
                        <a:rPr sz="2200" b="1" dirty="0" err="1">
                          <a:solidFill>
                            <a:srgbClr val="2E3B2A"/>
                          </a:solidFill>
                          <a:latin typeface="Assistant" pitchFamily="2" charset="-79"/>
                          <a:cs typeface="Assistant" pitchFamily="2" charset="-79"/>
                        </a:rPr>
                        <a:t>ת</a:t>
                      </a:r>
                      <a:endParaRPr sz="2200" b="1" dirty="0">
                        <a:solidFill>
                          <a:srgbClr val="2E3B2A"/>
                        </a:solidFill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54864" marR="54864" marT="18288" marB="18288" anchor="ctr">
                    <a:solidFill>
                      <a:srgbClr val="EAF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5" name="תמונה 4">
            <a:extLst>
              <a:ext uri="{FF2B5EF4-FFF2-40B4-BE49-F238E27FC236}">
                <a16:creationId xmlns:a16="http://schemas.microsoft.com/office/drawing/2014/main" id="{98F09224-864A-B576-847D-624E718AB5F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190196B4-9ECC-C4C9-19A3-63A3DD92FF8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629900" y="26289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נהלים</a:t>
            </a:r>
            <a:r>
              <a:rPr dirty="0"/>
              <a:t> </a:t>
            </a:r>
            <a:r>
              <a:rPr dirty="0" err="1"/>
              <a:t>בקשר</a:t>
            </a:r>
            <a:r>
              <a:rPr dirty="0"/>
              <a:t> </a:t>
            </a:r>
            <a:r>
              <a:rPr lang="he-IL" dirty="0"/>
              <a:t>–</a:t>
            </a:r>
            <a:r>
              <a:rPr dirty="0"/>
              <a:t> </a:t>
            </a:r>
            <a:r>
              <a:rPr dirty="0" err="1"/>
              <a:t>חיובי</a:t>
            </a:r>
            <a:r>
              <a:rPr lang="he-IL" dirty="0"/>
              <a:t> \ </a:t>
            </a:r>
            <a:r>
              <a:rPr dirty="0" err="1"/>
              <a:t>שלילי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600"/>
              </a:spcBef>
            </a:pPr>
            <a:r>
              <a:rPr sz="2200" dirty="0" err="1"/>
              <a:t>המילים</a:t>
            </a:r>
            <a:r>
              <a:rPr sz="2200" dirty="0"/>
              <a:t> ״</a:t>
            </a:r>
            <a:r>
              <a:rPr sz="2200" dirty="0" err="1"/>
              <a:t>כן</a:t>
            </a:r>
            <a:r>
              <a:rPr sz="2200" dirty="0"/>
              <a:t>״ </a:t>
            </a:r>
            <a:r>
              <a:rPr sz="2200" dirty="0" err="1"/>
              <a:t>ו״לא</a:t>
            </a:r>
            <a:r>
              <a:rPr sz="2200" dirty="0"/>
              <a:t>״ </a:t>
            </a:r>
            <a:r>
              <a:rPr sz="2200" dirty="0" err="1"/>
              <a:t>בנות</a:t>
            </a:r>
            <a:r>
              <a:rPr sz="2200" dirty="0"/>
              <a:t> </a:t>
            </a:r>
            <a:r>
              <a:rPr sz="2200" dirty="0" err="1"/>
              <a:t>הברה</a:t>
            </a:r>
            <a:r>
              <a:rPr sz="2200" dirty="0"/>
              <a:t> </a:t>
            </a:r>
            <a:r>
              <a:rPr sz="2200" dirty="0" err="1"/>
              <a:t>אחת</a:t>
            </a:r>
            <a:r>
              <a:rPr sz="2200" dirty="0"/>
              <a:t> </a:t>
            </a:r>
            <a:r>
              <a:rPr sz="2200" dirty="0" err="1"/>
              <a:t>ונשמעות</a:t>
            </a:r>
            <a:r>
              <a:rPr sz="2200" dirty="0"/>
              <a:t> </a:t>
            </a:r>
            <a:r>
              <a:rPr sz="2200" dirty="0" err="1"/>
              <a:t>דומה</a:t>
            </a:r>
            <a:r>
              <a:rPr sz="2200" dirty="0"/>
              <a:t> </a:t>
            </a:r>
            <a:r>
              <a:rPr sz="2200" dirty="0" err="1"/>
              <a:t>למילים</a:t>
            </a:r>
            <a:r>
              <a:rPr sz="2200" dirty="0"/>
              <a:t> </a:t>
            </a:r>
            <a:r>
              <a:rPr sz="2200" dirty="0" err="1"/>
              <a:t>רבות</a:t>
            </a:r>
            <a:r>
              <a:rPr sz="2200" dirty="0"/>
              <a:t> </a:t>
            </a:r>
            <a:r>
              <a:rPr lang="he-IL" sz="2200" dirty="0"/>
              <a:t>-</a:t>
            </a:r>
            <a:r>
              <a:rPr sz="2200" dirty="0"/>
              <a:t> </a:t>
            </a:r>
            <a:r>
              <a:rPr sz="2200" dirty="0" err="1"/>
              <a:t>לכן</a:t>
            </a:r>
            <a:r>
              <a:rPr sz="2200" dirty="0"/>
              <a:t> </a:t>
            </a:r>
            <a:r>
              <a:rPr sz="2200" dirty="0" err="1"/>
              <a:t>נגיד</a:t>
            </a:r>
            <a:r>
              <a:rPr sz="2200" dirty="0"/>
              <a:t> ״</a:t>
            </a:r>
            <a:r>
              <a:rPr sz="2200" dirty="0" err="1"/>
              <a:t>חיובי</a:t>
            </a:r>
            <a:r>
              <a:rPr sz="2200" dirty="0"/>
              <a:t>״ </a:t>
            </a:r>
            <a:r>
              <a:rPr sz="2200" dirty="0" err="1"/>
              <a:t>או</a:t>
            </a:r>
            <a:r>
              <a:rPr sz="2200" dirty="0"/>
              <a:t> ״</a:t>
            </a:r>
            <a:r>
              <a:rPr sz="2200" dirty="0" err="1"/>
              <a:t>שלילי</a:t>
            </a:r>
            <a:r>
              <a:rPr sz="2200" dirty="0"/>
              <a:t>״</a:t>
            </a:r>
          </a:p>
          <a:p>
            <a:pPr algn="r" rtl="1">
              <a:spcBef>
                <a:spcPts val="600"/>
              </a:spcBef>
            </a:pPr>
            <a:r>
              <a:rPr sz="2200" dirty="0" err="1"/>
              <a:t>דוגמה</a:t>
            </a:r>
            <a:r>
              <a:rPr sz="2200" dirty="0"/>
              <a:t>: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sz="2200" dirty="0" err="1"/>
              <a:t>לא</a:t>
            </a:r>
            <a:r>
              <a:rPr sz="2200" dirty="0"/>
              <a:t>״ </a:t>
            </a:r>
            <a:r>
              <a:rPr sz="2200" dirty="0" err="1"/>
              <a:t>נשמע</a:t>
            </a:r>
            <a:r>
              <a:rPr sz="2200" dirty="0"/>
              <a:t> </a:t>
            </a:r>
            <a:r>
              <a:rPr sz="2200" dirty="0" err="1"/>
              <a:t>כמו</a:t>
            </a:r>
            <a:r>
              <a:rPr sz="2200" dirty="0"/>
              <a:t>: </a:t>
            </a:r>
            <a:r>
              <a:rPr sz="2200" dirty="0" err="1"/>
              <a:t>או</a:t>
            </a:r>
            <a:r>
              <a:rPr sz="2200" dirty="0"/>
              <a:t>, </a:t>
            </a:r>
            <a:r>
              <a:rPr sz="2200" dirty="0" err="1"/>
              <a:t>פה</a:t>
            </a:r>
            <a:r>
              <a:rPr sz="2200" dirty="0"/>
              <a:t>…</a:t>
            </a:r>
          </a:p>
          <a:p>
            <a:pPr lvl="1" algn="r" rtl="1">
              <a:spcBef>
                <a:spcPts val="600"/>
              </a:spcBef>
            </a:pPr>
            <a:r>
              <a:rPr sz="2200" dirty="0"/>
              <a:t>״</a:t>
            </a:r>
            <a:r>
              <a:rPr sz="2200" dirty="0" err="1"/>
              <a:t>כן</a:t>
            </a:r>
            <a:r>
              <a:rPr sz="2200" dirty="0"/>
              <a:t>״ </a:t>
            </a:r>
            <a:r>
              <a:rPr sz="2200" dirty="0" err="1"/>
              <a:t>נשמע</a:t>
            </a:r>
            <a:r>
              <a:rPr sz="2200" dirty="0"/>
              <a:t> </a:t>
            </a:r>
            <a:r>
              <a:rPr sz="2200" dirty="0" err="1"/>
              <a:t>כמו</a:t>
            </a:r>
            <a:r>
              <a:rPr sz="2200" dirty="0"/>
              <a:t>: </a:t>
            </a:r>
            <a:r>
              <a:rPr sz="2200" dirty="0" err="1"/>
              <a:t>הן</a:t>
            </a:r>
            <a:r>
              <a:rPr sz="2200" dirty="0"/>
              <a:t>, </a:t>
            </a:r>
            <a:r>
              <a:rPr sz="2200" dirty="0" err="1"/>
              <a:t>בן</a:t>
            </a:r>
            <a:r>
              <a:rPr sz="2200" dirty="0"/>
              <a:t>…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82A9CFDC-3AEC-6952-56B2-C16ED73263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7BCA5FEF-1451-D458-7A15-DC4E50E4FCE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10629900" y="2628900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>
              <a:spcBef>
                <a:spcPts val="600"/>
              </a:spcBef>
            </a:pPr>
            <a:r>
              <a:rPr dirty="0" err="1"/>
              <a:t>מה</a:t>
            </a:r>
            <a:r>
              <a:rPr dirty="0"/>
              <a:t> </a:t>
            </a:r>
            <a:r>
              <a:rPr dirty="0" err="1"/>
              <a:t>למדנו</a:t>
            </a:r>
            <a:r>
              <a:rPr dirty="0"/>
              <a:t> </a:t>
            </a:r>
            <a:r>
              <a:rPr dirty="0" err="1"/>
              <a:t>היום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58480" y="3188174"/>
            <a:ext cx="357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מפה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ומדידות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07840" y="3183066"/>
            <a:ext cx="357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מצפן</a:t>
            </a:r>
            <a:r>
              <a:rPr sz="2800" b="1" dirty="0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 </a:t>
            </a: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ומרחקים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3183066"/>
            <a:ext cx="3576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spcBef>
                <a:spcPts val="600"/>
              </a:spcBef>
            </a:pPr>
            <a:r>
              <a:rPr sz="2800" b="1" dirty="0" err="1">
                <a:solidFill>
                  <a:srgbClr val="4E7A3F"/>
                </a:solidFill>
                <a:latin typeface="Assistant" pitchFamily="2" charset="-79"/>
                <a:cs typeface="Assistant" pitchFamily="2" charset="-79"/>
              </a:rPr>
              <a:t>נדב״ר</a:t>
            </a:r>
            <a:endParaRPr sz="2800" b="1" dirty="0">
              <a:solidFill>
                <a:srgbClr val="4E7A3F"/>
              </a:solidFill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39D523D-4B5A-B41D-900C-15A8F214821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3161" y="3236674"/>
            <a:ext cx="4790661" cy="3922787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B3DA749F-0254-8772-4143-866307A0BB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6022" y="2459166"/>
            <a:ext cx="1447800" cy="144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קקס יום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5182</TotalTime>
  <Words>2124</Words>
  <Application>Microsoft Office PowerPoint</Application>
  <PresentationFormat>מסך רחב</PresentationFormat>
  <Paragraphs>291</Paragraphs>
  <Slides>38</Slides>
  <Notes>38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38</vt:i4>
      </vt:variant>
    </vt:vector>
  </HeadingPairs>
  <TitlesOfParts>
    <vt:vector size="43" baseType="lpstr">
      <vt:lpstr>Assistant</vt:lpstr>
      <vt:lpstr>Helvetica Neue</vt:lpstr>
      <vt:lpstr>Arial</vt:lpstr>
      <vt:lpstr>Heebo ExtraBold</vt:lpstr>
      <vt:lpstr>קקס יום</vt:lpstr>
      <vt:lpstr>ניווטים שוב</vt:lpstr>
      <vt:lpstr>מטרות השיעור</vt:lpstr>
      <vt:lpstr>מצגת של PowerPoint‏</vt:lpstr>
      <vt:lpstr>מה למדנו בשיעור הקודם?</vt:lpstr>
      <vt:lpstr>מה למדנו בשיעור הקודם?</vt:lpstr>
      <vt:lpstr>מצגת של PowerPoint‏</vt:lpstr>
      <vt:lpstr>קואורדינטות ונ.צ</vt:lpstr>
      <vt:lpstr>מד קואורדינטות</vt:lpstr>
      <vt:lpstr>נ.צ. - נקודת ציון</vt:lpstr>
      <vt:lpstr>נ.צ. - תיאור מדויק</vt:lpstr>
      <vt:lpstr>תרגול - מה הנ.צ. של הנקודה?</vt:lpstr>
      <vt:lpstr>שושנת הרוחות</vt:lpstr>
      <vt:lpstr>שושנת הרוחות</vt:lpstr>
      <vt:lpstr>אזימוט</vt:lpstr>
      <vt:lpstr>מציאת אזימוט יוצא</vt:lpstr>
      <vt:lpstr>מציאת אזימוט חוזר</vt:lpstr>
      <vt:lpstr>המצפן הצבאי</vt:lpstr>
      <vt:lpstr>מציאת אזימוט באמצעות מצפן</vt:lpstr>
      <vt:lpstr>הצפנת מפה</vt:lpstr>
      <vt:lpstr>מרחק אווירי</vt:lpstr>
      <vt:lpstr>מדידת מרחק אווירי</vt:lpstr>
      <vt:lpstr>מדידת מרחק אווירי של מסלול</vt:lpstr>
      <vt:lpstr>מה למדנו עד עכשיו?</vt:lpstr>
      <vt:lpstr>אז על מה נדבר עכשיו?</vt:lpstr>
      <vt:lpstr>נדב״ר - נוהל דיבור ברשת</vt:lpstr>
      <vt:lpstr>למה צריך נדב״ר?</vt:lpstr>
      <vt:lpstr>מבנה ההודעה</vt:lpstr>
      <vt:lpstr>סוגי סיומות</vt:lpstr>
      <vt:lpstr>בעלי תפקידים בקשר</vt:lpstr>
      <vt:lpstr>מילון לקשר</vt:lpstr>
      <vt:lpstr>נהלים בקשר – אמור \ אמור שנית</vt:lpstr>
      <vt:lpstr>נהלים בקשר - הקרא / מקריא</vt:lpstr>
      <vt:lpstr>נהלים בקשר - קבל תיקון</vt:lpstr>
      <vt:lpstr>נהלים בקשר - איות</vt:lpstr>
      <vt:lpstr>נהלים בקשר - איות (א–כ)</vt:lpstr>
      <vt:lpstr>נהלים בקשר - איות (ל–ת)</vt:lpstr>
      <vt:lpstr>נהלים בקשר – חיובי \ שלילי</vt:lpstr>
      <vt:lpstr>מה למדנו היום?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</dc:creator>
  <cp:lastModifiedBy>ספיר מרזל</cp:lastModifiedBy>
  <cp:revision>58</cp:revision>
  <dcterms:created xsi:type="dcterms:W3CDTF">2025-03-02T22:49:34Z</dcterms:created>
  <dcterms:modified xsi:type="dcterms:W3CDTF">2026-07-25T09:45:50Z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01b9bfc-c426-492e-a46c-1a922d5fe54b_Enabled">
    <vt:lpwstr>true</vt:lpwstr>
  </property>
  <property fmtid="{D5CDD505-2E9C-101B-9397-08002B2CF9AE}" pid="3" name="MSIP_Label_701b9bfc-c426-492e-a46c-1a922d5fe54b_SetDate">
    <vt:lpwstr>2026-01-08T20:20:59Z</vt:lpwstr>
  </property>
  <property fmtid="{D5CDD505-2E9C-101B-9397-08002B2CF9AE}" pid="4" name="MSIP_Label_701b9bfc-c426-492e-a46c-1a922d5fe54b_Method">
    <vt:lpwstr>Privileged</vt:lpwstr>
  </property>
  <property fmtid="{D5CDD505-2E9C-101B-9397-08002B2CF9AE}" pid="5" name="MSIP_Label_701b9bfc-c426-492e-a46c-1a922d5fe54b_Name">
    <vt:lpwstr>בלמ"ס</vt:lpwstr>
  </property>
  <property fmtid="{D5CDD505-2E9C-101B-9397-08002B2CF9AE}" pid="6" name="MSIP_Label_701b9bfc-c426-492e-a46c-1a922d5fe54b_SiteId">
    <vt:lpwstr>78820852-55fa-450b-908d-45c0d911e76b</vt:lpwstr>
  </property>
  <property fmtid="{D5CDD505-2E9C-101B-9397-08002B2CF9AE}" pid="7" name="MSIP_Label_701b9bfc-c426-492e-a46c-1a922d5fe54b_ActionId">
    <vt:lpwstr>3cfb089e-2623-4a9c-9797-e286ad447be9</vt:lpwstr>
  </property>
  <property fmtid="{D5CDD505-2E9C-101B-9397-08002B2CF9AE}" pid="8" name="MSIP_Label_701b9bfc-c426-492e-a46c-1a922d5fe54b_ContentBits">
    <vt:lpwstr>1</vt:lpwstr>
  </property>
  <property fmtid="{D5CDD505-2E9C-101B-9397-08002B2CF9AE}" pid="9" name="MSIP_Label_701b9bfc-c426-492e-a46c-1a922d5fe54b_Tag">
    <vt:lpwstr>10, 0, 1, 1</vt:lpwstr>
  </property>
  <property fmtid="{D5CDD505-2E9C-101B-9397-08002B2CF9AE}" pid="10" name="ClassificationContentMarkingHeaderLocations">
    <vt:lpwstr>קקס יום:3</vt:lpwstr>
  </property>
  <property fmtid="{D5CDD505-2E9C-101B-9397-08002B2CF9AE}" pid="11" name="ClassificationContentMarkingHeaderText">
    <vt:lpwstr>- בלמ"ס -</vt:lpwstr>
  </property>
</Properties>
</file>